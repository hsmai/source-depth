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말씀드리겠습니다. 가설의 앞부분은 확인했고, 뒷부분은 제 손으로 반증했습니다. 다만 어제 '이미 나온 연구가 있어서 접어야겠다'고 판단했던 걸 원문으로 확인해 보니 제가 수치를 잘못 읽었더군요. 그래서 1주일만 더 확인하고 진행/중단을 확정하고 싶습니다.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설계의 핵심은 대조군입니다. 방해 이미지에 물건이 있는 문항과 없는 문항을 똑같이 150개씩 두면, 뒤집힘이 물건 때문인지 아닌지 바로 구분됩니다.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숫자만 보시면 됩니다. 21%가 뒤집혔고, 81%가 회복됐고, 반대로 자르면 무너집니다. 그림은 몇 층에서 자르느냐에 따른 정답률인데, 16층 이전에 자르면 방해 이미지가 없었던 것과 같은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세 개가 오늘 보고의 중심입니다. 특히 첫 번째 — 순서를 뒤집었더니 신호가 무너진 것 — 은 제 방법만의 문제가 아니라 얕은 층 attention을 쓰는 기존 방법들에도 해당됩니다. 두 번째는 더 단순합니다 — 계산량을 42% 줄여도 실제 응답 시간은 10%밖에 안 줄었습니다. 이론과 실측이 이만큼 벌어지면 효율성을 기여로 내세울 수 없습니다. 다만 아래 결론처럼, 같은 계산량 안에서 방해 이미지를 먼저 끊는 배분 자체는 순서를 뒤집어도 살아남았습니다.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어제 저는 이 논문 때문에 접어야겠다고 판단했었습니다. 그런데 원문 19페이지를 직접 대조해 보니 핵심 수치를 잘못 읽었더군요. 26.4에서 49.4로 올랐다고 보고된 부분은 마스킹이 아니라 198K 합성 학습데이터가 만든 것이고, 동일 조건에서 마스킹 단독 효과는 3.3점입니다. 그리고 파인튜닝이 전제입니다. 덧붙이면 그들의 마스킹은 자체 벤치 밖에서는 오히려 평균이 42.7에서 41.2로 내려갑니다. 다루는 이미지 장수도 중앙값 4~7장의 집계 태스크라 저희 2장 출처 귀속과는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게이트 A가 더 무겁습니다. 방해 이미지를 0층에서 그냥 지워버린 쪽이 깊이를 조절한 것보다 좋다면, 애초에 '깊이'라는 축을 쓸 이유가 없어집니다. 연구의 전제 자체가 걸린 시험이라 이걸 먼저 하겠습니다. 게이트 B는 자동화 가능성입니다 — 오늘 보고드린 위치 편향 문제를 다른 신호로 넘을 수 있는지 봅니다. 두 게이트 다 통과 기준 숫자는 실험 전에 먼저 못 박고 들어가겠습니다. 1주일이면 충분합니다. 인프라와 데이터가 이미 다 있어서 새로 만들 게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38"/>
        </a:solidFill>
      </p:bgPr>
    </p:bg>
    <p:spTree>
      <p:nvGrpSpPr>
        <p:cNvPr id="1" name=""/>
        <p:cNvGrpSpPr/>
        <p:nvPr/>
      </p:nvGrpSpPr>
      <p:grpSpPr>
        <a:xfrm>
          <a:off x="0" y="0"/>
          <a:ext cx="0" cy="0"/>
          <a:chOff x="0" y="0"/>
          <a:chExt cx="0" cy="0"/>
        </a:xfrm>
      </p:grpSpPr>
      <p:sp>
        <p:nvSpPr>
          <p:cNvPr id="2" name="Text 0"/>
          <p:cNvSpPr/>
          <p:nvPr/>
        </p:nvSpPr>
        <p:spPr>
          <a:xfrm>
            <a:off x="548640" y="457200"/>
            <a:ext cx="10058400" cy="292608"/>
          </a:xfrm>
          <a:prstGeom prst="rect">
            <a:avLst/>
          </a:prstGeom>
          <a:noFill/>
          <a:ln/>
        </p:spPr>
        <p:txBody>
          <a:bodyPr wrap="square" lIns="0" tIns="0" rIns="0" bIns="0" rtlCol="0" anchor="ctr"/>
          <a:lstStyle/>
          <a:p>
            <a:pPr indent="0" marL="0">
              <a:buNone/>
            </a:pPr>
            <a:r>
              <a:rPr lang="en-US" sz="1150" b="1" dirty="0">
                <a:solidFill>
                  <a:srgbClr val="8AA5BC"/>
                </a:solidFill>
                <a:latin typeface="Arial" pitchFamily="34" charset="0"/>
                <a:ea typeface="Arial" pitchFamily="34" charset="-122"/>
                <a:cs typeface="Arial" pitchFamily="34" charset="-120"/>
              </a:rPr>
              <a:t>SOURCEDEPTH · 검증 실험 결과 보고 · 2026-08-12 · 한상민</a:t>
            </a:r>
            <a:endParaRPr lang="en-US" sz="1150" dirty="0"/>
          </a:p>
        </p:txBody>
      </p:sp>
      <p:sp>
        <p:nvSpPr>
          <p:cNvPr id="3" name="Text 1"/>
          <p:cNvSpPr/>
          <p:nvPr/>
        </p:nvSpPr>
        <p:spPr>
          <a:xfrm>
            <a:off x="548640" y="960120"/>
            <a:ext cx="11155680" cy="1371600"/>
          </a:xfrm>
          <a:prstGeom prst="rect">
            <a:avLst/>
          </a:prstGeom>
          <a:noFill/>
          <a:ln/>
        </p:spPr>
        <p:txBody>
          <a:bodyPr wrap="square" lIns="0" tIns="0" rIns="0" bIns="0" rtlCol="0" anchor="ctr"/>
          <a:lstStyle/>
          <a:p>
            <a:pPr indent="0" marL="0">
              <a:lnSpc>
                <a:spcPct val="115000"/>
              </a:lnSpc>
              <a:buNone/>
            </a:pPr>
            <a:r>
              <a:rPr lang="en-US" sz="3000" b="1" dirty="0">
                <a:solidFill>
                  <a:srgbClr val="FFFFFF"/>
                </a:solidFill>
                <a:latin typeface="Arial" pitchFamily="34" charset="0"/>
                <a:ea typeface="Arial" pitchFamily="34" charset="-122"/>
                <a:cs typeface="Arial" pitchFamily="34" charset="-120"/>
              </a:rPr>
              <a:t>가설의 앞부분은 확인됐고,</a:t>
            </a:r>
            <a:endParaRPr lang="en-US" sz="3000" dirty="0"/>
          </a:p>
          <a:p>
            <a:pPr indent="0" marL="0">
              <a:lnSpc>
                <a:spcPct val="115000"/>
              </a:lnSpc>
              <a:buNone/>
            </a:pPr>
            <a:r>
              <a:rPr lang="en-US" sz="3000" b="1" dirty="0">
                <a:solidFill>
                  <a:srgbClr val="FFFFFF"/>
                </a:solidFill>
                <a:latin typeface="Arial" pitchFamily="34" charset="0"/>
                <a:ea typeface="Arial" pitchFamily="34" charset="-122"/>
                <a:cs typeface="Arial" pitchFamily="34" charset="-120"/>
              </a:rPr>
              <a:t>뒷부분은 제 손으로 반증했습니다</a:t>
            </a:r>
            <a:endParaRPr lang="en-US" sz="3000" dirty="0"/>
          </a:p>
        </p:txBody>
      </p:sp>
      <p:sp>
        <p:nvSpPr>
          <p:cNvPr id="4" name="Text 2"/>
          <p:cNvSpPr/>
          <p:nvPr/>
        </p:nvSpPr>
        <p:spPr>
          <a:xfrm>
            <a:off x="548640" y="2423160"/>
            <a:ext cx="11155680" cy="365760"/>
          </a:xfrm>
          <a:prstGeom prst="rect">
            <a:avLst/>
          </a:prstGeom>
          <a:noFill/>
          <a:ln/>
        </p:spPr>
        <p:txBody>
          <a:bodyPr wrap="square" lIns="0" tIns="0" rIns="0" bIns="0" rtlCol="0" anchor="ctr"/>
          <a:lstStyle/>
          <a:p>
            <a:pPr indent="0" marL="0">
              <a:buNone/>
            </a:pPr>
            <a:r>
              <a:rPr lang="en-US" sz="1350" dirty="0">
                <a:solidFill>
                  <a:srgbClr val="AFC6DA"/>
                </a:solidFill>
                <a:latin typeface="Arial" pitchFamily="34" charset="0"/>
                <a:ea typeface="Arial" pitchFamily="34" charset="-122"/>
                <a:cs typeface="Arial" pitchFamily="34" charset="-120"/>
              </a:rPr>
              <a:t>"이미지마다 계산 깊이를 다르게 주면 환각이 줄고 계산도 준다" — 3일간 6,000회 이상 측정한 결과</a:t>
            </a:r>
            <a:endParaRPr lang="en-US" sz="1350" dirty="0"/>
          </a:p>
        </p:txBody>
      </p:sp>
      <p:sp>
        <p:nvSpPr>
          <p:cNvPr id="5" name="Shape 3"/>
          <p:cNvSpPr/>
          <p:nvPr/>
        </p:nvSpPr>
        <p:spPr>
          <a:xfrm>
            <a:off x="548640" y="3063240"/>
            <a:ext cx="3611880" cy="3017520"/>
          </a:xfrm>
          <a:prstGeom prst="roundRect">
            <a:avLst>
              <a:gd name="adj" fmla="val 3030"/>
            </a:avLst>
          </a:prstGeom>
          <a:solidFill>
            <a:srgbClr val="1D3850"/>
          </a:solidFill>
          <a:ln w="12700">
            <a:solidFill>
              <a:srgbClr val="2E4E6B"/>
            </a:solidFill>
            <a:prstDash val="solid"/>
          </a:ln>
        </p:spPr>
      </p:sp>
      <p:sp>
        <p:nvSpPr>
          <p:cNvPr id="6" name="Text 4"/>
          <p:cNvSpPr/>
          <p:nvPr/>
        </p:nvSpPr>
        <p:spPr>
          <a:xfrm>
            <a:off x="777240" y="3264408"/>
            <a:ext cx="3154680" cy="365760"/>
          </a:xfrm>
          <a:prstGeom prst="rect">
            <a:avLst/>
          </a:prstGeom>
          <a:noFill/>
          <a:ln/>
        </p:spPr>
        <p:txBody>
          <a:bodyPr wrap="square" lIns="0" tIns="0" rIns="0" bIns="0" rtlCol="0" anchor="ctr"/>
          <a:lstStyle/>
          <a:p>
            <a:pPr indent="0" marL="0">
              <a:buNone/>
            </a:pPr>
            <a:r>
              <a:rPr lang="en-US" sz="1600" b="1" dirty="0">
                <a:solidFill>
                  <a:srgbClr val="8CE0B0"/>
                </a:solidFill>
                <a:latin typeface="Arial" pitchFamily="34" charset="0"/>
                <a:ea typeface="Arial" pitchFamily="34" charset="-122"/>
                <a:cs typeface="Arial" pitchFamily="34" charset="-120"/>
              </a:rPr>
              <a:t>✓ 확인된 것</a:t>
            </a:r>
            <a:endParaRPr lang="en-US" sz="1600" dirty="0"/>
          </a:p>
        </p:txBody>
      </p:sp>
      <p:sp>
        <p:nvSpPr>
          <p:cNvPr id="7" name="Text 5"/>
          <p:cNvSpPr/>
          <p:nvPr/>
        </p:nvSpPr>
        <p:spPr>
          <a:xfrm>
            <a:off x="777240" y="3776472"/>
            <a:ext cx="3154680" cy="1554480"/>
          </a:xfrm>
          <a:prstGeom prst="rect">
            <a:avLst/>
          </a:prstGeom>
          <a:noFill/>
          <a:ln/>
        </p:spPr>
        <p:txBody>
          <a:bodyPr wrap="square" lIns="0" tIns="0" rIns="0" bIns="0" rtlCol="0" anchor="ctr"/>
          <a:lstStyle/>
          <a:p>
            <a:pPr indent="0" marL="0">
              <a:lnSpc>
                <a:spcPct val="125000"/>
              </a:lnSpc>
              <a:buNone/>
            </a:pPr>
            <a:r>
              <a:rPr lang="en-US" sz="1250" dirty="0">
                <a:solidFill>
                  <a:srgbClr val="FFFFFF"/>
                </a:solidFill>
                <a:latin typeface="Arial" pitchFamily="34" charset="0"/>
                <a:ea typeface="Arial" pitchFamily="34" charset="-122"/>
                <a:cs typeface="Arial" pitchFamily="34" charset="-120"/>
              </a:rPr>
              <a:t>무관한 이미지가 답의 21%를 뒤집고(대조군 0%),</a:t>
            </a:r>
            <a:endParaRPr lang="en-US" sz="1250" dirty="0"/>
          </a:p>
          <a:p>
            <a:pPr indent="0" marL="0">
              <a:lnSpc>
                <a:spcPct val="125000"/>
              </a:lnSpc>
              <a:buNone/>
            </a:pPr>
            <a:r>
              <a:rPr lang="en-US" sz="1250" dirty="0">
                <a:solidFill>
                  <a:srgbClr val="FFFFFF"/>
                </a:solidFill>
                <a:latin typeface="Arial" pitchFamily="34" charset="0"/>
                <a:ea typeface="Arial" pitchFamily="34" charset="-122"/>
                <a:cs typeface="Arial" pitchFamily="34" charset="-120"/>
              </a:rPr>
              <a:t>그 이미지를 차단하면 오답의 81%가 회복된다.</a:t>
            </a:r>
            <a:endParaRPr lang="en-US" sz="1250" dirty="0"/>
          </a:p>
          <a:p>
            <a:pPr indent="0" marL="0">
              <a:lnSpc>
                <a:spcPct val="125000"/>
              </a:lnSpc>
              <a:buNone/>
            </a:pPr>
            <a:r>
              <a:rPr lang="en-US" sz="1250" dirty="0">
                <a:solidFill>
                  <a:srgbClr val="FFFFFF"/>
                </a:solidFill>
                <a:latin typeface="Arial" pitchFamily="34" charset="0"/>
                <a:ea typeface="Arial" pitchFamily="34" charset="-122"/>
                <a:cs typeface="Arial" pitchFamily="34" charset="-120"/>
              </a:rPr>
              <a:t>반대로 정답 이미지를 자르면 0.79 → 0.50으로 붕괴</a:t>
            </a:r>
            <a:endParaRPr lang="en-US" sz="1250" dirty="0"/>
          </a:p>
        </p:txBody>
      </p:sp>
      <p:sp>
        <p:nvSpPr>
          <p:cNvPr id="8" name="Text 6"/>
          <p:cNvSpPr/>
          <p:nvPr/>
        </p:nvSpPr>
        <p:spPr>
          <a:xfrm>
            <a:off x="777240" y="5440680"/>
            <a:ext cx="3154680" cy="502920"/>
          </a:xfrm>
          <a:prstGeom prst="rect">
            <a:avLst/>
          </a:prstGeom>
          <a:noFill/>
          <a:ln/>
        </p:spPr>
        <p:txBody>
          <a:bodyPr wrap="square" lIns="0" tIns="0" rIns="0" bIns="0" rtlCol="0" anchor="ctr"/>
          <a:lstStyle/>
          <a:p>
            <a:pPr indent="0" marL="0">
              <a:buNone/>
            </a:pPr>
            <a:r>
              <a:rPr lang="en-US" sz="1100" dirty="0">
                <a:solidFill>
                  <a:srgbClr val="9FB8CE"/>
                </a:solidFill>
                <a:latin typeface="Arial" pitchFamily="34" charset="0"/>
                <a:ea typeface="Arial" pitchFamily="34" charset="-122"/>
                <a:cs typeface="Arial" pitchFamily="34" charset="-120"/>
              </a:rPr>
              <a:t>부작용은 3.7%뿐 · p = 6×10⁻⁷ / 4×10⁻³⁸</a:t>
            </a:r>
            <a:endParaRPr lang="en-US" sz="1100" dirty="0"/>
          </a:p>
        </p:txBody>
      </p:sp>
      <p:sp>
        <p:nvSpPr>
          <p:cNvPr id="9" name="Shape 7"/>
          <p:cNvSpPr/>
          <p:nvPr/>
        </p:nvSpPr>
        <p:spPr>
          <a:xfrm>
            <a:off x="4343400" y="3063240"/>
            <a:ext cx="3611880" cy="3017520"/>
          </a:xfrm>
          <a:prstGeom prst="roundRect">
            <a:avLst>
              <a:gd name="adj" fmla="val 3030"/>
            </a:avLst>
          </a:prstGeom>
          <a:solidFill>
            <a:srgbClr val="1D3850"/>
          </a:solidFill>
          <a:ln w="12700">
            <a:solidFill>
              <a:srgbClr val="2E4E6B"/>
            </a:solidFill>
            <a:prstDash val="solid"/>
          </a:ln>
        </p:spPr>
      </p:sp>
      <p:sp>
        <p:nvSpPr>
          <p:cNvPr id="10" name="Text 8"/>
          <p:cNvSpPr/>
          <p:nvPr/>
        </p:nvSpPr>
        <p:spPr>
          <a:xfrm>
            <a:off x="4572000" y="3264408"/>
            <a:ext cx="3154680" cy="365760"/>
          </a:xfrm>
          <a:prstGeom prst="rect">
            <a:avLst/>
          </a:prstGeom>
          <a:noFill/>
          <a:ln/>
        </p:spPr>
        <p:txBody>
          <a:bodyPr wrap="square" lIns="0" tIns="0" rIns="0" bIns="0" rtlCol="0" anchor="ctr"/>
          <a:lstStyle/>
          <a:p>
            <a:pPr indent="0" marL="0">
              <a:buNone/>
            </a:pPr>
            <a:r>
              <a:rPr lang="en-US" sz="1600" b="1" dirty="0">
                <a:solidFill>
                  <a:srgbClr val="FF8A80"/>
                </a:solidFill>
                <a:latin typeface="Arial" pitchFamily="34" charset="0"/>
                <a:ea typeface="Arial" pitchFamily="34" charset="-122"/>
                <a:cs typeface="Arial" pitchFamily="34" charset="-120"/>
              </a:rPr>
              <a:t>✗ 무너진 것</a:t>
            </a:r>
            <a:endParaRPr lang="en-US" sz="1600" dirty="0"/>
          </a:p>
        </p:txBody>
      </p:sp>
      <p:sp>
        <p:nvSpPr>
          <p:cNvPr id="11" name="Text 9"/>
          <p:cNvSpPr/>
          <p:nvPr/>
        </p:nvSpPr>
        <p:spPr>
          <a:xfrm>
            <a:off x="4572000" y="3776472"/>
            <a:ext cx="3154680" cy="1554480"/>
          </a:xfrm>
          <a:prstGeom prst="rect">
            <a:avLst/>
          </a:prstGeom>
          <a:noFill/>
          <a:ln/>
        </p:spPr>
        <p:txBody>
          <a:bodyPr wrap="square" lIns="0" tIns="0" rIns="0" bIns="0" rtlCol="0" anchor="ctr"/>
          <a:lstStyle/>
          <a:p>
            <a:pPr indent="0" marL="0">
              <a:lnSpc>
                <a:spcPct val="125000"/>
              </a:lnSpc>
              <a:buNone/>
            </a:pPr>
            <a:r>
              <a:rPr lang="en-US" sz="1250" dirty="0">
                <a:solidFill>
                  <a:srgbClr val="FFFFFF"/>
                </a:solidFill>
                <a:latin typeface="Arial" pitchFamily="34" charset="0"/>
                <a:ea typeface="Arial" pitchFamily="34" charset="-122"/>
                <a:cs typeface="Arial" pitchFamily="34" charset="-120"/>
              </a:rPr>
              <a:t>관련 이미지를 스스로 판정하는 시점(22층)이</a:t>
            </a:r>
            <a:endParaRPr lang="en-US" sz="1250" dirty="0"/>
          </a:p>
          <a:p>
            <a:pPr indent="0" marL="0">
              <a:lnSpc>
                <a:spcPct val="125000"/>
              </a:lnSpc>
              <a:buNone/>
            </a:pPr>
            <a:r>
              <a:rPr lang="en-US" sz="1250" dirty="0">
                <a:solidFill>
                  <a:srgbClr val="FFFFFF"/>
                </a:solidFill>
                <a:latin typeface="Arial" pitchFamily="34" charset="0"/>
                <a:ea typeface="Arial" pitchFamily="34" charset="-122"/>
                <a:cs typeface="Arial" pitchFamily="34" charset="-120"/>
              </a:rPr>
              <a:t>개입해야 하는 시점(16층)보다 늦다.</a:t>
            </a:r>
            <a:endParaRPr lang="en-US" sz="1250" dirty="0"/>
          </a:p>
          <a:p>
            <a:pPr indent="0" marL="0">
              <a:lnSpc>
                <a:spcPct val="125000"/>
              </a:lnSpc>
              <a:buNone/>
            </a:pPr>
            <a:r>
              <a:rPr lang="en-US" sz="1250" dirty="0">
                <a:solidFill>
                  <a:srgbClr val="FFFFFF"/>
                </a:solidFill>
                <a:latin typeface="Arial" pitchFamily="34" charset="0"/>
                <a:ea typeface="Arial" pitchFamily="34" charset="-122"/>
                <a:cs typeface="Arial" pitchFamily="34" charset="-120"/>
              </a:rPr>
              <a:t>실제 컨트롤러를 끼우면 −1.5%p</a:t>
            </a:r>
            <a:endParaRPr lang="en-US" sz="1250" dirty="0"/>
          </a:p>
        </p:txBody>
      </p:sp>
      <p:sp>
        <p:nvSpPr>
          <p:cNvPr id="12" name="Text 10"/>
          <p:cNvSpPr/>
          <p:nvPr/>
        </p:nvSpPr>
        <p:spPr>
          <a:xfrm>
            <a:off x="4572000" y="5440680"/>
            <a:ext cx="3154680" cy="502920"/>
          </a:xfrm>
          <a:prstGeom prst="rect">
            <a:avLst/>
          </a:prstGeom>
          <a:noFill/>
          <a:ln/>
        </p:spPr>
        <p:txBody>
          <a:bodyPr wrap="square" lIns="0" tIns="0" rIns="0" bIns="0" rtlCol="0" anchor="ctr"/>
          <a:lstStyle/>
          <a:p>
            <a:pPr indent="0" marL="0">
              <a:buNone/>
            </a:pPr>
            <a:r>
              <a:rPr lang="en-US" sz="1100" dirty="0">
                <a:solidFill>
                  <a:srgbClr val="9FB8CE"/>
                </a:solidFill>
                <a:latin typeface="Arial" pitchFamily="34" charset="0"/>
                <a:ea typeface="Arial" pitchFamily="34" charset="-122"/>
                <a:cs typeface="Arial" pitchFamily="34" charset="-120"/>
              </a:rPr>
              <a:t>→ 자동화가 안 되면 쓸 수 없다</a:t>
            </a:r>
            <a:endParaRPr lang="en-US" sz="1100" dirty="0"/>
          </a:p>
        </p:txBody>
      </p:sp>
      <p:sp>
        <p:nvSpPr>
          <p:cNvPr id="13" name="Shape 11"/>
          <p:cNvSpPr/>
          <p:nvPr/>
        </p:nvSpPr>
        <p:spPr>
          <a:xfrm>
            <a:off x="8138160" y="3063240"/>
            <a:ext cx="3611880" cy="3017520"/>
          </a:xfrm>
          <a:prstGeom prst="roundRect">
            <a:avLst>
              <a:gd name="adj" fmla="val 3030"/>
            </a:avLst>
          </a:prstGeom>
          <a:solidFill>
            <a:srgbClr val="1D3850"/>
          </a:solidFill>
          <a:ln w="12700">
            <a:solidFill>
              <a:srgbClr val="2E4E6B"/>
            </a:solidFill>
            <a:prstDash val="solid"/>
          </a:ln>
        </p:spPr>
      </p:sp>
      <p:sp>
        <p:nvSpPr>
          <p:cNvPr id="14" name="Text 12"/>
          <p:cNvSpPr/>
          <p:nvPr/>
        </p:nvSpPr>
        <p:spPr>
          <a:xfrm>
            <a:off x="8366760" y="3264408"/>
            <a:ext cx="3154680" cy="365760"/>
          </a:xfrm>
          <a:prstGeom prst="rect">
            <a:avLst/>
          </a:prstGeom>
          <a:noFill/>
          <a:ln/>
        </p:spPr>
        <p:txBody>
          <a:bodyPr wrap="square" lIns="0" tIns="0" rIns="0" bIns="0" rtlCol="0" anchor="ctr"/>
          <a:lstStyle/>
          <a:p>
            <a:pPr indent="0" marL="0">
              <a:buNone/>
            </a:pPr>
            <a:r>
              <a:rPr lang="en-US" sz="1600" b="1" dirty="0">
                <a:solidFill>
                  <a:srgbClr val="FFC94D"/>
                </a:solidFill>
                <a:latin typeface="Arial" pitchFamily="34" charset="0"/>
                <a:ea typeface="Arial" pitchFamily="34" charset="-122"/>
                <a:cs typeface="Arial" pitchFamily="34" charset="-120"/>
              </a:rPr>
              <a:t>? 남은 것</a:t>
            </a:r>
            <a:endParaRPr lang="en-US" sz="1600" dirty="0"/>
          </a:p>
        </p:txBody>
      </p:sp>
      <p:sp>
        <p:nvSpPr>
          <p:cNvPr id="15" name="Text 13"/>
          <p:cNvSpPr/>
          <p:nvPr/>
        </p:nvSpPr>
        <p:spPr>
          <a:xfrm>
            <a:off x="8366760" y="3776472"/>
            <a:ext cx="3154680" cy="1554480"/>
          </a:xfrm>
          <a:prstGeom prst="rect">
            <a:avLst/>
          </a:prstGeom>
          <a:noFill/>
          <a:ln/>
        </p:spPr>
        <p:txBody>
          <a:bodyPr wrap="square" lIns="0" tIns="0" rIns="0" bIns="0" rtlCol="0" anchor="ctr"/>
          <a:lstStyle/>
          <a:p>
            <a:pPr indent="0" marL="0">
              <a:lnSpc>
                <a:spcPct val="125000"/>
              </a:lnSpc>
              <a:buNone/>
            </a:pPr>
            <a:r>
              <a:rPr lang="en-US" sz="1250" dirty="0">
                <a:solidFill>
                  <a:srgbClr val="FFFFFF"/>
                </a:solidFill>
                <a:latin typeface="Arial" pitchFamily="34" charset="0"/>
                <a:ea typeface="Arial" pitchFamily="34" charset="-122"/>
                <a:cs typeface="Arial" pitchFamily="34" charset="-120"/>
              </a:rPr>
              <a:t>가장 가까운 연구를 원문 대조해 보니</a:t>
            </a:r>
            <a:endParaRPr lang="en-US" sz="1250" dirty="0"/>
          </a:p>
          <a:p>
            <a:pPr indent="0" marL="0">
              <a:lnSpc>
                <a:spcPct val="125000"/>
              </a:lnSpc>
              <a:buNone/>
            </a:pPr>
            <a:r>
              <a:rPr lang="en-US" sz="1250" dirty="0">
                <a:solidFill>
                  <a:srgbClr val="FFFFFF"/>
                </a:solidFill>
                <a:latin typeface="Arial" pitchFamily="34" charset="0"/>
                <a:ea typeface="Arial" pitchFamily="34" charset="-122"/>
                <a:cs typeface="Arial" pitchFamily="34" charset="-120"/>
              </a:rPr>
              <a:t>training-free 추론시 개입과 환각 평가는</a:t>
            </a:r>
            <a:endParaRPr lang="en-US" sz="1250" dirty="0"/>
          </a:p>
          <a:p>
            <a:pPr indent="0" marL="0">
              <a:lnSpc>
                <a:spcPct val="125000"/>
              </a:lnSpc>
              <a:buNone/>
            </a:pPr>
            <a:r>
              <a:rPr lang="en-US" sz="1250" dirty="0">
                <a:solidFill>
                  <a:srgbClr val="FFFFFF"/>
                </a:solidFill>
                <a:latin typeface="Arial" pitchFamily="34" charset="0"/>
                <a:ea typeface="Arial" pitchFamily="34" charset="-122"/>
                <a:cs typeface="Arial" pitchFamily="34" charset="-120"/>
              </a:rPr>
              <a:t>다루지 않았고, 열린 질문을 남겼다</a:t>
            </a:r>
            <a:endParaRPr lang="en-US" sz="1250" dirty="0"/>
          </a:p>
        </p:txBody>
      </p:sp>
      <p:sp>
        <p:nvSpPr>
          <p:cNvPr id="16" name="Text 14"/>
          <p:cNvSpPr/>
          <p:nvPr/>
        </p:nvSpPr>
        <p:spPr>
          <a:xfrm>
            <a:off x="8366760" y="5440680"/>
            <a:ext cx="3154680" cy="502920"/>
          </a:xfrm>
          <a:prstGeom prst="rect">
            <a:avLst/>
          </a:prstGeom>
          <a:noFill/>
          <a:ln/>
        </p:spPr>
        <p:txBody>
          <a:bodyPr wrap="square" lIns="0" tIns="0" rIns="0" bIns="0" rtlCol="0" anchor="ctr"/>
          <a:lstStyle/>
          <a:p>
            <a:pPr indent="0" marL="0">
              <a:buNone/>
            </a:pPr>
            <a:r>
              <a:rPr lang="en-US" sz="1100" dirty="0">
                <a:solidFill>
                  <a:srgbClr val="9FB8CE"/>
                </a:solidFill>
                <a:latin typeface="Arial" pitchFamily="34" charset="0"/>
                <a:ea typeface="Arial" pitchFamily="34" charset="-122"/>
                <a:cs typeface="Arial" pitchFamily="34" charset="-120"/>
              </a:rPr>
              <a:t>→ 1주일만 더 확인하고 싶습니다</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1F77B4"/>
                </a:solidFill>
                <a:latin typeface="Arial" pitchFamily="34" charset="0"/>
                <a:ea typeface="Arial" pitchFamily="34" charset="-122"/>
                <a:cs typeface="Arial" pitchFamily="34" charset="-120"/>
              </a:rPr>
              <a:t>실험 설계</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1F3B57"/>
                </a:solidFill>
                <a:latin typeface="Arial" pitchFamily="34" charset="0"/>
                <a:ea typeface="Arial" pitchFamily="34" charset="-122"/>
                <a:cs typeface="Arial" pitchFamily="34" charset="-120"/>
              </a:rPr>
              <a:t>오염이 생길 수밖에 없는 문항과 안 생기는 문항을 나란히 놓고 비교했다</a:t>
            </a:r>
            <a:endParaRPr lang="en-US" sz="2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5669280" cy="914400"/>
        </p:xfrm>
        <a:graphic>
          <a:graphicData uri="http://schemas.openxmlformats.org/drawingml/2006/table">
            <a:tbl>
              <a:tblPr/>
              <a:tblGrid>
                <a:gridCol w="1889760"/>
                <a:gridCol w="1889760"/>
                <a:gridCol w="1889760"/>
              </a:tblGrid>
              <a:tr h="457200">
                <a:tc>
                  <a:txBody>
                    <a:bodyPr/>
                    <a:lstStyle/>
                    <a:p>
                      <a:pPr algn="ctr" indent="0" marL="0">
                        <a:buNone/>
                      </a:pPr>
                      <a:endParaRPr lang="en-US" sz="115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방해 이미지에 그 물건 있음</a:t>
                      </a:r>
                      <a:endParaRPr lang="en-US" sz="115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B57"/>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없음</a:t>
                      </a:r>
                      <a:endParaRPr lang="en-US" sz="115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B57"/>
                    </a:solidFill>
                  </a:tcPr>
                </a:tc>
              </a:tr>
              <a:tr h="86868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정답 '없다'</a:t>
                      </a:r>
                      <a:endParaRPr lang="en-US" sz="115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B57"/>
                    </a:solidFill>
                  </a:tcPr>
                </a:tc>
                <a:tc>
                  <a:txBody>
                    <a:bodyPr/>
                    <a:lstStyle/>
                    <a:p>
                      <a:pPr algn="ctr" indent="0" marL="0">
                        <a:buNone/>
                      </a:pPr>
                      <a:r>
                        <a:rPr lang="en-US" sz="1150" b="1" dirty="0">
                          <a:solidFill>
                            <a:srgbClr val="D62728"/>
                          </a:solidFill>
                          <a:latin typeface="Arial" pitchFamily="34" charset="0"/>
                          <a:ea typeface="Arial" pitchFamily="34" charset="-122"/>
                          <a:cs typeface="Arial" pitchFamily="34" charset="-120"/>
                        </a:rPr>
                        <a:t>주 측정</a:t>
                      </a:r>
                      <a:endParaRPr lang="en-US" sz="1150" dirty="0">
                        <a:latin typeface="Arial" charset="0"/>
                        <a:ea typeface="Arial" charset="0"/>
                        <a:cs typeface="Arial" charset="0"/>
                      </a:endParaRPr>
                    </a:p>
                    <a:p>
                      <a:pPr algn="ctr" indent="0" marL="0">
                        <a:buNone/>
                      </a:pPr>
                      <a:r>
                        <a:rPr lang="en-US" sz="1150" b="1" dirty="0">
                          <a:solidFill>
                            <a:srgbClr val="D62728"/>
                          </a:solidFill>
                          <a:latin typeface="Arial" pitchFamily="34" charset="0"/>
                          <a:ea typeface="Arial" pitchFamily="34" charset="-122"/>
                          <a:cs typeface="Arial" pitchFamily="34" charset="-120"/>
                        </a:rPr>
                        <a:t>(뒤집힘 예상)</a:t>
                      </a:r>
                      <a:endParaRPr lang="en-US" sz="115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AEA"/>
                    </a:solidFill>
                  </a:tcPr>
                </a:tc>
                <a:tc>
                  <a:txBody>
                    <a:bodyPr/>
                    <a:lstStyle/>
                    <a:p>
                      <a:pPr algn="ctr" indent="0" marL="0">
                        <a:buNone/>
                      </a:pPr>
                      <a:r>
                        <a:rPr lang="en-US" sz="1150" dirty="0">
                          <a:solidFill>
                            <a:srgbClr val="6B7280"/>
                          </a:solidFill>
                          <a:latin typeface="Arial" pitchFamily="34" charset="0"/>
                          <a:ea typeface="Arial" pitchFamily="34" charset="-122"/>
                          <a:cs typeface="Arial" pitchFamily="34" charset="-120"/>
                        </a:rPr>
                        <a:t>대조군</a:t>
                      </a:r>
                      <a:endParaRPr lang="en-US" sz="115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r>
              <a:tr h="86868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정답 '있다'</a:t>
                      </a:r>
                      <a:endParaRPr lang="en-US" sz="115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F3B57"/>
                    </a:solidFill>
                  </a:tcPr>
                </a:tc>
                <a:tc>
                  <a:txBody>
                    <a:bodyPr/>
                    <a:lstStyle/>
                    <a:p>
                      <a:pPr algn="ctr" indent="0" marL="0">
                        <a:buNone/>
                      </a:pPr>
                      <a:r>
                        <a:rPr lang="en-US" sz="1150" dirty="0">
                          <a:solidFill>
                            <a:srgbClr val="6B7280"/>
                          </a:solidFill>
                          <a:latin typeface="Arial" pitchFamily="34" charset="0"/>
                          <a:ea typeface="Arial" pitchFamily="34" charset="-122"/>
                          <a:cs typeface="Arial" pitchFamily="34" charset="-120"/>
                        </a:rPr>
                        <a:t>대조군</a:t>
                      </a:r>
                      <a:endParaRPr lang="en-US" sz="115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3F4F6"/>
                    </a:solidFill>
                  </a:tcPr>
                </a:tc>
                <a:tc>
                  <a:txBody>
                    <a:bodyPr/>
                    <a:lstStyle/>
                    <a:p>
                      <a:pPr algn="ctr" indent="0" marL="0">
                        <a:buNone/>
                      </a:pPr>
                      <a:r>
                        <a:rPr lang="en-US" sz="1150" b="1" dirty="0">
                          <a:solidFill>
                            <a:srgbClr val="D62728"/>
                          </a:solidFill>
                          <a:latin typeface="Arial" pitchFamily="34" charset="0"/>
                          <a:ea typeface="Arial" pitchFamily="34" charset="-122"/>
                          <a:cs typeface="Arial" pitchFamily="34" charset="-120"/>
                        </a:rPr>
                        <a:t>역방향 측정</a:t>
                      </a:r>
                      <a:endParaRPr lang="en-US" sz="1150" dirty="0">
                        <a:latin typeface="Arial" charset="0"/>
                        <a:ea typeface="Arial" charset="0"/>
                        <a:cs typeface="Arial"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BEAEA"/>
                    </a:solidFill>
                  </a:tcPr>
                </a:tc>
              </a:tr>
            </a:tbl>
          </a:graphicData>
        </a:graphic>
      </p:graphicFrame>
      <p:sp>
        <p:nvSpPr>
          <p:cNvPr id="5" name="Text 2"/>
          <p:cNvSpPr/>
          <p:nvPr/>
        </p:nvSpPr>
        <p:spPr>
          <a:xfrm>
            <a:off x="502920" y="4023360"/>
            <a:ext cx="5669280" cy="50292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POPE(COCO) 600문항 · 셀당 150 · Qwen2.5-VL 3B와 7B · seed 고정 · 판정 기준 사전 동결</a:t>
            </a:r>
            <a:endParaRPr lang="en-US" sz="1100" dirty="0"/>
          </a:p>
        </p:txBody>
      </p:sp>
      <p:sp>
        <p:nvSpPr>
          <p:cNvPr id="6" name="Text 3"/>
          <p:cNvSpPr/>
          <p:nvPr/>
        </p:nvSpPr>
        <p:spPr>
          <a:xfrm>
            <a:off x="6492240" y="1600200"/>
            <a:ext cx="5212080" cy="36576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개입: 특정 층부터 그 이미지를 참조하지 못하게 차단</a:t>
            </a:r>
            <a:endParaRPr lang="en-US" sz="1350" dirty="0"/>
          </a:p>
        </p:txBody>
      </p:sp>
      <p:sp>
        <p:nvSpPr>
          <p:cNvPr id="7" name="Shape 4"/>
          <p:cNvSpPr/>
          <p:nvPr/>
        </p:nvSpPr>
        <p:spPr>
          <a:xfrm>
            <a:off x="6492240" y="2057400"/>
            <a:ext cx="5212080" cy="548640"/>
          </a:xfrm>
          <a:prstGeom prst="roundRect">
            <a:avLst>
              <a:gd name="adj" fmla="val 11667"/>
            </a:avLst>
          </a:prstGeom>
          <a:solidFill>
            <a:srgbClr val="EFF4F9"/>
          </a:solidFill>
          <a:ln w="12700">
            <a:solidFill>
              <a:srgbClr val="D5DEE8"/>
            </a:solidFill>
            <a:prstDash val="solid"/>
          </a:ln>
        </p:spPr>
      </p:sp>
      <p:sp>
        <p:nvSpPr>
          <p:cNvPr id="8" name="Text 5"/>
          <p:cNvSpPr/>
          <p:nvPr/>
        </p:nvSpPr>
        <p:spPr>
          <a:xfrm>
            <a:off x="6693408" y="2057400"/>
            <a:ext cx="4846320" cy="548640"/>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차단 없음   </a:t>
            </a:r>
            <a:pPr indent="0" marL="0">
              <a:buNone/>
            </a:pPr>
            <a:r>
              <a:rPr lang="en-US" sz="1050" dirty="0">
                <a:solidFill>
                  <a:srgbClr val="6B7280"/>
                </a:solidFill>
                <a:latin typeface="Arial" pitchFamily="34" charset="0"/>
                <a:ea typeface="Arial" pitchFamily="34" charset="-122"/>
                <a:cs typeface="Arial" pitchFamily="34" charset="-120"/>
              </a:rPr>
              <a:t>지금의 모델 (기준선)</a:t>
            </a:r>
            <a:endParaRPr lang="en-US" sz="1200" dirty="0"/>
          </a:p>
        </p:txBody>
      </p:sp>
      <p:sp>
        <p:nvSpPr>
          <p:cNvPr id="9" name="Shape 6"/>
          <p:cNvSpPr/>
          <p:nvPr/>
        </p:nvSpPr>
        <p:spPr>
          <a:xfrm>
            <a:off x="6492240" y="2715768"/>
            <a:ext cx="5212080" cy="548640"/>
          </a:xfrm>
          <a:prstGeom prst="roundRect">
            <a:avLst>
              <a:gd name="adj" fmla="val 11667"/>
            </a:avLst>
          </a:prstGeom>
          <a:solidFill>
            <a:srgbClr val="EFF4F9"/>
          </a:solidFill>
          <a:ln w="12700">
            <a:solidFill>
              <a:srgbClr val="D5DEE8"/>
            </a:solidFill>
            <a:prstDash val="solid"/>
          </a:ln>
        </p:spPr>
      </p:sp>
      <p:sp>
        <p:nvSpPr>
          <p:cNvPr id="10" name="Text 7"/>
          <p:cNvSpPr/>
          <p:nvPr/>
        </p:nvSpPr>
        <p:spPr>
          <a:xfrm>
            <a:off x="6693408" y="2715768"/>
            <a:ext cx="4846320" cy="548640"/>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4·8·12·16·20·24층부터   </a:t>
            </a:r>
            <a:pPr indent="0" marL="0">
              <a:buNone/>
            </a:pPr>
            <a:r>
              <a:rPr lang="en-US" sz="1050" dirty="0">
                <a:solidFill>
                  <a:srgbClr val="6B7280"/>
                </a:solidFill>
                <a:latin typeface="Arial" pitchFamily="34" charset="0"/>
                <a:ea typeface="Arial" pitchFamily="34" charset="-122"/>
                <a:cs typeface="Arial" pitchFamily="34" charset="-120"/>
              </a:rPr>
              <a:t>차단 시작 층을 바꿔가며</a:t>
            </a:r>
            <a:endParaRPr lang="en-US" sz="1200" dirty="0"/>
          </a:p>
        </p:txBody>
      </p:sp>
      <p:sp>
        <p:nvSpPr>
          <p:cNvPr id="11" name="Shape 8"/>
          <p:cNvSpPr/>
          <p:nvPr/>
        </p:nvSpPr>
        <p:spPr>
          <a:xfrm>
            <a:off x="6492240" y="3374136"/>
            <a:ext cx="5212080" cy="548640"/>
          </a:xfrm>
          <a:prstGeom prst="roundRect">
            <a:avLst>
              <a:gd name="adj" fmla="val 11667"/>
            </a:avLst>
          </a:prstGeom>
          <a:solidFill>
            <a:srgbClr val="EFF4F9"/>
          </a:solidFill>
          <a:ln w="12700">
            <a:solidFill>
              <a:srgbClr val="D5DEE8"/>
            </a:solidFill>
            <a:prstDash val="solid"/>
          </a:ln>
        </p:spPr>
      </p:sp>
      <p:sp>
        <p:nvSpPr>
          <p:cNvPr id="12" name="Text 9"/>
          <p:cNvSpPr/>
          <p:nvPr/>
        </p:nvSpPr>
        <p:spPr>
          <a:xfrm>
            <a:off x="6693408" y="3374136"/>
            <a:ext cx="4846320" cy="548640"/>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완전 차단   </a:t>
            </a:r>
            <a:pPr indent="0" marL="0">
              <a:buNone/>
            </a:pPr>
            <a:r>
              <a:rPr lang="en-US" sz="1050" dirty="0">
                <a:solidFill>
                  <a:srgbClr val="6B7280"/>
                </a:solidFill>
                <a:latin typeface="Arial" pitchFamily="34" charset="0"/>
                <a:ea typeface="Arial" pitchFamily="34" charset="-122"/>
                <a:cs typeface="Arial" pitchFamily="34" charset="-120"/>
              </a:rPr>
              <a:t>이미지를 안 준 것과 비교</a:t>
            </a:r>
            <a:endParaRPr lang="en-US" sz="1200" dirty="0"/>
          </a:p>
        </p:txBody>
      </p:sp>
      <p:sp>
        <p:nvSpPr>
          <p:cNvPr id="13" name="Shape 10"/>
          <p:cNvSpPr/>
          <p:nvPr/>
        </p:nvSpPr>
        <p:spPr>
          <a:xfrm>
            <a:off x="6492240" y="4032504"/>
            <a:ext cx="5212080" cy="548640"/>
          </a:xfrm>
          <a:prstGeom prst="roundRect">
            <a:avLst>
              <a:gd name="adj" fmla="val 11667"/>
            </a:avLst>
          </a:prstGeom>
          <a:solidFill>
            <a:srgbClr val="FDF3E3"/>
          </a:solidFill>
          <a:ln w="12700">
            <a:solidFill>
              <a:srgbClr val="E8890C"/>
            </a:solidFill>
            <a:prstDash val="solid"/>
          </a:ln>
        </p:spPr>
      </p:sp>
      <p:sp>
        <p:nvSpPr>
          <p:cNvPr id="14" name="Text 11"/>
          <p:cNvSpPr/>
          <p:nvPr/>
        </p:nvSpPr>
        <p:spPr>
          <a:xfrm>
            <a:off x="6693408" y="4032504"/>
            <a:ext cx="4846320" cy="548640"/>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반대로 정답 이미지를 차단   </a:t>
            </a:r>
            <a:pPr indent="0" marL="0">
              <a:buNone/>
            </a:pPr>
            <a:r>
              <a:rPr lang="en-US" sz="1050" dirty="0">
                <a:solidFill>
                  <a:srgbClr val="6B7280"/>
                </a:solidFill>
                <a:latin typeface="Arial" pitchFamily="34" charset="0"/>
                <a:ea typeface="Arial" pitchFamily="34" charset="-122"/>
                <a:cs typeface="Arial" pitchFamily="34" charset="-120"/>
              </a:rPr>
              <a:t>검증용 — 무너져야 정상</a:t>
            </a:r>
            <a:endParaRPr lang="en-US" sz="1200" dirty="0"/>
          </a:p>
        </p:txBody>
      </p:sp>
      <p:sp>
        <p:nvSpPr>
          <p:cNvPr id="15" name="Text 12"/>
          <p:cNvSpPr/>
          <p:nvPr/>
        </p:nvSpPr>
        <p:spPr>
          <a:xfrm>
            <a:off x="502920" y="4709160"/>
            <a:ext cx="11155680" cy="457200"/>
          </a:xfrm>
          <a:prstGeom prst="rect">
            <a:avLst/>
          </a:prstGeom>
          <a:noFill/>
          <a:ln/>
        </p:spPr>
        <p:txBody>
          <a:bodyPr wrap="square" lIns="0" tIns="0" rIns="0" bIns="0" rtlCol="0" anchor="ctr"/>
          <a:lstStyle/>
          <a:p>
            <a:pPr indent="0" marL="0">
              <a:buNone/>
            </a:pPr>
            <a:r>
              <a:rPr lang="en-US" sz="1150" i="1" dirty="0">
                <a:solidFill>
                  <a:srgbClr val="6B7280"/>
                </a:solidFill>
                <a:latin typeface="Arial" pitchFamily="34" charset="0"/>
                <a:ea typeface="Arial" pitchFamily="34" charset="-122"/>
                <a:cs typeface="Arial" pitchFamily="34" charset="-120"/>
              </a:rPr>
              <a:t>정합성 점검 3종 통과 후 진행: 차단이 실제로 작동(98.3%) · 채점 정상(85.5%) · 마스킹≡실제삭제(100%)</a:t>
            </a:r>
            <a:endParaRPr lang="en-US" sz="1150" dirty="0"/>
          </a:p>
        </p:txBody>
      </p:sp>
      <p:sp>
        <p:nvSpPr>
          <p:cNvPr id="16" name="Shape 13"/>
          <p:cNvSpPr/>
          <p:nvPr/>
        </p:nvSpPr>
        <p:spPr>
          <a:xfrm>
            <a:off x="502920" y="6035040"/>
            <a:ext cx="11201400" cy="566928"/>
          </a:xfrm>
          <a:prstGeom prst="roundRect">
            <a:avLst>
              <a:gd name="adj" fmla="val 12903"/>
            </a:avLst>
          </a:prstGeom>
          <a:solidFill>
            <a:srgbClr val="1F3B57"/>
          </a:solidFill>
          <a:ln/>
        </p:spPr>
      </p:sp>
      <p:sp>
        <p:nvSpPr>
          <p:cNvPr id="17" name="Text 14"/>
          <p:cNvSpPr/>
          <p:nvPr/>
        </p:nvSpPr>
        <p:spPr>
          <a:xfrm>
            <a:off x="777240" y="6035040"/>
            <a:ext cx="107442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 대조군을 둔 이유: '답이 뒤집히는 것'이 우연인지 방해 이미지 때문인지 숫자로 구분하기 위해</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1F77B4"/>
                </a:solidFill>
                <a:latin typeface="Arial" pitchFamily="34" charset="0"/>
                <a:ea typeface="Arial" pitchFamily="34" charset="-122"/>
                <a:cs typeface="Arial" pitchFamily="34" charset="-120"/>
              </a:rPr>
              <a:t>결과 ① — 확인된 것</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1F3B57"/>
                </a:solidFill>
                <a:latin typeface="Arial" pitchFamily="34" charset="0"/>
                <a:ea typeface="Arial" pitchFamily="34" charset="-122"/>
                <a:cs typeface="Arial" pitchFamily="34" charset="-120"/>
              </a:rPr>
              <a:t>문제는 실재하고, 차단하면 회복되며, 그 효과는 인과적이다</a:t>
            </a:r>
            <a:endParaRPr lang="en-US" sz="2300" dirty="0"/>
          </a:p>
        </p:txBody>
      </p:sp>
      <p:sp>
        <p:nvSpPr>
          <p:cNvPr id="4" name="Shape 2"/>
          <p:cNvSpPr/>
          <p:nvPr/>
        </p:nvSpPr>
        <p:spPr>
          <a:xfrm>
            <a:off x="502920" y="1645920"/>
            <a:ext cx="3657600" cy="2331720"/>
          </a:xfrm>
          <a:prstGeom prst="roundRect">
            <a:avLst>
              <a:gd name="adj" fmla="val 3922"/>
            </a:avLst>
          </a:prstGeom>
          <a:solidFill>
            <a:srgbClr val="EFF4F9"/>
          </a:solidFill>
          <a:ln w="15875">
            <a:solidFill>
              <a:srgbClr val="D62728"/>
            </a:solidFill>
            <a:prstDash val="solid"/>
          </a:ln>
        </p:spPr>
      </p:sp>
      <p:sp>
        <p:nvSpPr>
          <p:cNvPr id="5" name="Text 3"/>
          <p:cNvSpPr/>
          <p:nvPr/>
        </p:nvSpPr>
        <p:spPr>
          <a:xfrm>
            <a:off x="731520" y="1874520"/>
            <a:ext cx="3200400" cy="731520"/>
          </a:xfrm>
          <a:prstGeom prst="rect">
            <a:avLst/>
          </a:prstGeom>
          <a:noFill/>
          <a:ln/>
        </p:spPr>
        <p:txBody>
          <a:bodyPr wrap="square" lIns="0" tIns="0" rIns="0" bIns="0" rtlCol="0" anchor="ctr"/>
          <a:lstStyle/>
          <a:p>
            <a:pPr indent="0" marL="0">
              <a:buNone/>
            </a:pPr>
            <a:r>
              <a:rPr lang="en-US" sz="3400" b="1" dirty="0">
                <a:solidFill>
                  <a:srgbClr val="D62728"/>
                </a:solidFill>
                <a:latin typeface="Arial" pitchFamily="34" charset="0"/>
                <a:ea typeface="Arial" pitchFamily="34" charset="-122"/>
                <a:cs typeface="Arial" pitchFamily="34" charset="-120"/>
              </a:rPr>
              <a:t>21.3%</a:t>
            </a:r>
            <a:endParaRPr lang="en-US" sz="3400" dirty="0"/>
          </a:p>
        </p:txBody>
      </p:sp>
      <p:sp>
        <p:nvSpPr>
          <p:cNvPr id="6" name="Text 4"/>
          <p:cNvSpPr/>
          <p:nvPr/>
        </p:nvSpPr>
        <p:spPr>
          <a:xfrm>
            <a:off x="731520" y="2651760"/>
            <a:ext cx="3200400" cy="365760"/>
          </a:xfrm>
          <a:prstGeom prst="rect">
            <a:avLst/>
          </a:prstGeom>
          <a:noFill/>
          <a:ln/>
        </p:spPr>
        <p:txBody>
          <a:bodyPr wrap="square" lIns="0" tIns="0" rIns="0" bIns="0" rtlCol="0" anchor="ctr"/>
          <a:lstStyle/>
          <a:p>
            <a:pPr indent="0" marL="0">
              <a:buNone/>
            </a:pPr>
            <a:r>
              <a:rPr lang="en-US" sz="1300" b="1" dirty="0">
                <a:solidFill>
                  <a:srgbClr val="1F3B57"/>
                </a:solidFill>
                <a:latin typeface="Arial" pitchFamily="34" charset="0"/>
                <a:ea typeface="Arial" pitchFamily="34" charset="-122"/>
                <a:cs typeface="Arial" pitchFamily="34" charset="-120"/>
              </a:rPr>
              <a:t>답이 뒤집힌 비율</a:t>
            </a:r>
            <a:endParaRPr lang="en-US" sz="1300" dirty="0"/>
          </a:p>
        </p:txBody>
      </p:sp>
      <p:sp>
        <p:nvSpPr>
          <p:cNvPr id="7" name="Text 5"/>
          <p:cNvSpPr/>
          <p:nvPr/>
        </p:nvSpPr>
        <p:spPr>
          <a:xfrm>
            <a:off x="731520" y="3063240"/>
            <a:ext cx="3200400" cy="82296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Arial" pitchFamily="34" charset="0"/>
                <a:ea typeface="Arial" pitchFamily="34" charset="-122"/>
                <a:cs typeface="Arial" pitchFamily="34" charset="-120"/>
              </a:rPr>
              <a:t>같은 조건 대조군은 0.0%</a:t>
            </a:r>
            <a:endParaRPr lang="en-US" sz="1100" dirty="0"/>
          </a:p>
          <a:p>
            <a:pPr indent="0" marL="0">
              <a:lnSpc>
                <a:spcPct val="120000"/>
              </a:lnSpc>
              <a:buNone/>
            </a:pPr>
            <a:r>
              <a:rPr lang="en-US" sz="1100" dirty="0">
                <a:solidFill>
                  <a:srgbClr val="6B7280"/>
                </a:solidFill>
                <a:latin typeface="Arial" pitchFamily="34" charset="0"/>
                <a:ea typeface="Arial" pitchFamily="34" charset="-122"/>
                <a:cs typeface="Arial" pitchFamily="34" charset="-120"/>
              </a:rPr>
              <a:t>→ 우연이 아니라 그 물건이 넘어온 것</a:t>
            </a:r>
            <a:endParaRPr lang="en-US" sz="1100" dirty="0"/>
          </a:p>
        </p:txBody>
      </p:sp>
      <p:sp>
        <p:nvSpPr>
          <p:cNvPr id="8" name="Shape 6"/>
          <p:cNvSpPr/>
          <p:nvPr/>
        </p:nvSpPr>
        <p:spPr>
          <a:xfrm>
            <a:off x="4389120" y="1645920"/>
            <a:ext cx="3657600" cy="2331720"/>
          </a:xfrm>
          <a:prstGeom prst="roundRect">
            <a:avLst>
              <a:gd name="adj" fmla="val 3922"/>
            </a:avLst>
          </a:prstGeom>
          <a:solidFill>
            <a:srgbClr val="EFF4F9"/>
          </a:solidFill>
          <a:ln w="15875">
            <a:solidFill>
              <a:srgbClr val="1F77B4"/>
            </a:solidFill>
            <a:prstDash val="solid"/>
          </a:ln>
        </p:spPr>
      </p:sp>
      <p:sp>
        <p:nvSpPr>
          <p:cNvPr id="9" name="Text 7"/>
          <p:cNvSpPr/>
          <p:nvPr/>
        </p:nvSpPr>
        <p:spPr>
          <a:xfrm>
            <a:off x="4617720" y="1874520"/>
            <a:ext cx="3200400" cy="731520"/>
          </a:xfrm>
          <a:prstGeom prst="rect">
            <a:avLst/>
          </a:prstGeom>
          <a:noFill/>
          <a:ln/>
        </p:spPr>
        <p:txBody>
          <a:bodyPr wrap="square" lIns="0" tIns="0" rIns="0" bIns="0" rtlCol="0" anchor="ctr"/>
          <a:lstStyle/>
          <a:p>
            <a:pPr indent="0" marL="0">
              <a:buNone/>
            </a:pPr>
            <a:r>
              <a:rPr lang="en-US" sz="3400" b="1" dirty="0">
                <a:solidFill>
                  <a:srgbClr val="1F77B4"/>
                </a:solidFill>
                <a:latin typeface="Arial" pitchFamily="34" charset="0"/>
                <a:ea typeface="Arial" pitchFamily="34" charset="-122"/>
                <a:cs typeface="Arial" pitchFamily="34" charset="-120"/>
              </a:rPr>
              <a:t>81%</a:t>
            </a:r>
            <a:endParaRPr lang="en-US" sz="3400" dirty="0"/>
          </a:p>
        </p:txBody>
      </p:sp>
      <p:sp>
        <p:nvSpPr>
          <p:cNvPr id="10" name="Text 8"/>
          <p:cNvSpPr/>
          <p:nvPr/>
        </p:nvSpPr>
        <p:spPr>
          <a:xfrm>
            <a:off x="4617720" y="2651760"/>
            <a:ext cx="3200400" cy="365760"/>
          </a:xfrm>
          <a:prstGeom prst="rect">
            <a:avLst/>
          </a:prstGeom>
          <a:noFill/>
          <a:ln/>
        </p:spPr>
        <p:txBody>
          <a:bodyPr wrap="square" lIns="0" tIns="0" rIns="0" bIns="0" rtlCol="0" anchor="ctr"/>
          <a:lstStyle/>
          <a:p>
            <a:pPr indent="0" marL="0">
              <a:buNone/>
            </a:pPr>
            <a:r>
              <a:rPr lang="en-US" sz="1300" b="1" dirty="0">
                <a:solidFill>
                  <a:srgbClr val="1F3B57"/>
                </a:solidFill>
                <a:latin typeface="Arial" pitchFamily="34" charset="0"/>
                <a:ea typeface="Arial" pitchFamily="34" charset="-122"/>
                <a:cs typeface="Arial" pitchFamily="34" charset="-120"/>
              </a:rPr>
              <a:t>차단으로 회복된 오답</a:t>
            </a:r>
            <a:endParaRPr lang="en-US" sz="1300" dirty="0"/>
          </a:p>
        </p:txBody>
      </p:sp>
      <p:sp>
        <p:nvSpPr>
          <p:cNvPr id="11" name="Text 9"/>
          <p:cNvSpPr/>
          <p:nvPr/>
        </p:nvSpPr>
        <p:spPr>
          <a:xfrm>
            <a:off x="4617720" y="3063240"/>
            <a:ext cx="3200400" cy="82296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Arial" pitchFamily="34" charset="0"/>
                <a:ea typeface="Arial" pitchFamily="34" charset="-122"/>
                <a:cs typeface="Arial" pitchFamily="34" charset="-120"/>
              </a:rPr>
              <a:t>새로 생긴 오답은 3.7% (22배)</a:t>
            </a:r>
            <a:endParaRPr lang="en-US" sz="1100" dirty="0"/>
          </a:p>
          <a:p>
            <a:pPr indent="0" marL="0">
              <a:lnSpc>
                <a:spcPct val="120000"/>
              </a:lnSpc>
              <a:buNone/>
            </a:pPr>
            <a:r>
              <a:rPr lang="en-US" sz="1100" dirty="0">
                <a:solidFill>
                  <a:srgbClr val="6B7280"/>
                </a:solidFill>
                <a:latin typeface="Arial" pitchFamily="34" charset="0"/>
                <a:ea typeface="Arial" pitchFamily="34" charset="-122"/>
                <a:cs typeface="Arial" pitchFamily="34" charset="-120"/>
              </a:rPr>
              <a:t>McNemar p = 6×10⁻⁷</a:t>
            </a:r>
            <a:endParaRPr lang="en-US" sz="1100" dirty="0"/>
          </a:p>
        </p:txBody>
      </p:sp>
      <p:sp>
        <p:nvSpPr>
          <p:cNvPr id="12" name="Shape 10"/>
          <p:cNvSpPr/>
          <p:nvPr/>
        </p:nvSpPr>
        <p:spPr>
          <a:xfrm>
            <a:off x="8275320" y="1645920"/>
            <a:ext cx="3657600" cy="2331720"/>
          </a:xfrm>
          <a:prstGeom prst="roundRect">
            <a:avLst>
              <a:gd name="adj" fmla="val 3922"/>
            </a:avLst>
          </a:prstGeom>
          <a:solidFill>
            <a:srgbClr val="EFF4F9"/>
          </a:solidFill>
          <a:ln w="15875">
            <a:solidFill>
              <a:srgbClr val="2E8B57"/>
            </a:solidFill>
            <a:prstDash val="solid"/>
          </a:ln>
        </p:spPr>
      </p:sp>
      <p:sp>
        <p:nvSpPr>
          <p:cNvPr id="13" name="Text 11"/>
          <p:cNvSpPr/>
          <p:nvPr/>
        </p:nvSpPr>
        <p:spPr>
          <a:xfrm>
            <a:off x="8503920" y="1874520"/>
            <a:ext cx="3200400" cy="731520"/>
          </a:xfrm>
          <a:prstGeom prst="rect">
            <a:avLst/>
          </a:prstGeom>
          <a:noFill/>
          <a:ln/>
        </p:spPr>
        <p:txBody>
          <a:bodyPr wrap="square" lIns="0" tIns="0" rIns="0" bIns="0" rtlCol="0" anchor="ctr"/>
          <a:lstStyle/>
          <a:p>
            <a:pPr indent="0" marL="0">
              <a:buNone/>
            </a:pPr>
            <a:r>
              <a:rPr lang="en-US" sz="3400" b="1" dirty="0">
                <a:solidFill>
                  <a:srgbClr val="2E8B57"/>
                </a:solidFill>
                <a:latin typeface="Arial" pitchFamily="34" charset="0"/>
                <a:ea typeface="Arial" pitchFamily="34" charset="-122"/>
                <a:cs typeface="Arial" pitchFamily="34" charset="-120"/>
              </a:rPr>
              <a:t>0.79 → 0.50</a:t>
            </a:r>
            <a:endParaRPr lang="en-US" sz="3400" dirty="0"/>
          </a:p>
        </p:txBody>
      </p:sp>
      <p:sp>
        <p:nvSpPr>
          <p:cNvPr id="14" name="Text 12"/>
          <p:cNvSpPr/>
          <p:nvPr/>
        </p:nvSpPr>
        <p:spPr>
          <a:xfrm>
            <a:off x="8503920" y="2651760"/>
            <a:ext cx="3200400" cy="365760"/>
          </a:xfrm>
          <a:prstGeom prst="rect">
            <a:avLst/>
          </a:prstGeom>
          <a:noFill/>
          <a:ln/>
        </p:spPr>
        <p:txBody>
          <a:bodyPr wrap="square" lIns="0" tIns="0" rIns="0" bIns="0" rtlCol="0" anchor="ctr"/>
          <a:lstStyle/>
          <a:p>
            <a:pPr indent="0" marL="0">
              <a:buNone/>
            </a:pPr>
            <a:r>
              <a:rPr lang="en-US" sz="1300" b="1" dirty="0">
                <a:solidFill>
                  <a:srgbClr val="1F3B57"/>
                </a:solidFill>
                <a:latin typeface="Arial" pitchFamily="34" charset="0"/>
                <a:ea typeface="Arial" pitchFamily="34" charset="-122"/>
                <a:cs typeface="Arial" pitchFamily="34" charset="-120"/>
              </a:rPr>
              <a:t>정답 이미지를 대신 차단하면</a:t>
            </a:r>
            <a:endParaRPr lang="en-US" sz="1300" dirty="0"/>
          </a:p>
        </p:txBody>
      </p:sp>
      <p:sp>
        <p:nvSpPr>
          <p:cNvPr id="15" name="Text 13"/>
          <p:cNvSpPr/>
          <p:nvPr/>
        </p:nvSpPr>
        <p:spPr>
          <a:xfrm>
            <a:off x="8503920" y="3063240"/>
            <a:ext cx="3200400" cy="82296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Arial" pitchFamily="34" charset="0"/>
                <a:ea typeface="Arial" pitchFamily="34" charset="-122"/>
                <a:cs typeface="Arial" pitchFamily="34" charset="-120"/>
              </a:rPr>
              <a:t>우연일 확률 p = 4×10⁻³⁸</a:t>
            </a:r>
            <a:endParaRPr lang="en-US" sz="1100" dirty="0"/>
          </a:p>
          <a:p>
            <a:pPr indent="0" marL="0">
              <a:lnSpc>
                <a:spcPct val="120000"/>
              </a:lnSpc>
              <a:buNone/>
            </a:pPr>
            <a:r>
              <a:rPr lang="en-US" sz="1100" dirty="0">
                <a:solidFill>
                  <a:srgbClr val="6B7280"/>
                </a:solidFill>
                <a:latin typeface="Arial" pitchFamily="34" charset="0"/>
                <a:ea typeface="Arial" pitchFamily="34" charset="-122"/>
                <a:cs typeface="Arial" pitchFamily="34" charset="-120"/>
              </a:rPr>
              <a:t>→ 상관이 아니라 인과</a:t>
            </a:r>
            <a:endParaRPr lang="en-US" sz="1100" dirty="0"/>
          </a:p>
        </p:txBody>
      </p:sp>
      <p:pic>
        <p:nvPicPr>
          <p:cNvPr id="16" name="Image 0" descr="/Users/hansangmin/Source-Depth/results/fig1b_when_to_block.png">    </p:cNvPr>
          <p:cNvPicPr>
            <a:picLocks noChangeAspect="1"/>
          </p:cNvPicPr>
          <p:nvPr/>
        </p:nvPicPr>
        <p:blipFill>
          <a:blip r:embed="rId1"/>
          <a:stretch>
            <a:fillRect/>
          </a:stretch>
        </p:blipFill>
        <p:spPr>
          <a:xfrm>
            <a:off x="2103120" y="4114800"/>
            <a:ext cx="7955280" cy="1783080"/>
          </a:xfrm>
          <a:prstGeom prst="rect">
            <a:avLst/>
          </a:prstGeom>
        </p:spPr>
      </p:pic>
      <p:sp>
        <p:nvSpPr>
          <p:cNvPr id="17" name="Text 14"/>
          <p:cNvSpPr/>
          <p:nvPr/>
        </p:nvSpPr>
        <p:spPr>
          <a:xfrm>
            <a:off x="502920" y="5532120"/>
            <a:ext cx="11155680" cy="365760"/>
          </a:xfrm>
          <a:prstGeom prst="rect">
            <a:avLst/>
          </a:prstGeom>
          <a:noFill/>
          <a:ln/>
        </p:spPr>
        <p:txBody>
          <a:bodyPr wrap="square" lIns="0" tIns="0" rIns="0" bIns="0" rtlCol="0" anchor="ctr"/>
          <a:lstStyle/>
          <a:p>
            <a:pPr indent="0" marL="0">
              <a:buNone/>
            </a:pPr>
            <a:endParaRPr lang="en-US" sz="1050" dirty="0"/>
          </a:p>
        </p:txBody>
      </p:sp>
      <p:sp>
        <p:nvSpPr>
          <p:cNvPr id="18" name="Shape 15"/>
          <p:cNvSpPr/>
          <p:nvPr/>
        </p:nvSpPr>
        <p:spPr>
          <a:xfrm>
            <a:off x="502920" y="6035040"/>
            <a:ext cx="11201400" cy="566928"/>
          </a:xfrm>
          <a:prstGeom prst="roundRect">
            <a:avLst>
              <a:gd name="adj" fmla="val 12903"/>
            </a:avLst>
          </a:prstGeom>
          <a:solidFill>
            <a:srgbClr val="1F3B57"/>
          </a:solidFill>
          <a:ln/>
        </p:spPr>
      </p:sp>
      <p:sp>
        <p:nvSpPr>
          <p:cNvPr id="19" name="Text 16"/>
          <p:cNvSpPr/>
          <p:nvPr/>
        </p:nvSpPr>
        <p:spPr>
          <a:xfrm>
            <a:off x="777240" y="6035040"/>
            <a:ext cx="107442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 여기까지가 좋은 소식입니다. 다만 이 숫자들은 전부 '어느 이미지가 방해인지 아는' 조건입니다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1F77B4"/>
                </a:solidFill>
                <a:latin typeface="Arial" pitchFamily="34" charset="0"/>
                <a:ea typeface="Arial" pitchFamily="34" charset="-122"/>
                <a:cs typeface="Arial" pitchFamily="34" charset="-120"/>
              </a:rPr>
              <a:t>결과 ② — 무너진 것 (오늘의 핵심)</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1F3B57"/>
                </a:solidFill>
                <a:latin typeface="Arial" pitchFamily="34" charset="0"/>
                <a:ea typeface="Arial" pitchFamily="34" charset="-122"/>
                <a:cs typeface="Arial" pitchFamily="34" charset="-120"/>
              </a:rPr>
              <a:t>어느 이미지가 방해인지 스스로 알아내지 못했고, 속도 이득도 실현되지 않았다</a:t>
            </a:r>
            <a:endParaRPr lang="en-US" sz="2300" dirty="0"/>
          </a:p>
        </p:txBody>
      </p:sp>
      <p:sp>
        <p:nvSpPr>
          <p:cNvPr id="4" name="Shape 2"/>
          <p:cNvSpPr/>
          <p:nvPr/>
        </p:nvSpPr>
        <p:spPr>
          <a:xfrm>
            <a:off x="502920" y="1572768"/>
            <a:ext cx="11201400" cy="1325880"/>
          </a:xfrm>
          <a:prstGeom prst="roundRect">
            <a:avLst>
              <a:gd name="adj" fmla="val 6207"/>
            </a:avLst>
          </a:prstGeom>
          <a:solidFill>
            <a:srgbClr val="FBEAEA"/>
          </a:solidFill>
          <a:ln w="12700">
            <a:solidFill>
              <a:srgbClr val="D62728"/>
            </a:solidFill>
            <a:prstDash val="solid"/>
          </a:ln>
        </p:spPr>
      </p:sp>
      <p:sp>
        <p:nvSpPr>
          <p:cNvPr id="5" name="Shape 3"/>
          <p:cNvSpPr/>
          <p:nvPr/>
        </p:nvSpPr>
        <p:spPr>
          <a:xfrm>
            <a:off x="731520" y="1709928"/>
            <a:ext cx="438912" cy="438912"/>
          </a:xfrm>
          <a:prstGeom prst="ellipse">
            <a:avLst/>
          </a:prstGeom>
          <a:solidFill>
            <a:srgbClr val="D62728"/>
          </a:solidFill>
          <a:ln/>
        </p:spPr>
      </p:sp>
      <p:sp>
        <p:nvSpPr>
          <p:cNvPr id="6" name="Text 4"/>
          <p:cNvSpPr/>
          <p:nvPr/>
        </p:nvSpPr>
        <p:spPr>
          <a:xfrm>
            <a:off x="731520" y="170992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①</a:t>
            </a:r>
            <a:endParaRPr lang="en-US" sz="1400" dirty="0"/>
          </a:p>
        </p:txBody>
      </p:sp>
      <p:sp>
        <p:nvSpPr>
          <p:cNvPr id="7" name="Text 5"/>
          <p:cNvSpPr/>
          <p:nvPr/>
        </p:nvSpPr>
        <p:spPr>
          <a:xfrm>
            <a:off x="1325880" y="1682496"/>
            <a:ext cx="3657600" cy="36576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스스로 판정하지 못한다</a:t>
            </a:r>
            <a:endParaRPr lang="en-US" sz="1350" dirty="0"/>
          </a:p>
        </p:txBody>
      </p:sp>
      <p:sp>
        <p:nvSpPr>
          <p:cNvPr id="8" name="Text 6"/>
          <p:cNvSpPr/>
          <p:nvPr/>
        </p:nvSpPr>
        <p:spPr>
          <a:xfrm>
            <a:off x="1325880" y="2048256"/>
            <a:ext cx="7315200" cy="777240"/>
          </a:xfrm>
          <a:prstGeom prst="rect">
            <a:avLst/>
          </a:prstGeom>
          <a:noFill/>
          <a:ln/>
        </p:spPr>
        <p:txBody>
          <a:bodyPr wrap="square" lIns="0" tIns="0" rIns="0" bIns="0" rtlCol="0" anchor="ctr"/>
          <a:lstStyle/>
          <a:p>
            <a:pPr indent="0" marL="0">
              <a:lnSpc>
                <a:spcPct val="115000"/>
              </a:lnSpc>
              <a:buNone/>
            </a:pPr>
            <a:r>
              <a:rPr lang="en-US" sz="1080" dirty="0">
                <a:solidFill>
                  <a:srgbClr val="6B7280"/>
                </a:solidFill>
                <a:latin typeface="Arial" pitchFamily="34" charset="0"/>
                <a:ea typeface="Arial" pitchFamily="34" charset="-122"/>
                <a:cs typeface="Arial" pitchFamily="34" charset="-120"/>
              </a:rPr>
              <a:t>8층에서 관련 이미지를 99.8% 맞히길래 됐다 싶었는데,</a:t>
            </a:r>
            <a:endParaRPr lang="en-US" sz="1080" dirty="0"/>
          </a:p>
          <a:p>
            <a:pPr indent="0" marL="0">
              <a:lnSpc>
                <a:spcPct val="115000"/>
              </a:lnSpc>
              <a:buNone/>
            </a:pPr>
            <a:r>
              <a:rPr lang="en-US" sz="1080" dirty="0">
                <a:solidFill>
                  <a:srgbClr val="6B7280"/>
                </a:solidFill>
                <a:latin typeface="Arial" pitchFamily="34" charset="0"/>
                <a:ea typeface="Arial" pitchFamily="34" charset="-122"/>
                <a:cs typeface="Arial" pitchFamily="34" charset="-120"/>
              </a:rPr>
              <a:t>이미지 순서를 뒤집으니 0.2%. 관련도가 아니라 '첫 번째'를 보던 것.</a:t>
            </a:r>
            <a:endParaRPr lang="en-US" sz="1080" dirty="0"/>
          </a:p>
          <a:p>
            <a:pPr indent="0" marL="0">
              <a:lnSpc>
                <a:spcPct val="115000"/>
              </a:lnSpc>
              <a:buNone/>
            </a:pPr>
            <a:r>
              <a:rPr lang="en-US" sz="1080" dirty="0">
                <a:solidFill>
                  <a:srgbClr val="6B7280"/>
                </a:solidFill>
                <a:latin typeface="Arial" pitchFamily="34" charset="0"/>
                <a:ea typeface="Arial" pitchFamily="34" charset="-122"/>
                <a:cs typeface="Arial" pitchFamily="34" charset="-120"/>
              </a:rPr>
              <a:t>순서를 뒤집어도 맞는 신호는 22층에서야 나오는데, 차단이 효과 있는 구간은 16층 이전.</a:t>
            </a:r>
            <a:endParaRPr lang="en-US" sz="1080" dirty="0"/>
          </a:p>
        </p:txBody>
      </p:sp>
      <p:sp>
        <p:nvSpPr>
          <p:cNvPr id="9" name="Text 7"/>
          <p:cNvSpPr/>
          <p:nvPr/>
        </p:nvSpPr>
        <p:spPr>
          <a:xfrm>
            <a:off x="8778240" y="1847088"/>
            <a:ext cx="2788920" cy="777240"/>
          </a:xfrm>
          <a:prstGeom prst="rect">
            <a:avLst/>
          </a:prstGeom>
          <a:noFill/>
          <a:ln/>
        </p:spPr>
        <p:txBody>
          <a:bodyPr wrap="square" lIns="0" tIns="0" rIns="0" bIns="0" rtlCol="0" anchor="ctr"/>
          <a:lstStyle/>
          <a:p>
            <a:pPr indent="0" marL="0">
              <a:buNone/>
            </a:pPr>
            <a:r>
              <a:rPr lang="en-US" sz="1100" b="1" dirty="0">
                <a:solidFill>
                  <a:srgbClr val="D62728"/>
                </a:solidFill>
                <a:latin typeface="Arial" pitchFamily="34" charset="0"/>
                <a:ea typeface="Arial" pitchFamily="34" charset="-122"/>
                <a:cs typeface="Arial" pitchFamily="34" charset="-120"/>
              </a:rPr>
              <a:t>→ 실제로 끼워보면 무개입 대비 −1.5%p</a:t>
            </a:r>
            <a:endParaRPr lang="en-US" sz="1100" dirty="0"/>
          </a:p>
        </p:txBody>
      </p:sp>
      <p:sp>
        <p:nvSpPr>
          <p:cNvPr id="10" name="Shape 8"/>
          <p:cNvSpPr/>
          <p:nvPr/>
        </p:nvSpPr>
        <p:spPr>
          <a:xfrm>
            <a:off x="502920" y="3035808"/>
            <a:ext cx="11201400" cy="1325880"/>
          </a:xfrm>
          <a:prstGeom prst="roundRect">
            <a:avLst>
              <a:gd name="adj" fmla="val 6207"/>
            </a:avLst>
          </a:prstGeom>
          <a:solidFill>
            <a:srgbClr val="FBEAEA"/>
          </a:solidFill>
          <a:ln w="12700">
            <a:solidFill>
              <a:srgbClr val="D62728"/>
            </a:solidFill>
            <a:prstDash val="solid"/>
          </a:ln>
        </p:spPr>
      </p:sp>
      <p:sp>
        <p:nvSpPr>
          <p:cNvPr id="11" name="Shape 9"/>
          <p:cNvSpPr/>
          <p:nvPr/>
        </p:nvSpPr>
        <p:spPr>
          <a:xfrm>
            <a:off x="731520" y="3172968"/>
            <a:ext cx="438912" cy="438912"/>
          </a:xfrm>
          <a:prstGeom prst="ellipse">
            <a:avLst/>
          </a:prstGeom>
          <a:solidFill>
            <a:srgbClr val="D62728"/>
          </a:solidFill>
          <a:ln/>
        </p:spPr>
      </p:sp>
      <p:sp>
        <p:nvSpPr>
          <p:cNvPr id="12" name="Text 10"/>
          <p:cNvSpPr/>
          <p:nvPr/>
        </p:nvSpPr>
        <p:spPr>
          <a:xfrm>
            <a:off x="731520" y="317296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②</a:t>
            </a:r>
            <a:endParaRPr lang="en-US" sz="1400" dirty="0"/>
          </a:p>
        </p:txBody>
      </p:sp>
      <p:sp>
        <p:nvSpPr>
          <p:cNvPr id="13" name="Text 11"/>
          <p:cNvSpPr/>
          <p:nvPr/>
        </p:nvSpPr>
        <p:spPr>
          <a:xfrm>
            <a:off x="1325880" y="3145536"/>
            <a:ext cx="3657600" cy="36576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실제로는 별로 빨라지지 않았다</a:t>
            </a:r>
            <a:endParaRPr lang="en-US" sz="1350" dirty="0"/>
          </a:p>
        </p:txBody>
      </p:sp>
      <p:sp>
        <p:nvSpPr>
          <p:cNvPr id="14" name="Text 12"/>
          <p:cNvSpPr/>
          <p:nvPr/>
        </p:nvSpPr>
        <p:spPr>
          <a:xfrm>
            <a:off x="1325880" y="3511296"/>
            <a:ext cx="7315200" cy="777240"/>
          </a:xfrm>
          <a:prstGeom prst="rect">
            <a:avLst/>
          </a:prstGeom>
          <a:noFill/>
          <a:ln/>
        </p:spPr>
        <p:txBody>
          <a:bodyPr wrap="square" lIns="0" tIns="0" rIns="0" bIns="0" rtlCol="0" anchor="ctr"/>
          <a:lstStyle/>
          <a:p>
            <a:pPr indent="0" marL="0">
              <a:lnSpc>
                <a:spcPct val="115000"/>
              </a:lnSpc>
              <a:buNone/>
            </a:pPr>
            <a:r>
              <a:rPr lang="en-US" sz="1080" dirty="0">
                <a:solidFill>
                  <a:srgbClr val="6B7280"/>
                </a:solidFill>
                <a:latin typeface="Arial" pitchFamily="34" charset="0"/>
                <a:ea typeface="Arial" pitchFamily="34" charset="-122"/>
                <a:cs typeface="Arial" pitchFamily="34" charset="-120"/>
              </a:rPr>
              <a:t>계산량 기준으로는 42% 절약인데, 실제 응답 시작 시간은 510ms → 461ms.</a:t>
            </a:r>
            <a:endParaRPr lang="en-US" sz="1080" dirty="0"/>
          </a:p>
          <a:p>
            <a:pPr indent="0" marL="0">
              <a:lnSpc>
                <a:spcPct val="115000"/>
              </a:lnSpc>
              <a:buNone/>
            </a:pPr>
            <a:r>
              <a:rPr lang="en-US" sz="1080" dirty="0">
                <a:solidFill>
                  <a:srgbClr val="6B7280"/>
                </a:solidFill>
                <a:latin typeface="Arial" pitchFamily="34" charset="0"/>
                <a:ea typeface="Arial" pitchFamily="34" charset="-122"/>
                <a:cs typeface="Arial" pitchFamily="34" charset="-120"/>
              </a:rPr>
              <a:t>이론치의 23%밖에 실현되지 않았다.</a:t>
            </a:r>
            <a:endParaRPr lang="en-US" sz="1080" dirty="0"/>
          </a:p>
        </p:txBody>
      </p:sp>
      <p:sp>
        <p:nvSpPr>
          <p:cNvPr id="15" name="Text 13"/>
          <p:cNvSpPr/>
          <p:nvPr/>
        </p:nvSpPr>
        <p:spPr>
          <a:xfrm>
            <a:off x="8778240" y="3310128"/>
            <a:ext cx="2788920" cy="777240"/>
          </a:xfrm>
          <a:prstGeom prst="rect">
            <a:avLst/>
          </a:prstGeom>
          <a:noFill/>
          <a:ln/>
        </p:spPr>
        <p:txBody>
          <a:bodyPr wrap="square" lIns="0" tIns="0" rIns="0" bIns="0" rtlCol="0" anchor="ctr"/>
          <a:lstStyle/>
          <a:p>
            <a:pPr indent="0" marL="0">
              <a:buNone/>
            </a:pPr>
            <a:r>
              <a:rPr lang="en-US" sz="1100" b="1" dirty="0">
                <a:solidFill>
                  <a:srgbClr val="D62728"/>
                </a:solidFill>
                <a:latin typeface="Arial" pitchFamily="34" charset="0"/>
                <a:ea typeface="Arial" pitchFamily="34" charset="-122"/>
                <a:cs typeface="Arial" pitchFamily="34" charset="-120"/>
              </a:rPr>
              <a:t>→ 9.7% 단축으로는 쓸 이유가 없다</a:t>
            </a:r>
            <a:endParaRPr lang="en-US" sz="1100" dirty="0"/>
          </a:p>
        </p:txBody>
      </p:sp>
      <p:sp>
        <p:nvSpPr>
          <p:cNvPr id="16" name="Shape 14"/>
          <p:cNvSpPr/>
          <p:nvPr/>
        </p:nvSpPr>
        <p:spPr>
          <a:xfrm>
            <a:off x="502920" y="4498848"/>
            <a:ext cx="11201400" cy="1325880"/>
          </a:xfrm>
          <a:prstGeom prst="roundRect">
            <a:avLst>
              <a:gd name="adj" fmla="val 6207"/>
            </a:avLst>
          </a:prstGeom>
          <a:solidFill>
            <a:srgbClr val="FBEAEA"/>
          </a:solidFill>
          <a:ln w="12700">
            <a:solidFill>
              <a:srgbClr val="D62728"/>
            </a:solidFill>
            <a:prstDash val="solid"/>
          </a:ln>
        </p:spPr>
      </p:sp>
      <p:sp>
        <p:nvSpPr>
          <p:cNvPr id="17" name="Shape 15"/>
          <p:cNvSpPr/>
          <p:nvPr/>
        </p:nvSpPr>
        <p:spPr>
          <a:xfrm>
            <a:off x="731520" y="4636008"/>
            <a:ext cx="438912" cy="438912"/>
          </a:xfrm>
          <a:prstGeom prst="ellipse">
            <a:avLst/>
          </a:prstGeom>
          <a:solidFill>
            <a:srgbClr val="D62728"/>
          </a:solidFill>
          <a:ln/>
        </p:spPr>
      </p:sp>
      <p:sp>
        <p:nvSpPr>
          <p:cNvPr id="18" name="Text 16"/>
          <p:cNvSpPr/>
          <p:nvPr/>
        </p:nvSpPr>
        <p:spPr>
          <a:xfrm>
            <a:off x="731520" y="4636008"/>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③</a:t>
            </a:r>
            <a:endParaRPr lang="en-US" sz="1400" dirty="0"/>
          </a:p>
        </p:txBody>
      </p:sp>
      <p:sp>
        <p:nvSpPr>
          <p:cNvPr id="19" name="Text 17"/>
          <p:cNvSpPr/>
          <p:nvPr/>
        </p:nvSpPr>
        <p:spPr>
          <a:xfrm>
            <a:off x="1325880" y="4608576"/>
            <a:ext cx="3657600" cy="36576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7B에서는 현상 자체가 옅다</a:t>
            </a:r>
            <a:endParaRPr lang="en-US" sz="1350" dirty="0"/>
          </a:p>
        </p:txBody>
      </p:sp>
      <p:sp>
        <p:nvSpPr>
          <p:cNvPr id="20" name="Text 18"/>
          <p:cNvSpPr/>
          <p:nvPr/>
        </p:nvSpPr>
        <p:spPr>
          <a:xfrm>
            <a:off x="1325880" y="4974336"/>
            <a:ext cx="7315200" cy="777240"/>
          </a:xfrm>
          <a:prstGeom prst="rect">
            <a:avLst/>
          </a:prstGeom>
          <a:noFill/>
          <a:ln/>
        </p:spPr>
        <p:txBody>
          <a:bodyPr wrap="square" lIns="0" tIns="0" rIns="0" bIns="0" rtlCol="0" anchor="ctr"/>
          <a:lstStyle/>
          <a:p>
            <a:pPr indent="0" marL="0">
              <a:lnSpc>
                <a:spcPct val="115000"/>
              </a:lnSpc>
              <a:buNone/>
            </a:pPr>
            <a:r>
              <a:rPr lang="en-US" sz="1080" dirty="0">
                <a:solidFill>
                  <a:srgbClr val="6B7280"/>
                </a:solidFill>
                <a:latin typeface="Arial" pitchFamily="34" charset="0"/>
                <a:ea typeface="Arial" pitchFamily="34" charset="-122"/>
                <a:cs typeface="Arial" pitchFamily="34" charset="-120"/>
              </a:rPr>
              <a:t>답 뒤집힘이 3B 21.3% → 7B 0.7%. 단일 이미지에서 이미 94.7%라 천장 효과.</a:t>
            </a:r>
            <a:endParaRPr lang="en-US" sz="1080" dirty="0"/>
          </a:p>
          <a:p>
            <a:pPr indent="0" marL="0">
              <a:lnSpc>
                <a:spcPct val="115000"/>
              </a:lnSpc>
              <a:buNone/>
            </a:pPr>
            <a:r>
              <a:rPr lang="en-US" sz="1080" dirty="0">
                <a:solidFill>
                  <a:srgbClr val="6B7280"/>
                </a:solidFill>
                <a:latin typeface="Arial" pitchFamily="34" charset="0"/>
                <a:ea typeface="Arial" pitchFamily="34" charset="-122"/>
                <a:cs typeface="Arial" pitchFamily="34" charset="-120"/>
              </a:rPr>
              <a:t>(문헌상 더 어려운 벤치에서는 7B도 −10.4%p로 남아 있음)</a:t>
            </a:r>
            <a:endParaRPr lang="en-US" sz="1080" dirty="0"/>
          </a:p>
        </p:txBody>
      </p:sp>
      <p:sp>
        <p:nvSpPr>
          <p:cNvPr id="21" name="Text 19"/>
          <p:cNvSpPr/>
          <p:nvPr/>
        </p:nvSpPr>
        <p:spPr>
          <a:xfrm>
            <a:off x="8778240" y="4773168"/>
            <a:ext cx="2788920" cy="777240"/>
          </a:xfrm>
          <a:prstGeom prst="rect">
            <a:avLst/>
          </a:prstGeom>
          <a:noFill/>
          <a:ln/>
        </p:spPr>
        <p:txBody>
          <a:bodyPr wrap="square" lIns="0" tIns="0" rIns="0" bIns="0" rtlCol="0" anchor="ctr"/>
          <a:lstStyle/>
          <a:p>
            <a:pPr indent="0" marL="0">
              <a:buNone/>
            </a:pPr>
            <a:r>
              <a:rPr lang="en-US" sz="1100" b="1" dirty="0">
                <a:solidFill>
                  <a:srgbClr val="D62728"/>
                </a:solidFill>
                <a:latin typeface="Arial" pitchFamily="34" charset="0"/>
                <a:ea typeface="Arial" pitchFamily="34" charset="-122"/>
                <a:cs typeface="Arial" pitchFamily="34" charset="-120"/>
              </a:rPr>
              <a:t>→ 벤치마크를 바꿔야 측정 가능</a:t>
            </a:r>
            <a:endParaRPr lang="en-US" sz="1100" dirty="0"/>
          </a:p>
        </p:txBody>
      </p:sp>
      <p:sp>
        <p:nvSpPr>
          <p:cNvPr id="22" name="Shape 20"/>
          <p:cNvSpPr/>
          <p:nvPr/>
        </p:nvSpPr>
        <p:spPr>
          <a:xfrm>
            <a:off x="502920" y="6035040"/>
            <a:ext cx="11201400" cy="566928"/>
          </a:xfrm>
          <a:prstGeom prst="roundRect">
            <a:avLst>
              <a:gd name="adj" fmla="val 12903"/>
            </a:avLst>
          </a:prstGeom>
          <a:solidFill>
            <a:srgbClr val="1F3B57"/>
          </a:solidFill>
          <a:ln/>
        </p:spPr>
      </p:sp>
      <p:sp>
        <p:nvSpPr>
          <p:cNvPr id="23" name="Text 21"/>
          <p:cNvSpPr/>
          <p:nvPr/>
        </p:nvSpPr>
        <p:spPr>
          <a:xfrm>
            <a:off x="777240" y="6035040"/>
            <a:ext cx="107442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 다만 좋은 소식 하나: 계산량이 같을 때 '방해 이미지를 먼저 끊는' 배분이 '둘 다 똑같이 끊는' 것보다 나았고, 이미지 순서를 뒤집어도 그 이득의 80%가 유지됐습니다</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1F77B4"/>
                </a:solidFill>
                <a:latin typeface="Arial" pitchFamily="34" charset="0"/>
                <a:ea typeface="Arial" pitchFamily="34" charset="-122"/>
                <a:cs typeface="Arial" pitchFamily="34" charset="-120"/>
              </a:rPr>
              <a:t>결과 ③ — 그러면 이미 누가 했나?</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1F3B57"/>
                </a:solidFill>
                <a:latin typeface="Arial" pitchFamily="34" charset="0"/>
                <a:ea typeface="Arial" pitchFamily="34" charset="-122"/>
                <a:cs typeface="Arial" pitchFamily="34" charset="-120"/>
              </a:rPr>
              <a:t>어제는 '이미 나왔다'고 판단했는데, 원문을 보니 제가 잘못 읽었습니다</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11201400" cy="914400"/>
        </p:xfrm>
        <a:graphic>
          <a:graphicData uri="http://schemas.openxmlformats.org/drawingml/2006/table">
            <a:tbl>
              <a:tblPr/>
              <a:tblGrid>
                <a:gridCol w="3733800"/>
                <a:gridCol w="3733800"/>
                <a:gridCol w="3733800"/>
              </a:tblGrid>
              <a:tr h="457200">
                <a:tc>
                  <a:txBody>
                    <a:bodyPr/>
                    <a:lstStyle/>
                    <a:p>
                      <a:pPr algn="ctr" indent="0" marL="0">
                        <a:buNone/>
                      </a:pPr>
                      <a:endParaRPr lang="en-US" sz="12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MIMIC (CVPR 2026, arXiv 2601.07812)</a:t>
                      </a:r>
                      <a:endParaRPr lang="en-US" sz="12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우리</a:t>
                      </a:r>
                      <a:endParaRPr lang="en-US" sz="12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822960">
                <a:tc>
                  <a:txBody>
                    <a:bodyPr/>
                    <a:lstStyle/>
                    <a:p>
                      <a:pPr algn="ctr" indent="0" marL="0">
                        <a:buNone/>
                      </a:pPr>
                      <a:r>
                        <a:rPr lang="en-US" sz="1400" b="1" dirty="0">
                          <a:solidFill>
                            <a:srgbClr val="1F3B57"/>
                          </a:solidFill>
                          <a:latin typeface="Arial" pitchFamily="34" charset="0"/>
                          <a:ea typeface="Arial" pitchFamily="34" charset="-122"/>
                          <a:cs typeface="Arial" pitchFamily="34" charset="-120"/>
                        </a:rPr>
                        <a:t>학습</a:t>
                      </a:r>
                      <a:endParaRPr lang="en-US" sz="14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D62728"/>
                          </a:solidFill>
                          <a:latin typeface="Arial" pitchFamily="34" charset="0"/>
                          <a:ea typeface="Arial" pitchFamily="34" charset="-122"/>
                          <a:cs typeface="Arial" pitchFamily="34" charset="-120"/>
                        </a:rPr>
                        <a:t>필요  —  8×H100 · 합성데이터 198K</a:t>
                      </a:r>
                      <a:endParaRPr lang="en-US" sz="13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8B57"/>
                          </a:solidFill>
                          <a:latin typeface="Arial" pitchFamily="34" charset="0"/>
                          <a:ea typeface="Arial" pitchFamily="34" charset="-122"/>
                          <a:cs typeface="Arial" pitchFamily="34" charset="-120"/>
                        </a:rPr>
                        <a:t>불필요  —  추론 중 개입만</a:t>
                      </a:r>
                      <a:endParaRPr lang="en-US" sz="13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822960">
                <a:tc>
                  <a:txBody>
                    <a:bodyPr/>
                    <a:lstStyle/>
                    <a:p>
                      <a:pPr algn="ctr" indent="0" marL="0">
                        <a:buNone/>
                      </a:pPr>
                      <a:r>
                        <a:rPr lang="en-US" sz="1400" b="1" dirty="0">
                          <a:solidFill>
                            <a:srgbClr val="1F3B57"/>
                          </a:solidFill>
                          <a:latin typeface="Arial" pitchFamily="34" charset="0"/>
                          <a:ea typeface="Arial" pitchFamily="34" charset="-122"/>
                          <a:cs typeface="Arial" pitchFamily="34" charset="-120"/>
                        </a:rPr>
                        <a:t>환각 평가</a:t>
                      </a:r>
                      <a:endParaRPr lang="en-US" sz="14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D62728"/>
                          </a:solidFill>
                          <a:latin typeface="Arial" pitchFamily="34" charset="0"/>
                          <a:ea typeface="Arial" pitchFamily="34" charset="-122"/>
                          <a:cs typeface="Arial" pitchFamily="34" charset="-120"/>
                        </a:rPr>
                        <a:t>안 함  —  POPE 언급 0회</a:t>
                      </a:r>
                      <a:endParaRPr lang="en-US" sz="13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8B57"/>
                          </a:solidFill>
                          <a:latin typeface="Arial" pitchFamily="34" charset="0"/>
                          <a:ea typeface="Arial" pitchFamily="34" charset="-122"/>
                          <a:cs typeface="Arial" pitchFamily="34" charset="-120"/>
                        </a:rPr>
                        <a:t>주 평가 대상  —  POPE 4셀 통제 설계</a:t>
                      </a:r>
                      <a:endParaRPr lang="en-US" sz="13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Shape 2"/>
          <p:cNvSpPr/>
          <p:nvPr/>
        </p:nvSpPr>
        <p:spPr>
          <a:xfrm>
            <a:off x="502920" y="4206240"/>
            <a:ext cx="11201400" cy="1600200"/>
          </a:xfrm>
          <a:prstGeom prst="roundRect">
            <a:avLst>
              <a:gd name="adj" fmla="val 5143"/>
            </a:avLst>
          </a:prstGeom>
          <a:solidFill>
            <a:srgbClr val="E9F4EE"/>
          </a:solidFill>
          <a:ln w="15875">
            <a:solidFill>
              <a:srgbClr val="2E8B57"/>
            </a:solidFill>
            <a:prstDash val="solid"/>
          </a:ln>
        </p:spPr>
      </p:sp>
      <p:sp>
        <p:nvSpPr>
          <p:cNvPr id="6" name="Text 3"/>
          <p:cNvSpPr/>
          <p:nvPr/>
        </p:nvSpPr>
        <p:spPr>
          <a:xfrm>
            <a:off x="822960" y="4343400"/>
            <a:ext cx="10607040" cy="1371600"/>
          </a:xfrm>
          <a:prstGeom prst="rect">
            <a:avLst/>
          </a:prstGeom>
          <a:noFill/>
          <a:ln/>
        </p:spPr>
        <p:txBody>
          <a:bodyPr wrap="square" lIns="0" tIns="0" rIns="0" bIns="0" rtlCol="0" anchor="ctr"/>
          <a:lstStyle/>
          <a:p>
            <a:pPr indent="0" marL="0">
              <a:spcAft>
                <a:spcPts val="700"/>
              </a:spcAft>
              <a:buNone/>
            </a:pPr>
            <a:r>
              <a:rPr lang="en-US" sz="1500" b="1" dirty="0">
                <a:solidFill>
                  <a:srgbClr val="2E8B57"/>
                </a:solidFill>
                <a:latin typeface="Arial" pitchFamily="34" charset="0"/>
                <a:ea typeface="Arial" pitchFamily="34" charset="-122"/>
                <a:cs typeface="Arial" pitchFamily="34" charset="-120"/>
              </a:rPr>
              <a:t>그들이 설명하지 못한 것을, 우리는 이미 측정했습니다</a:t>
            </a:r>
            <a:endParaRPr lang="en-US" sz="1500" dirty="0"/>
          </a:p>
          <a:p>
            <a:pPr indent="0" marL="0">
              <a:spcAft>
                <a:spcPts val="700"/>
              </a:spcAft>
              <a:buNone/>
            </a:pPr>
            <a:r>
              <a:rPr lang="en-US" sz="1300" dirty="0">
                <a:solidFill>
                  <a:srgbClr val="1F3B57"/>
                </a:solidFill>
                <a:latin typeface="Arial" pitchFamily="34" charset="0"/>
                <a:ea typeface="Arial" pitchFamily="34" charset="-122"/>
                <a:cs typeface="Arial" pitchFamily="34" charset="-120"/>
              </a:rPr>
              <a:t>그들의 마스킹은 자체 벤치에서는 오르고 다른 벤치에서는 내려가는데, 왜 그런지 설명이 없습니다.</a:t>
            </a:r>
            <a:endParaRPr lang="en-US" sz="1500" dirty="0"/>
          </a:p>
          <a:p>
            <a:pPr indent="0" marL="0">
              <a:spcAft>
                <a:spcPts val="700"/>
              </a:spcAft>
              <a:buNone/>
            </a:pPr>
            <a:r>
              <a:rPr lang="en-US" sz="1300" b="1" dirty="0">
                <a:solidFill>
                  <a:srgbClr val="1F3B57"/>
                </a:solidFill>
                <a:latin typeface="Arial" pitchFamily="34" charset="0"/>
                <a:ea typeface="Arial" pitchFamily="34" charset="-122"/>
                <a:cs typeface="Arial" pitchFamily="34" charset="-120"/>
              </a:rPr>
              <a:t>우리 데이터에서는 질문 유형에 따라 부호가 뒤집힙니다 — 단일 이미지 질문 +21%p  ↔  두 이미지 비교 질문 −51%p (7B에서도 −41%p로 재현)</a:t>
            </a:r>
            <a:endParaRPr lang="en-US" sz="1500" dirty="0"/>
          </a:p>
        </p:txBody>
      </p:sp>
      <p:sp>
        <p:nvSpPr>
          <p:cNvPr id="7" name="Shape 4"/>
          <p:cNvSpPr/>
          <p:nvPr/>
        </p:nvSpPr>
        <p:spPr>
          <a:xfrm>
            <a:off x="502920" y="6035040"/>
            <a:ext cx="11201400" cy="566928"/>
          </a:xfrm>
          <a:prstGeom prst="roundRect">
            <a:avLst>
              <a:gd name="adj" fmla="val 12903"/>
            </a:avLst>
          </a:prstGeom>
          <a:solidFill>
            <a:srgbClr val="1F3B57"/>
          </a:solidFill>
          <a:ln/>
        </p:spPr>
      </p:sp>
      <p:sp>
        <p:nvSpPr>
          <p:cNvPr id="8" name="Text 5"/>
          <p:cNvSpPr/>
          <p:nvPr/>
        </p:nvSpPr>
        <p:spPr>
          <a:xfrm>
            <a:off x="777240" y="6035040"/>
            <a:ext cx="10744200" cy="56692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 학습 없이, 환각을 대상으로 하는 자리는 아직 비어 있습니다 — 다만 확인하려면 검증이 더 필요합니다</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638"/>
        </a:solidFill>
      </p:bgPr>
    </p:bg>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9FB8CE"/>
                </a:solidFill>
                <a:latin typeface="Arial" pitchFamily="34" charset="0"/>
                <a:ea typeface="Arial" pitchFamily="34" charset="-122"/>
                <a:cs typeface="Arial" pitchFamily="34" charset="-120"/>
              </a:rPr>
              <a:t>요청</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1주일 뒤에 진행/중단을 확정하겠습니다</a:t>
            </a:r>
            <a:endParaRPr lang="en-US" sz="2300" dirty="0"/>
          </a:p>
        </p:txBody>
      </p:sp>
      <p:sp>
        <p:nvSpPr>
          <p:cNvPr id="4" name="Shape 2"/>
          <p:cNvSpPr/>
          <p:nvPr/>
        </p:nvSpPr>
        <p:spPr>
          <a:xfrm>
            <a:off x="502920" y="1481328"/>
            <a:ext cx="11201400" cy="1664208"/>
          </a:xfrm>
          <a:prstGeom prst="roundRect">
            <a:avLst>
              <a:gd name="adj" fmla="val 4945"/>
            </a:avLst>
          </a:prstGeom>
          <a:solidFill>
            <a:srgbClr val="1A3247"/>
          </a:solidFill>
          <a:ln w="15875">
            <a:solidFill>
              <a:srgbClr val="2E4E6B"/>
            </a:solidFill>
            <a:prstDash val="solid"/>
          </a:ln>
        </p:spPr>
      </p:sp>
      <p:sp>
        <p:nvSpPr>
          <p:cNvPr id="5" name="Shape 3"/>
          <p:cNvSpPr/>
          <p:nvPr/>
        </p:nvSpPr>
        <p:spPr>
          <a:xfrm>
            <a:off x="868680" y="1984248"/>
            <a:ext cx="658368" cy="658368"/>
          </a:xfrm>
          <a:prstGeom prst="ellipse">
            <a:avLst/>
          </a:prstGeom>
          <a:solidFill>
            <a:srgbClr val="7EC8F5"/>
          </a:solidFill>
          <a:ln/>
        </p:spPr>
      </p:sp>
      <p:sp>
        <p:nvSpPr>
          <p:cNvPr id="6" name="Text 4"/>
          <p:cNvSpPr/>
          <p:nvPr/>
        </p:nvSpPr>
        <p:spPr>
          <a:xfrm>
            <a:off x="868680" y="1984248"/>
            <a:ext cx="658368" cy="658368"/>
          </a:xfrm>
          <a:prstGeom prst="rect">
            <a:avLst/>
          </a:prstGeom>
          <a:noFill/>
          <a:ln/>
        </p:spPr>
        <p:txBody>
          <a:bodyPr wrap="square" lIns="0" tIns="0" rIns="0" bIns="0" rtlCol="0" anchor="ctr"/>
          <a:lstStyle/>
          <a:p>
            <a:pPr algn="ctr" indent="0" marL="0">
              <a:buNone/>
            </a:pPr>
            <a:r>
              <a:rPr lang="en-US" sz="2200" b="1" dirty="0">
                <a:solidFill>
                  <a:srgbClr val="142638"/>
                </a:solidFill>
                <a:latin typeface="Arial" pitchFamily="34" charset="0"/>
                <a:ea typeface="Arial" pitchFamily="34" charset="-122"/>
                <a:cs typeface="Arial" pitchFamily="34" charset="-120"/>
              </a:rPr>
              <a:t>A</a:t>
            </a:r>
            <a:endParaRPr lang="en-US" sz="2200" dirty="0"/>
          </a:p>
        </p:txBody>
      </p:sp>
      <p:sp>
        <p:nvSpPr>
          <p:cNvPr id="7" name="Text 5"/>
          <p:cNvSpPr/>
          <p:nvPr/>
        </p:nvSpPr>
        <p:spPr>
          <a:xfrm>
            <a:off x="1783080" y="1700784"/>
            <a:ext cx="2743200" cy="274320"/>
          </a:xfrm>
          <a:prstGeom prst="rect">
            <a:avLst/>
          </a:prstGeom>
          <a:noFill/>
          <a:ln/>
        </p:spPr>
        <p:txBody>
          <a:bodyPr wrap="square" lIns="0" tIns="0" rIns="0" bIns="0" rtlCol="0" anchor="ctr"/>
          <a:lstStyle/>
          <a:p>
            <a:pPr indent="0" marL="0">
              <a:buNone/>
            </a:pPr>
            <a:r>
              <a:rPr lang="en-US" sz="1100" b="1" dirty="0">
                <a:solidFill>
                  <a:srgbClr val="7EC8F5"/>
                </a:solidFill>
                <a:latin typeface="Arial" pitchFamily="34" charset="0"/>
                <a:ea typeface="Arial" pitchFamily="34" charset="-122"/>
                <a:cs typeface="Arial" pitchFamily="34" charset="-120"/>
              </a:rPr>
              <a:t>게이트 A</a:t>
            </a:r>
            <a:endParaRPr lang="en-US" sz="1100" dirty="0"/>
          </a:p>
        </p:txBody>
      </p:sp>
      <p:sp>
        <p:nvSpPr>
          <p:cNvPr id="8" name="Text 6"/>
          <p:cNvSpPr/>
          <p:nvPr/>
        </p:nvSpPr>
        <p:spPr>
          <a:xfrm>
            <a:off x="1783080" y="1956816"/>
            <a:ext cx="9144000"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깊이를 조절할 이유가 있는가?</a:t>
            </a:r>
            <a:endParaRPr lang="en-US" sz="1800" dirty="0"/>
          </a:p>
        </p:txBody>
      </p:sp>
      <p:sp>
        <p:nvSpPr>
          <p:cNvPr id="9" name="Text 7"/>
          <p:cNvSpPr/>
          <p:nvPr/>
        </p:nvSpPr>
        <p:spPr>
          <a:xfrm>
            <a:off x="1783080" y="2414016"/>
            <a:ext cx="9144000" cy="292608"/>
          </a:xfrm>
          <a:prstGeom prst="rect">
            <a:avLst/>
          </a:prstGeom>
          <a:noFill/>
          <a:ln/>
        </p:spPr>
        <p:txBody>
          <a:bodyPr wrap="square" lIns="0" tIns="0" rIns="0" bIns="0" rtlCol="0" anchor="ctr"/>
          <a:lstStyle/>
          <a:p>
            <a:pPr indent="0" marL="0">
              <a:buNone/>
            </a:pPr>
            <a:r>
              <a:rPr lang="en-US" sz="1250" dirty="0">
                <a:solidFill>
                  <a:srgbClr val="9FB8CE"/>
                </a:solidFill>
                <a:latin typeface="Arial" pitchFamily="34" charset="0"/>
                <a:ea typeface="Arial" pitchFamily="34" charset="-122"/>
                <a:cs typeface="Arial" pitchFamily="34" charset="-120"/>
              </a:rPr>
              <a:t>방해 이미지를 0층에서 아예 지운 것과 직접 비교한다 (셀 2·3 대상)</a:t>
            </a:r>
            <a:endParaRPr lang="en-US" sz="1250" dirty="0"/>
          </a:p>
        </p:txBody>
      </p:sp>
      <p:sp>
        <p:nvSpPr>
          <p:cNvPr id="10" name="Text 8"/>
          <p:cNvSpPr/>
          <p:nvPr/>
        </p:nvSpPr>
        <p:spPr>
          <a:xfrm>
            <a:off x="1783080" y="2743200"/>
            <a:ext cx="9144000" cy="310896"/>
          </a:xfrm>
          <a:prstGeom prst="rect">
            <a:avLst/>
          </a:prstGeom>
          <a:noFill/>
          <a:ln/>
        </p:spPr>
        <p:txBody>
          <a:bodyPr wrap="square" lIns="0" tIns="0" rIns="0" bIns="0" rtlCol="0" anchor="ctr"/>
          <a:lstStyle/>
          <a:p>
            <a:pPr indent="0" marL="0">
              <a:buNone/>
            </a:pPr>
            <a:r>
              <a:rPr lang="en-US" sz="1200" b="1" dirty="0">
                <a:solidFill>
                  <a:srgbClr val="FF9E80"/>
                </a:solidFill>
                <a:latin typeface="Arial" pitchFamily="34" charset="0"/>
                <a:ea typeface="Arial" pitchFamily="34" charset="-122"/>
                <a:cs typeface="Arial" pitchFamily="34" charset="-120"/>
              </a:rPr>
              <a:t>실패 조건   </a:t>
            </a:r>
            <a:pPr indent="0" marL="0">
              <a:buNone/>
            </a:pPr>
            <a:r>
              <a:rPr lang="en-US" sz="1250" b="1" dirty="0">
                <a:solidFill>
                  <a:srgbClr val="FFC94D"/>
                </a:solidFill>
                <a:latin typeface="Arial" pitchFamily="34" charset="0"/>
                <a:ea typeface="Arial" pitchFamily="34" charset="-122"/>
                <a:cs typeface="Arial" pitchFamily="34" charset="-120"/>
              </a:rPr>
              <a:t>아예 지우는 쪽이 같거나 더 좋으면  →  이 주제는 폐기</a:t>
            </a:r>
            <a:endParaRPr lang="en-US" sz="1200" dirty="0"/>
          </a:p>
        </p:txBody>
      </p:sp>
      <p:sp>
        <p:nvSpPr>
          <p:cNvPr id="11" name="Shape 9"/>
          <p:cNvSpPr/>
          <p:nvPr/>
        </p:nvSpPr>
        <p:spPr>
          <a:xfrm>
            <a:off x="502920" y="3310128"/>
            <a:ext cx="11201400" cy="1664208"/>
          </a:xfrm>
          <a:prstGeom prst="roundRect">
            <a:avLst>
              <a:gd name="adj" fmla="val 4945"/>
            </a:avLst>
          </a:prstGeom>
          <a:solidFill>
            <a:srgbClr val="1A3247"/>
          </a:solidFill>
          <a:ln w="15875">
            <a:solidFill>
              <a:srgbClr val="2E4E6B"/>
            </a:solidFill>
            <a:prstDash val="solid"/>
          </a:ln>
        </p:spPr>
      </p:sp>
      <p:sp>
        <p:nvSpPr>
          <p:cNvPr id="12" name="Shape 10"/>
          <p:cNvSpPr/>
          <p:nvPr/>
        </p:nvSpPr>
        <p:spPr>
          <a:xfrm>
            <a:off x="868680" y="3813048"/>
            <a:ext cx="658368" cy="658368"/>
          </a:xfrm>
          <a:prstGeom prst="ellipse">
            <a:avLst/>
          </a:prstGeom>
          <a:solidFill>
            <a:srgbClr val="7EC8F5"/>
          </a:solidFill>
          <a:ln/>
        </p:spPr>
      </p:sp>
      <p:sp>
        <p:nvSpPr>
          <p:cNvPr id="13" name="Text 11"/>
          <p:cNvSpPr/>
          <p:nvPr/>
        </p:nvSpPr>
        <p:spPr>
          <a:xfrm>
            <a:off x="868680" y="3813048"/>
            <a:ext cx="658368" cy="658368"/>
          </a:xfrm>
          <a:prstGeom prst="rect">
            <a:avLst/>
          </a:prstGeom>
          <a:noFill/>
          <a:ln/>
        </p:spPr>
        <p:txBody>
          <a:bodyPr wrap="square" lIns="0" tIns="0" rIns="0" bIns="0" rtlCol="0" anchor="ctr"/>
          <a:lstStyle/>
          <a:p>
            <a:pPr algn="ctr" indent="0" marL="0">
              <a:buNone/>
            </a:pPr>
            <a:r>
              <a:rPr lang="en-US" sz="2200" b="1" dirty="0">
                <a:solidFill>
                  <a:srgbClr val="142638"/>
                </a:solidFill>
                <a:latin typeface="Arial" pitchFamily="34" charset="0"/>
                <a:ea typeface="Arial" pitchFamily="34" charset="-122"/>
                <a:cs typeface="Arial" pitchFamily="34" charset="-120"/>
              </a:rPr>
              <a:t>B</a:t>
            </a:r>
            <a:endParaRPr lang="en-US" sz="2200" dirty="0"/>
          </a:p>
        </p:txBody>
      </p:sp>
      <p:sp>
        <p:nvSpPr>
          <p:cNvPr id="14" name="Text 12"/>
          <p:cNvSpPr/>
          <p:nvPr/>
        </p:nvSpPr>
        <p:spPr>
          <a:xfrm>
            <a:off x="1783080" y="3529584"/>
            <a:ext cx="2743200" cy="274320"/>
          </a:xfrm>
          <a:prstGeom prst="rect">
            <a:avLst/>
          </a:prstGeom>
          <a:noFill/>
          <a:ln/>
        </p:spPr>
        <p:txBody>
          <a:bodyPr wrap="square" lIns="0" tIns="0" rIns="0" bIns="0" rtlCol="0" anchor="ctr"/>
          <a:lstStyle/>
          <a:p>
            <a:pPr indent="0" marL="0">
              <a:buNone/>
            </a:pPr>
            <a:r>
              <a:rPr lang="en-US" sz="1100" b="1" dirty="0">
                <a:solidFill>
                  <a:srgbClr val="7EC8F5"/>
                </a:solidFill>
                <a:latin typeface="Arial" pitchFamily="34" charset="0"/>
                <a:ea typeface="Arial" pitchFamily="34" charset="-122"/>
                <a:cs typeface="Arial" pitchFamily="34" charset="-120"/>
              </a:rPr>
              <a:t>게이트 B</a:t>
            </a:r>
            <a:endParaRPr lang="en-US" sz="1100" dirty="0"/>
          </a:p>
        </p:txBody>
      </p:sp>
      <p:sp>
        <p:nvSpPr>
          <p:cNvPr id="15" name="Text 13"/>
          <p:cNvSpPr/>
          <p:nvPr/>
        </p:nvSpPr>
        <p:spPr>
          <a:xfrm>
            <a:off x="1783080" y="3785616"/>
            <a:ext cx="9144000"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어느 이미지가 방해인지 자동으로 알 수 있는가?</a:t>
            </a:r>
            <a:endParaRPr lang="en-US" sz="1800" dirty="0"/>
          </a:p>
        </p:txBody>
      </p:sp>
      <p:sp>
        <p:nvSpPr>
          <p:cNvPr id="16" name="Text 14"/>
          <p:cNvSpPr/>
          <p:nvPr/>
        </p:nvSpPr>
        <p:spPr>
          <a:xfrm>
            <a:off x="1783080" y="4242816"/>
            <a:ext cx="9144000" cy="292608"/>
          </a:xfrm>
          <a:prstGeom prst="rect">
            <a:avLst/>
          </a:prstGeom>
          <a:noFill/>
          <a:ln/>
        </p:spPr>
        <p:txBody>
          <a:bodyPr wrap="square" lIns="0" tIns="0" rIns="0" bIns="0" rtlCol="0" anchor="ctr"/>
          <a:lstStyle/>
          <a:p>
            <a:pPr indent="0" marL="0">
              <a:buNone/>
            </a:pPr>
            <a:r>
              <a:rPr lang="en-US" sz="1250" dirty="0">
                <a:solidFill>
                  <a:srgbClr val="9FB8CE"/>
                </a:solidFill>
                <a:latin typeface="Arial" pitchFamily="34" charset="0"/>
                <a:ea typeface="Arial" pitchFamily="34" charset="-122"/>
                <a:cs typeface="Arial" pitchFamily="34" charset="-120"/>
              </a:rPr>
              <a:t>attention 대신 vision feature · hidden state로 16층 이전에서 판정</a:t>
            </a:r>
            <a:endParaRPr lang="en-US" sz="1250" dirty="0"/>
          </a:p>
        </p:txBody>
      </p:sp>
      <p:sp>
        <p:nvSpPr>
          <p:cNvPr id="17" name="Text 15"/>
          <p:cNvSpPr/>
          <p:nvPr/>
        </p:nvSpPr>
        <p:spPr>
          <a:xfrm>
            <a:off x="1783080" y="4572000"/>
            <a:ext cx="9144000" cy="310896"/>
          </a:xfrm>
          <a:prstGeom prst="rect">
            <a:avLst/>
          </a:prstGeom>
          <a:noFill/>
          <a:ln/>
        </p:spPr>
        <p:txBody>
          <a:bodyPr wrap="square" lIns="0" tIns="0" rIns="0" bIns="0" rtlCol="0" anchor="ctr"/>
          <a:lstStyle/>
          <a:p>
            <a:pPr indent="0" marL="0">
              <a:buNone/>
            </a:pPr>
            <a:r>
              <a:rPr lang="en-US" sz="1200" b="1" dirty="0">
                <a:solidFill>
                  <a:srgbClr val="FF9E80"/>
                </a:solidFill>
                <a:latin typeface="Arial" pitchFamily="34" charset="0"/>
                <a:ea typeface="Arial" pitchFamily="34" charset="-122"/>
                <a:cs typeface="Arial" pitchFamily="34" charset="-120"/>
              </a:rPr>
              <a:t>실패 조건   </a:t>
            </a:r>
            <a:pPr indent="0" marL="0">
              <a:buNone/>
            </a:pPr>
            <a:r>
              <a:rPr lang="en-US" sz="1250" b="1" dirty="0">
                <a:solidFill>
                  <a:srgbClr val="FFC94D"/>
                </a:solidFill>
                <a:latin typeface="Arial" pitchFamily="34" charset="0"/>
                <a:ea typeface="Arial" pitchFamily="34" charset="-122"/>
                <a:cs typeface="Arial" pitchFamily="34" charset="-120"/>
              </a:rPr>
              <a:t>이미지 순서를 뒤집었을 때 유지되지 않으면  →  이 주제는 폐기</a:t>
            </a:r>
            <a:endParaRPr lang="en-US" sz="1200" dirty="0"/>
          </a:p>
        </p:txBody>
      </p:sp>
      <p:sp>
        <p:nvSpPr>
          <p:cNvPr id="18" name="Text 16"/>
          <p:cNvSpPr/>
          <p:nvPr/>
        </p:nvSpPr>
        <p:spPr>
          <a:xfrm>
            <a:off x="502920" y="5230368"/>
            <a:ext cx="11201400" cy="310896"/>
          </a:xfrm>
          <a:prstGeom prst="rect">
            <a:avLst/>
          </a:prstGeom>
          <a:noFill/>
          <a:ln/>
        </p:spPr>
        <p:txBody>
          <a:bodyPr wrap="square" lIns="0" tIns="0" rIns="0" bIns="0" rtlCol="0" anchor="ctr"/>
          <a:lstStyle/>
          <a:p>
            <a:pPr indent="0" marL="0">
              <a:buNone/>
            </a:pPr>
            <a:r>
              <a:rPr lang="en-US" sz="1200" dirty="0">
                <a:solidFill>
                  <a:srgbClr val="8AA5BC"/>
                </a:solidFill>
                <a:latin typeface="Arial" pitchFamily="34" charset="0"/>
                <a:ea typeface="Arial" pitchFamily="34" charset="-122"/>
                <a:cs typeface="Arial" pitchFamily="34" charset="-120"/>
              </a:rPr>
              <a:t>그 외 보조 3건 — 질문 유형 게이트 · random 배분 대조군 · 선행연구가 남긴 열린 질문 검증</a:t>
            </a:r>
            <a:endParaRPr lang="en-US" sz="1200" dirty="0"/>
          </a:p>
        </p:txBody>
      </p:sp>
      <p:sp>
        <p:nvSpPr>
          <p:cNvPr id="19" name="Shape 17"/>
          <p:cNvSpPr/>
          <p:nvPr/>
        </p:nvSpPr>
        <p:spPr>
          <a:xfrm>
            <a:off x="502920" y="5687568"/>
            <a:ext cx="11201400" cy="868680"/>
          </a:xfrm>
          <a:prstGeom prst="roundRect">
            <a:avLst>
              <a:gd name="adj" fmla="val 8421"/>
            </a:avLst>
          </a:prstGeom>
          <a:solidFill>
            <a:srgbClr val="1D3850"/>
          </a:solidFill>
          <a:ln w="12700">
            <a:solidFill>
              <a:srgbClr val="2E4E6B"/>
            </a:solidFill>
            <a:prstDash val="solid"/>
          </a:ln>
        </p:spPr>
      </p:sp>
      <p:sp>
        <p:nvSpPr>
          <p:cNvPr id="20" name="Text 18"/>
          <p:cNvSpPr/>
          <p:nvPr/>
        </p:nvSpPr>
        <p:spPr>
          <a:xfrm>
            <a:off x="777240" y="5779008"/>
            <a:ext cx="10698480" cy="731520"/>
          </a:xfrm>
          <a:prstGeom prst="rect">
            <a:avLst/>
          </a:prstGeom>
          <a:noFill/>
          <a:ln/>
        </p:spPr>
        <p:txBody>
          <a:bodyPr wrap="square" lIns="0" tIns="0" rIns="0" bIns="0" rtlCol="0" anchor="ctr"/>
          <a:lstStyle/>
          <a:p>
            <a:pPr indent="0" marL="0">
              <a:spcAft>
                <a:spcPts val="400"/>
              </a:spcAft>
              <a:buNone/>
            </a:pPr>
            <a:r>
              <a:rPr lang="en-US" sz="1250" b="1" dirty="0">
                <a:solidFill>
                  <a:srgbClr val="FFC94D"/>
                </a:solidFill>
                <a:latin typeface="Arial" pitchFamily="34" charset="0"/>
                <a:ea typeface="Arial" pitchFamily="34" charset="-122"/>
                <a:cs typeface="Arial" pitchFamily="34" charset="-120"/>
              </a:rPr>
              <a:t>중단 규칙을 먼저 정해두겠습니다 — A와 B가 모두 실패하면 이 주제는 접고 다른 방향으로 넘어가겠습니다.</a:t>
            </a:r>
            <a:endParaRPr lang="en-US" sz="1250" dirty="0"/>
          </a:p>
          <a:p>
            <a:pPr indent="0" marL="0">
              <a:spcAft>
                <a:spcPts val="400"/>
              </a:spcAft>
              <a:buNone/>
            </a:pPr>
            <a:r>
              <a:rPr lang="en-US" sz="1100" dirty="0">
                <a:solidFill>
                  <a:srgbClr val="9FB8CE"/>
                </a:solidFill>
                <a:latin typeface="Arial" pitchFamily="34" charset="0"/>
                <a:ea typeface="Arial" pitchFamily="34" charset="-122"/>
                <a:cs typeface="Arial" pitchFamily="34" charset="-120"/>
              </a:rPr>
              <a:t>GPU 1장 · 기존 코드·데이터 전부 재사용 · 새로 만들 인프라 없음</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1F77B4"/>
                </a:solidFill>
                <a:latin typeface="Arial" pitchFamily="34" charset="0"/>
                <a:ea typeface="Arial" pitchFamily="34" charset="-122"/>
                <a:cs typeface="Arial" pitchFamily="34" charset="-120"/>
              </a:rPr>
              <a:t>APPENDIX</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1F3B57"/>
                </a:solidFill>
                <a:latin typeface="Arial" pitchFamily="34" charset="0"/>
                <a:ea typeface="Arial" pitchFamily="34" charset="-122"/>
                <a:cs typeface="Arial" pitchFamily="34" charset="-120"/>
              </a:rPr>
              <a:t>질문 유형에 따라 최적 깊이가 정반대 — 두 스케일 모두</a:t>
            </a:r>
            <a:endParaRPr lang="en-US" sz="2300" dirty="0"/>
          </a:p>
        </p:txBody>
      </p:sp>
      <p:pic>
        <p:nvPicPr>
          <p:cNvPr id="4" name="Image 0" descr="/Users/hansangmin/Source-Depth/results/fig6_xcross_both_scales.png">    </p:cNvPr>
          <p:cNvPicPr>
            <a:picLocks noChangeAspect="1"/>
          </p:cNvPicPr>
          <p:nvPr/>
        </p:nvPicPr>
        <p:blipFill>
          <a:blip r:embed="rId1"/>
          <a:stretch>
            <a:fillRect/>
          </a:stretch>
        </p:blipFill>
        <p:spPr>
          <a:xfrm>
            <a:off x="548640" y="1463040"/>
            <a:ext cx="11064240" cy="3794760"/>
          </a:xfrm>
          <a:prstGeom prst="rect">
            <a:avLst/>
          </a:prstGeom>
        </p:spPr>
      </p:pic>
      <p:sp>
        <p:nvSpPr>
          <p:cNvPr id="5" name="Text 2"/>
          <p:cNvSpPr/>
          <p:nvPr/>
        </p:nvSpPr>
        <p:spPr>
          <a:xfrm>
            <a:off x="502920" y="5852160"/>
            <a:ext cx="11155680" cy="5486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R1: '두 이미지 모두에 X가 있나?' 정답 '아니오' — 2번 이미지를 반드시 확인해야 함. 3B 0.760→0.250(−51%p), 7B 0.950→0.540(−41%p)</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1F77B4"/>
                </a:solidFill>
                <a:latin typeface="Arial" pitchFamily="34" charset="0"/>
                <a:ea typeface="Arial" pitchFamily="34" charset="-122"/>
                <a:cs typeface="Arial" pitchFamily="34" charset="-120"/>
              </a:rPr>
              <a:t>APPENDIX</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1F3B57"/>
                </a:solidFill>
                <a:latin typeface="Arial" pitchFamily="34" charset="0"/>
                <a:ea typeface="Arial" pitchFamily="34" charset="-122"/>
                <a:cs typeface="Arial" pitchFamily="34" charset="-120"/>
              </a:rPr>
              <a:t>계산량은 똑같이 두고 배분만 바꿨을 때 (어느 쪽이 방해인지 아는 조건)</a:t>
            </a:r>
            <a:endParaRPr lang="en-US" sz="2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1783080"/>
          <a:ext cx="9784080" cy="1645920"/>
        </p:xfrm>
        <a:graphic>
          <a:graphicData uri="http://schemas.openxmlformats.org/drawingml/2006/table">
            <a:tbl>
              <a:tblPr/>
              <a:tblGrid>
                <a:gridCol w="1956816"/>
                <a:gridCol w="1956816"/>
                <a:gridCol w="1956816"/>
                <a:gridCol w="1956816"/>
                <a:gridCol w="1956816"/>
              </a:tblGrid>
              <a:tr h="548640">
                <a:tc>
                  <a:txBody>
                    <a:bodyPr/>
                    <a:lstStyle/>
                    <a:p>
                      <a:pPr algn="ctr" indent="0" marL="0">
                        <a:buNone/>
                      </a:pP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방해 이미지</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정답 이미지</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총 계산량</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정확도</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548640">
                <a:tc>
                  <a:txBody>
                    <a:bodyPr/>
                    <a:lstStyle/>
                    <a:p>
                      <a:pPr algn="ctr" indent="0" marL="0">
                        <a:buNone/>
                      </a:pPr>
                      <a:r>
                        <a:rPr lang="en-US" sz="1200" b="1" dirty="0">
                          <a:solidFill>
                            <a:srgbClr val="1F3B57"/>
                          </a:solidFill>
                          <a:latin typeface="Arial" pitchFamily="34" charset="0"/>
                          <a:ea typeface="Arial" pitchFamily="34" charset="-122"/>
                          <a:cs typeface="Arial" pitchFamily="34" charset="-120"/>
                        </a:rPr>
                        <a:t>일괄 (기존 방식)</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3B57"/>
                          </a:solidFill>
                          <a:latin typeface="Arial" pitchFamily="34" charset="0"/>
                          <a:ea typeface="Arial" pitchFamily="34" charset="-122"/>
                          <a:cs typeface="Arial" pitchFamily="34" charset="-120"/>
                        </a:rPr>
                        <a:t>16층까지</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3B57"/>
                          </a:solidFill>
                          <a:latin typeface="Arial" pitchFamily="34" charset="0"/>
                          <a:ea typeface="Arial" pitchFamily="34" charset="-122"/>
                          <a:cs typeface="Arial" pitchFamily="34" charset="-120"/>
                        </a:rPr>
                        <a:t>16층까지</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3B57"/>
                          </a:solidFill>
                          <a:latin typeface="Arial" pitchFamily="34" charset="0"/>
                          <a:ea typeface="Arial" pitchFamily="34" charset="-122"/>
                          <a:cs typeface="Arial" pitchFamily="34" charset="-120"/>
                        </a:rPr>
                        <a:t>16 + 16 = 32</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D62728"/>
                          </a:solidFill>
                          <a:latin typeface="Arial" pitchFamily="34" charset="0"/>
                          <a:ea typeface="Arial" pitchFamily="34" charset="-122"/>
                          <a:cs typeface="Arial" pitchFamily="34" charset="-120"/>
                        </a:rPr>
                        <a:t>0.550</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48640">
                <a:tc>
                  <a:txBody>
                    <a:bodyPr/>
                    <a:lstStyle/>
                    <a:p>
                      <a:pPr algn="ctr" indent="0" marL="0">
                        <a:buNone/>
                      </a:pPr>
                      <a:r>
                        <a:rPr lang="en-US" sz="1200" b="1" dirty="0">
                          <a:solidFill>
                            <a:srgbClr val="1F3B57"/>
                          </a:solidFill>
                          <a:latin typeface="Arial" pitchFamily="34" charset="0"/>
                          <a:ea typeface="Arial" pitchFamily="34" charset="-122"/>
                          <a:cs typeface="Arial" pitchFamily="34" charset="-120"/>
                        </a:rPr>
                        <a:t>차등 (우리)</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77B4"/>
                          </a:solidFill>
                          <a:latin typeface="Arial" pitchFamily="34" charset="0"/>
                          <a:ea typeface="Arial" pitchFamily="34" charset="-122"/>
                          <a:cs typeface="Arial" pitchFamily="34" charset="-120"/>
                        </a:rPr>
                        <a:t>4층까지만</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F77B4"/>
                          </a:solidFill>
                          <a:latin typeface="Arial" pitchFamily="34" charset="0"/>
                          <a:ea typeface="Arial" pitchFamily="34" charset="-122"/>
                          <a:cs typeface="Arial" pitchFamily="34" charset="-120"/>
                        </a:rPr>
                        <a:t>28층까지</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3B57"/>
                          </a:solidFill>
                          <a:latin typeface="Arial" pitchFamily="34" charset="0"/>
                          <a:ea typeface="Arial" pitchFamily="34" charset="-122"/>
                          <a:cs typeface="Arial" pitchFamily="34" charset="-120"/>
                        </a:rPr>
                        <a:t>4 + 28 = 32</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8B57"/>
                          </a:solidFill>
                          <a:latin typeface="Arial" pitchFamily="34" charset="0"/>
                          <a:ea typeface="Arial" pitchFamily="34" charset="-122"/>
                          <a:cs typeface="Arial" pitchFamily="34" charset="-120"/>
                        </a:rPr>
                        <a:t>0.837</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2"/>
          <p:cNvSpPr/>
          <p:nvPr/>
        </p:nvSpPr>
        <p:spPr>
          <a:xfrm>
            <a:off x="822960" y="3749040"/>
            <a:ext cx="10607040" cy="2377440"/>
          </a:xfrm>
          <a:prstGeom prst="rect">
            <a:avLst/>
          </a:prstGeom>
          <a:noFill/>
          <a:ln/>
        </p:spPr>
        <p:txBody>
          <a:bodyPr wrap="square" lIns="0" tIns="0" rIns="0" bIns="0" rtlCol="0" anchor="ctr"/>
          <a:lstStyle/>
          <a:p>
            <a:pPr marL="342900" indent="-342900">
              <a:spcAft>
                <a:spcPts val="900"/>
              </a:spcAft>
              <a:buSzPct val="100000"/>
              <a:buChar char="•"/>
            </a:pPr>
            <a:r>
              <a:rPr lang="en-US" sz="1200" dirty="0">
                <a:solidFill>
                  <a:srgbClr val="1F3B57"/>
                </a:solidFill>
                <a:latin typeface="Arial" pitchFamily="34" charset="0"/>
                <a:ea typeface="Arial" pitchFamily="34" charset="-122"/>
                <a:cs typeface="Arial" pitchFamily="34" charset="-120"/>
              </a:rPr>
              <a:t>총 계산량이 정확히 같은데 정확도는 28.7%p 차이난다 — 예산을 똑같이 나누는 것보다 필요한 쪽에 몰아주는 편이 낫다</a:t>
            </a:r>
            <a:endParaRPr lang="en-US" sz="1200" dirty="0"/>
          </a:p>
          <a:p>
            <a:pPr marL="342900" indent="-342900">
              <a:spcAft>
                <a:spcPts val="900"/>
              </a:spcAft>
              <a:buSzPct val="100000"/>
              <a:buChar char="•"/>
            </a:pPr>
            <a:r>
              <a:rPr lang="en-US" sz="1200" dirty="0">
                <a:solidFill>
                  <a:srgbClr val="1F3B57"/>
                </a:solidFill>
                <a:latin typeface="Arial" pitchFamily="34" charset="0"/>
                <a:ea typeface="Arial" pitchFamily="34" charset="-122"/>
                <a:cs typeface="Arial" pitchFamily="34" charset="-120"/>
              </a:rPr>
              <a:t>이유는 단순하다: 일괄 방식은 정답 이미지까지 16층에서 잘라버려 정작 필요한 정보를 함께 날린다</a:t>
            </a:r>
            <a:endParaRPr lang="en-US" sz="1200" dirty="0"/>
          </a:p>
          <a:p>
            <a:pPr marL="342900" indent="-342900">
              <a:spcAft>
                <a:spcPts val="900"/>
              </a:spcAft>
              <a:buSzPct val="100000"/>
              <a:buChar char="•"/>
            </a:pPr>
            <a:r>
              <a:rPr lang="en-US" sz="1200" dirty="0">
                <a:solidFill>
                  <a:srgbClr val="1F3B57"/>
                </a:solidFill>
                <a:latin typeface="Arial" pitchFamily="34" charset="0"/>
                <a:ea typeface="Arial" pitchFamily="34" charset="-122"/>
                <a:cs typeface="Arial" pitchFamily="34" charset="-120"/>
              </a:rPr>
              <a:t>이미지 순서를 뒤집어 재측정해도 이득의 80%가 유지됐다 (원순서 +34.2%p → 뒤집기 +27.3%p, 양방향 평균 +30.7%p)</a:t>
            </a:r>
            <a:endParaRPr lang="en-US" sz="1200" dirty="0"/>
          </a:p>
          <a:p>
            <a:pPr marL="342900" indent="-342900">
              <a:spcAft>
                <a:spcPts val="900"/>
              </a:spcAft>
              <a:buSzPct val="100000"/>
              <a:buChar char="•"/>
            </a:pPr>
            <a:r>
              <a:rPr lang="en-US" sz="1200" dirty="0">
                <a:solidFill>
                  <a:srgbClr val="1F3B57"/>
                </a:solidFill>
                <a:latin typeface="Arial" pitchFamily="34" charset="0"/>
                <a:ea typeface="Arial" pitchFamily="34" charset="-122"/>
                <a:cs typeface="Arial" pitchFamily="34" charset="-120"/>
              </a:rPr>
              <a:t>7B에서도 같은 방향 — 38.9% 절감 구간에서 0.802 vs 0.715 (+8.7%p). 무개입 기준선은 0.790</a:t>
            </a:r>
            <a:endParaRPr lang="en-US" sz="1200" dirty="0"/>
          </a:p>
          <a:p>
            <a:pPr marL="342900" indent="-342900">
              <a:spcAft>
                <a:spcPts val="900"/>
              </a:spcAft>
              <a:buSzPct val="100000"/>
              <a:buChar char="•"/>
            </a:pPr>
            <a:r>
              <a:rPr lang="en-US" sz="1200" b="1" dirty="0">
                <a:solidFill>
                  <a:srgbClr val="D62728"/>
                </a:solidFill>
                <a:latin typeface="Arial" pitchFamily="34" charset="0"/>
                <a:ea typeface="Arial" pitchFamily="34" charset="-122"/>
                <a:cs typeface="Arial" pitchFamily="34" charset="-120"/>
              </a:rPr>
              <a:t>한계: 비교 대상인 일괄 차단(0.550)이 무개입(0.790)보다도 낮은 약한 baseline이다. random 배분 대조군으로 보강해야 한다 (게이트 4)</a:t>
            </a:r>
            <a:endParaRPr lang="en-US" sz="1200" dirty="0"/>
          </a:p>
        </p:txBody>
      </p:sp>
      <p:sp>
        <p:nvSpPr>
          <p:cNvPr id="6" name="Text 3"/>
          <p:cNvSpPr/>
          <p:nvPr/>
        </p:nvSpPr>
        <p:spPr>
          <a:xfrm>
            <a:off x="822960" y="6263640"/>
            <a:ext cx="10607040" cy="365760"/>
          </a:xfrm>
          <a:prstGeom prst="rect">
            <a:avLst/>
          </a:prstGeom>
          <a:noFill/>
          <a:ln/>
        </p:spPr>
        <p:txBody>
          <a:bodyPr wrap="square" lIns="0" tIns="0" rIns="0" bIns="0" rtlCol="0" anchor="ctr"/>
          <a:lstStyle/>
          <a:p>
            <a:pPr indent="0" marL="0">
              <a:buNone/>
            </a:pPr>
            <a:r>
              <a:rPr lang="en-US" sz="1050" i="1" dirty="0">
                <a:solidFill>
                  <a:srgbClr val="6B7280"/>
                </a:solidFill>
                <a:latin typeface="Arial" pitchFamily="34" charset="0"/>
                <a:ea typeface="Arial" pitchFamily="34" charset="-122"/>
                <a:cs typeface="Arial" pitchFamily="34" charset="-120"/>
              </a:rPr>
              <a:t>※ 어느 쪽이 방해인지 미리 알려준 조건(oracle)에서의 상한값이다 — 이것을 자동 판정하는 부분이 무너진 지점(본편 4번 슬라이드)</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1F77B4"/>
                </a:solidFill>
                <a:latin typeface="Arial" pitchFamily="34" charset="0"/>
                <a:ea typeface="Arial" pitchFamily="34" charset="-122"/>
                <a:cs typeface="Arial" pitchFamily="34" charset="-120"/>
              </a:rPr>
              <a:t>APPENDIX</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1F3B57"/>
                </a:solidFill>
                <a:latin typeface="Arial" pitchFamily="34" charset="0"/>
                <a:ea typeface="Arial" pitchFamily="34" charset="-122"/>
                <a:cs typeface="Arial" pitchFamily="34" charset="-120"/>
              </a:rPr>
              <a:t>"적응적"이라는 표현은 못 쓴다 — 문항마다 깊이를 바꿀 필요가 없었다</a:t>
            </a:r>
            <a:endParaRPr lang="en-US" sz="2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463040" y="1691640"/>
          <a:ext cx="9235440" cy="1554480"/>
        </p:xfrm>
        <a:graphic>
          <a:graphicData uri="http://schemas.openxmlformats.org/drawingml/2006/table">
            <a:tbl>
              <a:tblPr/>
              <a:tblGrid>
                <a:gridCol w="2308860"/>
                <a:gridCol w="2308860"/>
                <a:gridCol w="2308860"/>
                <a:gridCol w="2308860"/>
              </a:tblGrid>
              <a:tr h="50292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문항군</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모든 문항에 같은 층 하나</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문항마다 최적 층을 안다면</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차이</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502920">
                <a:tc>
                  <a:txBody>
                    <a:bodyPr/>
                    <a:lstStyle/>
                    <a:p>
                      <a:pPr algn="ctr" indent="0" marL="0">
                        <a:buNone/>
                      </a:pPr>
                      <a:r>
                        <a:rPr lang="en-US" sz="1150" b="1" dirty="0">
                          <a:solidFill>
                            <a:srgbClr val="1F3B57"/>
                          </a:solidFill>
                          <a:latin typeface="Arial" pitchFamily="34" charset="0"/>
                          <a:ea typeface="Arial" pitchFamily="34" charset="-122"/>
                          <a:cs typeface="Arial" pitchFamily="34" charset="-120"/>
                        </a:rPr>
                        <a:t>셀 1 (n=150)</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3B57"/>
                          </a:solidFill>
                          <a:latin typeface="Arial" pitchFamily="34" charset="0"/>
                          <a:ea typeface="Arial" pitchFamily="34" charset="-122"/>
                          <a:cs typeface="Arial" pitchFamily="34" charset="-120"/>
                        </a:rPr>
                        <a:t>0.933</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3B57"/>
                          </a:solidFill>
                          <a:latin typeface="Arial" pitchFamily="34" charset="0"/>
                          <a:ea typeface="Arial" pitchFamily="34" charset="-122"/>
                          <a:cs typeface="Arial" pitchFamily="34" charset="-120"/>
                        </a:rPr>
                        <a:t>0.960</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D62728"/>
                          </a:solidFill>
                          <a:latin typeface="Arial" pitchFamily="34" charset="0"/>
                          <a:ea typeface="Arial" pitchFamily="34" charset="-122"/>
                          <a:cs typeface="Arial" pitchFamily="34" charset="-120"/>
                        </a:rPr>
                        <a:t>+2.7%p</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502920">
                <a:tc>
                  <a:txBody>
                    <a:bodyPr/>
                    <a:lstStyle/>
                    <a:p>
                      <a:pPr algn="ctr" indent="0" marL="0">
                        <a:buNone/>
                      </a:pPr>
                      <a:r>
                        <a:rPr lang="en-US" sz="1150" b="1" dirty="0">
                          <a:solidFill>
                            <a:srgbClr val="1F3B57"/>
                          </a:solidFill>
                          <a:latin typeface="Arial" pitchFamily="34" charset="0"/>
                          <a:ea typeface="Arial" pitchFamily="34" charset="-122"/>
                          <a:cs typeface="Arial" pitchFamily="34" charset="-120"/>
                        </a:rPr>
                        <a:t>셀 2 (n=150)</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3B57"/>
                          </a:solidFill>
                          <a:latin typeface="Arial" pitchFamily="34" charset="0"/>
                          <a:ea typeface="Arial" pitchFamily="34" charset="-122"/>
                          <a:cs typeface="Arial" pitchFamily="34" charset="-120"/>
                        </a:rPr>
                        <a:t>0.720</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F3B57"/>
                          </a:solidFill>
                          <a:latin typeface="Arial" pitchFamily="34" charset="0"/>
                          <a:ea typeface="Arial" pitchFamily="34" charset="-122"/>
                          <a:cs typeface="Arial" pitchFamily="34" charset="-120"/>
                        </a:rPr>
                        <a:t>0.747</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D62728"/>
                          </a:solidFill>
                          <a:latin typeface="Arial" pitchFamily="34" charset="0"/>
                          <a:ea typeface="Arial" pitchFamily="34" charset="-122"/>
                          <a:cs typeface="Arial" pitchFamily="34" charset="-120"/>
                        </a:rPr>
                        <a:t>+2.7%p</a:t>
                      </a:r>
                      <a:endParaRPr lang="en-US" sz="11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5" name="Text 2"/>
          <p:cNvSpPr/>
          <p:nvPr/>
        </p:nvSpPr>
        <p:spPr>
          <a:xfrm>
            <a:off x="914400" y="3566160"/>
            <a:ext cx="10424160" cy="210312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F3B57"/>
                </a:solidFill>
                <a:latin typeface="Arial" pitchFamily="34" charset="0"/>
                <a:ea typeface="Arial" pitchFamily="34" charset="-122"/>
                <a:cs typeface="Arial" pitchFamily="34" charset="-120"/>
              </a:rPr>
              <a:t>문항의 66%는 어느 층에서 끊어도 정답이라, 문항별로 최적화할 여지 자체가 거의 없다</a:t>
            </a:r>
            <a:endParaRPr lang="en-US" sz="1250" dirty="0"/>
          </a:p>
          <a:p>
            <a:pPr marL="342900" indent="-342900">
              <a:spcAft>
                <a:spcPts val="900"/>
              </a:spcAft>
              <a:buSzPct val="100000"/>
              <a:buChar char="•"/>
            </a:pPr>
            <a:r>
              <a:rPr lang="en-US" sz="1250" dirty="0">
                <a:solidFill>
                  <a:srgbClr val="1F3B57"/>
                </a:solidFill>
                <a:latin typeface="Arial" pitchFamily="34" charset="0"/>
                <a:ea typeface="Arial" pitchFamily="34" charset="-122"/>
                <a:cs typeface="Arial" pitchFamily="34" charset="-120"/>
              </a:rPr>
              <a:t>즉 필요한 것은 '문항마다 조절하는 컨트롤러'가 아니라 '고정 스케줄 하나 + 어느 이미지가 방해인지'뿐이다</a:t>
            </a:r>
            <a:endParaRPr lang="en-US" sz="1250" dirty="0"/>
          </a:p>
          <a:p>
            <a:pPr marL="342900" indent="-342900">
              <a:spcAft>
                <a:spcPts val="900"/>
              </a:spcAft>
              <a:buSzPct val="100000"/>
              <a:buChar char="•"/>
            </a:pPr>
            <a:r>
              <a:rPr lang="en-US" sz="1250" dirty="0">
                <a:solidFill>
                  <a:srgbClr val="1F3B57"/>
                </a:solidFill>
                <a:latin typeface="Arial" pitchFamily="34" charset="0"/>
                <a:ea typeface="Arial" pitchFamily="34" charset="-122"/>
                <a:cs typeface="Arial" pitchFamily="34" charset="-120"/>
              </a:rPr>
              <a:t>선행연구도 같은 방향 — γ-MoD(ICLR'25)는 깊이 여유도를 오프라인 50샘플로 한 번 정하고 고정한다</a:t>
            </a:r>
            <a:endParaRPr lang="en-US" sz="1250" dirty="0"/>
          </a:p>
          <a:p>
            <a:pPr marL="342900" indent="-342900">
              <a:spcAft>
                <a:spcPts val="900"/>
              </a:spcAft>
              <a:buSzPct val="100000"/>
              <a:buChar char="•"/>
            </a:pPr>
            <a:r>
              <a:rPr lang="en-US" sz="1250" b="1" dirty="0">
                <a:solidFill>
                  <a:srgbClr val="1F3B57"/>
                </a:solidFill>
                <a:latin typeface="Arial" pitchFamily="34" charset="0"/>
                <a:ea typeface="Arial" pitchFamily="34" charset="-122"/>
                <a:cs typeface="Arial" pitchFamily="34" charset="-120"/>
              </a:rPr>
              <a:t>→ 나쁜 소식: 연구 이름의 "적응적"을 못 쓴다.  좋은 소식: 방법이 훨씬 단순해진다</a:t>
            </a:r>
            <a:endParaRPr lang="en-US" sz="1250" dirty="0"/>
          </a:p>
        </p:txBody>
      </p:sp>
      <p:sp>
        <p:nvSpPr>
          <p:cNvPr id="6" name="Text 3"/>
          <p:cNvSpPr/>
          <p:nvPr/>
        </p:nvSpPr>
        <p:spPr>
          <a:xfrm>
            <a:off x="914400" y="5760720"/>
            <a:ext cx="10424160" cy="365760"/>
          </a:xfrm>
          <a:prstGeom prst="rect">
            <a:avLst/>
          </a:prstGeom>
          <a:noFill/>
          <a:ln/>
        </p:spPr>
        <p:txBody>
          <a:bodyPr wrap="square" lIns="0" tIns="0" rIns="0" bIns="0" rtlCol="0" anchor="ctr"/>
          <a:lstStyle/>
          <a:p>
            <a:pPr indent="0" marL="0">
              <a:buNone/>
            </a:pPr>
            <a:r>
              <a:rPr lang="en-US" sz="1100" i="1" dirty="0">
                <a:solidFill>
                  <a:srgbClr val="6B7280"/>
                </a:solidFill>
                <a:latin typeface="Arial" pitchFamily="34" charset="0"/>
                <a:ea typeface="Arial" pitchFamily="34" charset="-122"/>
                <a:cs typeface="Arial" pitchFamily="34" charset="-120"/>
              </a:rPr>
              <a:t>※ '이미지 간' 차등(방해는 얕게, 관련은 깊게)은 이것과 별개이며 유효하다 — 본편 참조</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1F77B4"/>
                </a:solidFill>
                <a:latin typeface="Arial" pitchFamily="34" charset="0"/>
                <a:ea typeface="Arial" pitchFamily="34" charset="-122"/>
                <a:cs typeface="Arial" pitchFamily="34" charset="-120"/>
              </a:rPr>
              <a:t>APPENDIX</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1F3B57"/>
                </a:solidFill>
                <a:latin typeface="Arial" pitchFamily="34" charset="0"/>
                <a:ea typeface="Arial" pitchFamily="34" charset="-122"/>
                <a:cs typeface="Arial" pitchFamily="34" charset="-120"/>
              </a:rPr>
              <a:t>컨트롤러 신호를 층·head별로 전수 탐색한 결과</a:t>
            </a:r>
            <a:endParaRPr lang="en-US" sz="2300" dirty="0"/>
          </a:p>
        </p:txBody>
      </p:sp>
      <p:pic>
        <p:nvPicPr>
          <p:cNvPr id="4" name="Image 0" descr="/Users/hansangmin/Source-Depth/results/fig4_controller_feature_sweep.png">    </p:cNvPr>
          <p:cNvPicPr>
            <a:picLocks noChangeAspect="1"/>
          </p:cNvPicPr>
          <p:nvPr/>
        </p:nvPicPr>
        <p:blipFill>
          <a:blip r:embed="rId1"/>
          <a:stretch>
            <a:fillRect/>
          </a:stretch>
        </p:blipFill>
        <p:spPr>
          <a:xfrm>
            <a:off x="731520" y="1554480"/>
            <a:ext cx="10698480" cy="3931920"/>
          </a:xfrm>
          <a:prstGeom prst="rect">
            <a:avLst/>
          </a:prstGeom>
        </p:spPr>
      </p:pic>
      <p:sp>
        <p:nvSpPr>
          <p:cNvPr id="5" name="Text 2"/>
          <p:cNvSpPr/>
          <p:nvPr/>
        </p:nvSpPr>
        <p:spPr>
          <a:xfrm>
            <a:off x="502920" y="5852160"/>
            <a:ext cx="11155680" cy="5486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순서를 뒤집어도 맞는 head: 얕은 층 0.31~0.51(무작위), layer 22에서 0.882가 최고. 개입이 유효한 구간은 16층 이전</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56032"/>
            <a:ext cx="9601200" cy="292608"/>
          </a:xfrm>
          <a:prstGeom prst="rect">
            <a:avLst/>
          </a:prstGeom>
          <a:noFill/>
          <a:ln/>
        </p:spPr>
        <p:txBody>
          <a:bodyPr wrap="square" lIns="0" tIns="0" rIns="0" bIns="0" rtlCol="0" anchor="ctr"/>
          <a:lstStyle/>
          <a:p>
            <a:pPr indent="0" marL="0">
              <a:buNone/>
            </a:pPr>
            <a:r>
              <a:rPr lang="en-US" sz="1150" b="1" dirty="0">
                <a:solidFill>
                  <a:srgbClr val="1F77B4"/>
                </a:solidFill>
                <a:latin typeface="Arial" pitchFamily="34" charset="0"/>
                <a:ea typeface="Arial" pitchFamily="34" charset="-122"/>
                <a:cs typeface="Arial" pitchFamily="34" charset="-120"/>
              </a:rPr>
              <a:t>APPENDIX</a:t>
            </a:r>
            <a:endParaRPr lang="en-US" sz="1150" dirty="0"/>
          </a:p>
        </p:txBody>
      </p:sp>
      <p:sp>
        <p:nvSpPr>
          <p:cNvPr id="3" name="Text 1"/>
          <p:cNvSpPr/>
          <p:nvPr/>
        </p:nvSpPr>
        <p:spPr>
          <a:xfrm>
            <a:off x="502920" y="530352"/>
            <a:ext cx="11155680" cy="731520"/>
          </a:xfrm>
          <a:prstGeom prst="rect">
            <a:avLst/>
          </a:prstGeom>
          <a:noFill/>
          <a:ln/>
        </p:spPr>
        <p:txBody>
          <a:bodyPr wrap="square" lIns="0" tIns="0" rIns="0" bIns="0" rtlCol="0" anchor="ctr"/>
          <a:lstStyle/>
          <a:p>
            <a:pPr indent="0" marL="0">
              <a:buNone/>
            </a:pPr>
            <a:r>
              <a:rPr lang="en-US" sz="2300" b="1" dirty="0">
                <a:solidFill>
                  <a:srgbClr val="1F3B57"/>
                </a:solidFill>
                <a:latin typeface="Arial" pitchFamily="34" charset="0"/>
                <a:ea typeface="Arial" pitchFamily="34" charset="-122"/>
                <a:cs typeface="Arial" pitchFamily="34" charset="-120"/>
              </a:rPr>
              <a:t>재현성 · 한계</a:t>
            </a:r>
            <a:endParaRPr lang="en-US" sz="2300" dirty="0"/>
          </a:p>
        </p:txBody>
      </p:sp>
      <p:sp>
        <p:nvSpPr>
          <p:cNvPr id="4" name="Text 2"/>
          <p:cNvSpPr/>
          <p:nvPr/>
        </p:nvSpPr>
        <p:spPr>
          <a:xfrm>
            <a:off x="640080" y="1828800"/>
            <a:ext cx="10972800" cy="3200400"/>
          </a:xfrm>
          <a:prstGeom prst="rect">
            <a:avLst/>
          </a:prstGeom>
          <a:noFill/>
          <a:ln/>
        </p:spPr>
        <p:txBody>
          <a:bodyPr wrap="square" lIns="0" tIns="0" rIns="0" bIns="0" rtlCol="0" anchor="ctr"/>
          <a:lstStyle/>
          <a:p>
            <a:pPr marL="342900" indent="-342900">
              <a:spcAft>
                <a:spcPts val="1400"/>
              </a:spcAft>
              <a:buSzPct val="100000"/>
              <a:buChar char="•"/>
            </a:pPr>
            <a:r>
              <a:rPr lang="en-US" sz="1300" dirty="0">
                <a:solidFill>
                  <a:srgbClr val="1F3B57"/>
                </a:solidFill>
                <a:latin typeface="Arial" pitchFamily="34" charset="0"/>
                <a:ea typeface="Arial" pitchFamily="34" charset="-122"/>
                <a:cs typeface="Arial" pitchFamily="34" charset="-120"/>
              </a:rPr>
              <a:t>환경: RTX 3090/A6000 1장 · torch 2.5.1+cu121 · transformers 4.52.3 · Qwen2.5-VL-3B(36층)/7B(28층) · BF16</a:t>
            </a:r>
            <a:endParaRPr lang="en-US" sz="1300" dirty="0"/>
          </a:p>
          <a:p>
            <a:pPr marL="342900" indent="-342900">
              <a:spcAft>
                <a:spcPts val="1400"/>
              </a:spcAft>
              <a:buSzPct val="100000"/>
              <a:buChar char="•"/>
            </a:pPr>
            <a:r>
              <a:rPr lang="en-US" sz="1300" dirty="0">
                <a:solidFill>
                  <a:srgbClr val="1F3B57"/>
                </a:solidFill>
                <a:latin typeface="Arial" pitchFamily="34" charset="0"/>
                <a:ea typeface="Arial" pitchFamily="34" charset="-122"/>
                <a:cs typeface="Arial" pitchFamily="34" charset="-120"/>
              </a:rPr>
              <a:t>규모: 본 실험 600문항×10조건 + 확장 실험 약 25,000회 forward · seed 42 · 판정 기준 사전 동결 · 오류 중단 0건</a:t>
            </a:r>
            <a:endParaRPr lang="en-US" sz="1300" dirty="0"/>
          </a:p>
          <a:p>
            <a:pPr marL="342900" indent="-342900">
              <a:spcAft>
                <a:spcPts val="1400"/>
              </a:spcAft>
              <a:buSzPct val="100000"/>
              <a:buChar char="•"/>
            </a:pPr>
            <a:r>
              <a:rPr lang="en-US" sz="1300" dirty="0">
                <a:solidFill>
                  <a:srgbClr val="1F3B57"/>
                </a:solidFill>
                <a:latin typeface="Arial" pitchFamily="34" charset="0"/>
                <a:ea typeface="Arial" pitchFamily="34" charset="-122"/>
                <a:cs typeface="Arial" pitchFamily="34" charset="-120"/>
              </a:rPr>
              <a:t>코드·데이터·raw 결과 전부 버전 관리 (github.com/hsmai/Source-Depth)</a:t>
            </a:r>
            <a:endParaRPr lang="en-US" sz="1300" dirty="0"/>
          </a:p>
          <a:p>
            <a:pPr marL="342900" indent="-342900">
              <a:spcAft>
                <a:spcPts val="1400"/>
              </a:spcAft>
              <a:buSzPct val="100000"/>
              <a:buChar char="•"/>
            </a:pPr>
            <a:r>
              <a:rPr lang="en-US" sz="1300" b="1" dirty="0">
                <a:solidFill>
                  <a:srgbClr val="1F3B57"/>
                </a:solidFill>
                <a:latin typeface="Arial" pitchFamily="34" charset="0"/>
                <a:ea typeface="Arial" pitchFamily="34" charset="-122"/>
                <a:cs typeface="Arial" pitchFamily="34" charset="-120"/>
              </a:rPr>
              <a:t>한계: 이미지 2장 세팅 · 단일 물체 yes/no 질문 중심 · POPE는 7B에게 천장(단일 94.7%) · 실측 속도는 프로토타입 · 컨트롤러 결론은 'training-free × 마지막 토큰 attention' 조건 한정</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2026-08-12T05:26:03Z</dcterms:created>
  <dcterms:modified xsi:type="dcterms:W3CDTF">2026-08-12T05:26:03Z</dcterms:modified>
</cp:coreProperties>
</file>