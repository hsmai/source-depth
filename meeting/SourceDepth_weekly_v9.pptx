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주 결론부터 말씀드리면 연구 가치가 강해졌습니다. 문제가 실재한다는 근거가 더 강해졌고, 오라클 없이 작동하는 수치를 처음 확보했고, 기존 연구 대비 우위 지점을 찾았습니다. 동시에 제가 과하게 주장했던 두 가지를 스스로 분해해서 정정했습니다.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근거입니다. 지금까지 가장 큰 약점이 벤치마크가 위치를 알려준다는 것이었습니다. 그래서 위치를 없앤 벤치를 새로 만들었는데, 문제가 사라지기는커녕 더 커졌습니다. 3B는 무개입이 찍기보다 못합니다.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근거입니다. 지금까지 모든 숫자가 오라클이었는데 이번에 실현 수치를 처음 쟀습니다. 6조건 중 5조건 통과했고, 방해가 많을수록 이득이 커집니다. 남은 격차는 전부 판별 오류이고 그게 다음 개선 지점입니다.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근거입니다. FOCUS와 처음 비교했는데, 전체적으로는 이겼지만 분해해보니 우위가 판별 단계에서 나온 것이었습니다. 고치는 방식 자체는 동급입니다. 그래서 주장을 마스킹 기반 반사실이 더 정확한 판별자라는 쪽으로 좁힙니다.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주에 제가 처음 보고드리려던 것보다 주장을 좁혔습니다. 전체로 보면 읽기 차단이 훨씬 좋았는데, 판별 성공과 실패로 나눠보니 성공한 문항에서는 완전히 동일했습니다. 현 벤치가 관련 사진을 항상 첫 번째에 두기 때문에 구조적으로 같아지는 것이었습니다. 새 벤치에서 다시 검정하고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접은 것 두 가지입니다. 다만 폐기가 아니라 보류입니다. 원인을 규명했고 되살릴 경로를 문서에 남겼습니다. 중요한 건 해로웠던 게 빼기였지 읽기 차단이 아니라는 점입니다. 핵심 방법은 방해가 정답 방향으로 미는 경우에도 안전합니다.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11주 남았습니다. 이번 주에는 진행 중인 검정을 마무리하고 판별 개선을 시도합니다. 1, 2주차 공개 벤치마크가 중단 조건입니다. 지금 결과가 전부 자체 제작 벤치와 예아니오 단답에 한정되어 있어서, 공개 벤치에서 재현되지 않으면 접겠습니다.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38"/>
        </a:solidFill>
      </p:bgPr>
    </p:bg>
    <p:spTree>
      <p:nvGrpSpPr>
        <p:cNvPr id="1" name=""/>
        <p:cNvGrpSpPr/>
        <p:nvPr/>
      </p:nvGrpSpPr>
      <p:grpSpPr>
        <a:xfrm>
          <a:off x="0" y="0"/>
          <a:ext cx="0" cy="0"/>
          <a:chOff x="0" y="0"/>
          <a:chExt cx="0" cy="0"/>
        </a:xfrm>
      </p:grpSpPr>
      <p:sp>
        <p:nvSpPr>
          <p:cNvPr id="2" name="Text 0"/>
          <p:cNvSpPr/>
          <p:nvPr/>
        </p:nvSpPr>
        <p:spPr>
          <a:xfrm>
            <a:off x="548640" y="457200"/>
            <a:ext cx="11155680" cy="274320"/>
          </a:xfrm>
          <a:prstGeom prst="rect">
            <a:avLst/>
          </a:prstGeom>
          <a:noFill/>
          <a:ln/>
        </p:spPr>
        <p:txBody>
          <a:bodyPr wrap="square" lIns="0" tIns="0" rIns="0" bIns="0" rtlCol="0" anchor="ctr"/>
          <a:lstStyle/>
          <a:p>
            <a:pPr indent="0" marL="0">
              <a:buNone/>
            </a:pPr>
            <a:r>
              <a:rPr lang="en-US" sz="1150" b="1" dirty="0">
                <a:solidFill>
                  <a:srgbClr val="7EC8F5"/>
                </a:solidFill>
                <a:latin typeface="Arial" pitchFamily="34" charset="0"/>
                <a:ea typeface="Arial" pitchFamily="34" charset="-122"/>
                <a:cs typeface="Arial" pitchFamily="34" charset="-120"/>
              </a:rPr>
              <a:t>SOURCEDEPTH · 주간 진행 보고 · 한상민 · 2026-08-26</a:t>
            </a:r>
            <a:endParaRPr lang="en-US" sz="1150" dirty="0"/>
          </a:p>
        </p:txBody>
      </p:sp>
      <p:sp>
        <p:nvSpPr>
          <p:cNvPr id="3" name="Text 1"/>
          <p:cNvSpPr/>
          <p:nvPr/>
        </p:nvSpPr>
        <p:spPr>
          <a:xfrm>
            <a:off x="548640" y="914400"/>
            <a:ext cx="11155680" cy="640080"/>
          </a:xfrm>
          <a:prstGeom prst="rect">
            <a:avLst/>
          </a:prstGeom>
          <a:noFill/>
          <a:ln/>
        </p:spPr>
        <p:txBody>
          <a:bodyPr wrap="square" lIns="0" tIns="0" rIns="0" bIns="0" rtlCol="0" anchor="ctr"/>
          <a:lstStyle/>
          <a:p>
            <a:pPr indent="0" marL="0">
              <a:buNone/>
            </a:pPr>
            <a:r>
              <a:rPr lang="en-US" sz="3100" b="1" dirty="0">
                <a:solidFill>
                  <a:srgbClr val="FFFFFF"/>
                </a:solidFill>
                <a:latin typeface="Arial" pitchFamily="34" charset="0"/>
                <a:ea typeface="Arial" pitchFamily="34" charset="-122"/>
                <a:cs typeface="Arial" pitchFamily="34" charset="-120"/>
              </a:rPr>
              <a:t>이번 주 결론: 연구 가치가 강해졌습니다</a:t>
            </a:r>
            <a:endParaRPr lang="en-US" sz="3100" dirty="0"/>
          </a:p>
        </p:txBody>
      </p:sp>
      <p:sp>
        <p:nvSpPr>
          <p:cNvPr id="4" name="Text 2"/>
          <p:cNvSpPr/>
          <p:nvPr/>
        </p:nvSpPr>
        <p:spPr>
          <a:xfrm>
            <a:off x="548640" y="1700784"/>
            <a:ext cx="11155680" cy="320040"/>
          </a:xfrm>
          <a:prstGeom prst="rect">
            <a:avLst/>
          </a:prstGeom>
          <a:noFill/>
          <a:ln/>
        </p:spPr>
        <p:txBody>
          <a:bodyPr wrap="square" lIns="0" tIns="0" rIns="0" bIns="0" rtlCol="0" anchor="ctr"/>
          <a:lstStyle/>
          <a:p>
            <a:pPr indent="0" marL="0">
              <a:buNone/>
            </a:pPr>
            <a:r>
              <a:rPr lang="en-US" sz="1350" dirty="0">
                <a:solidFill>
                  <a:srgbClr val="AFC6DA"/>
                </a:solidFill>
                <a:latin typeface="Arial" pitchFamily="34" charset="0"/>
                <a:ea typeface="Arial" pitchFamily="34" charset="-122"/>
                <a:cs typeface="Arial" pitchFamily="34" charset="-120"/>
              </a:rPr>
              <a:t>사전등록 5건 실행 · 문제 실재와 실현 성능이 확보됐고, 과했던 주장 2건은 스스로 찾아 정정했습니다</a:t>
            </a:r>
            <a:endParaRPr lang="en-US" sz="1350" dirty="0"/>
          </a:p>
        </p:txBody>
      </p:sp>
      <p:sp>
        <p:nvSpPr>
          <p:cNvPr id="5" name="Shape 3"/>
          <p:cNvSpPr/>
          <p:nvPr/>
        </p:nvSpPr>
        <p:spPr>
          <a:xfrm>
            <a:off x="548640" y="2304288"/>
            <a:ext cx="3611880" cy="2286000"/>
          </a:xfrm>
          <a:prstGeom prst="roundRect">
            <a:avLst>
              <a:gd name="adj" fmla="val 2400"/>
            </a:avLst>
          </a:prstGeom>
          <a:solidFill>
            <a:srgbClr val="1D3850"/>
          </a:solidFill>
          <a:ln w="12700">
            <a:solidFill>
              <a:srgbClr val="2E4E6B"/>
            </a:solidFill>
            <a:prstDash val="solid"/>
          </a:ln>
        </p:spPr>
      </p:sp>
      <p:sp>
        <p:nvSpPr>
          <p:cNvPr id="6" name="Text 4"/>
          <p:cNvSpPr/>
          <p:nvPr/>
        </p:nvSpPr>
        <p:spPr>
          <a:xfrm>
            <a:off x="777240" y="2487168"/>
            <a:ext cx="3154680" cy="310896"/>
          </a:xfrm>
          <a:prstGeom prst="rect">
            <a:avLst/>
          </a:prstGeom>
          <a:noFill/>
          <a:ln/>
        </p:spPr>
        <p:txBody>
          <a:bodyPr wrap="square" lIns="0" tIns="0" rIns="0" bIns="0" rtlCol="0" anchor="ctr"/>
          <a:lstStyle/>
          <a:p>
            <a:pPr indent="0" marL="0">
              <a:buNone/>
            </a:pPr>
            <a:r>
              <a:rPr lang="en-US" sz="1450" b="1" dirty="0">
                <a:solidFill>
                  <a:srgbClr val="8CE0B0"/>
                </a:solidFill>
                <a:latin typeface="Arial" pitchFamily="34" charset="0"/>
                <a:ea typeface="Arial" pitchFamily="34" charset="-122"/>
                <a:cs typeface="Arial" pitchFamily="34" charset="-120"/>
              </a:rPr>
              <a:t>문제가 더 심각해졌다</a:t>
            </a:r>
            <a:endParaRPr lang="en-US" sz="1450" dirty="0"/>
          </a:p>
        </p:txBody>
      </p:sp>
      <p:sp>
        <p:nvSpPr>
          <p:cNvPr id="7" name="Text 5"/>
          <p:cNvSpPr/>
          <p:nvPr/>
        </p:nvSpPr>
        <p:spPr>
          <a:xfrm>
            <a:off x="777240" y="2889504"/>
            <a:ext cx="3154680" cy="1188720"/>
          </a:xfrm>
          <a:prstGeom prst="rect">
            <a:avLst/>
          </a:prstGeom>
          <a:noFill/>
          <a:ln/>
        </p:spPr>
        <p:txBody>
          <a:bodyPr wrap="square" lIns="0" tIns="0" rIns="0" bIns="0" rtlCol="0" anchor="ctr"/>
          <a:lstStyle/>
          <a:p>
            <a:pPr indent="0" marL="0">
              <a:lnSpc>
                <a:spcPct val="130000"/>
              </a:lnSpc>
              <a:buNone/>
            </a:pPr>
            <a:r>
              <a:rPr lang="en-US" sz="1150" dirty="0">
                <a:solidFill>
                  <a:srgbClr val="FFFFFF"/>
                </a:solidFill>
                <a:latin typeface="Arial" pitchFamily="34" charset="0"/>
                <a:ea typeface="Arial" pitchFamily="34" charset="-122"/>
                <a:cs typeface="Arial" pitchFamily="34" charset="-120"/>
              </a:rPr>
              <a:t>위치 단서를 없앤 새 벤치에서</a:t>
            </a:r>
            <a:endParaRPr lang="en-US" sz="1150" dirty="0"/>
          </a:p>
          <a:p>
            <a:pPr indent="0" marL="0">
              <a:lnSpc>
                <a:spcPct val="130000"/>
              </a:lnSpc>
              <a:buNone/>
            </a:pPr>
            <a:r>
              <a:rPr lang="en-US" sz="1150" dirty="0">
                <a:solidFill>
                  <a:srgbClr val="FFFFFF"/>
                </a:solidFill>
                <a:latin typeface="Arial" pitchFamily="34" charset="0"/>
                <a:ea typeface="Arial" pitchFamily="34" charset="-122"/>
                <a:cs typeface="Arial" pitchFamily="34" charset="-120"/>
              </a:rPr>
              <a:t>무개입 판별력 0.453</a:t>
            </a:r>
            <a:endParaRPr lang="en-US" sz="1150" dirty="0"/>
          </a:p>
          <a:p>
            <a:pPr indent="0" marL="0">
              <a:lnSpc>
                <a:spcPct val="130000"/>
              </a:lnSpc>
              <a:buNone/>
            </a:pPr>
            <a:r>
              <a:rPr lang="en-US" sz="1150" dirty="0">
                <a:solidFill>
                  <a:srgbClr val="FFFFFF"/>
                </a:solidFill>
                <a:latin typeface="Arial" pitchFamily="34" charset="0"/>
                <a:ea typeface="Arial" pitchFamily="34" charset="-122"/>
                <a:cs typeface="Arial" pitchFamily="34" charset="-120"/>
              </a:rPr>
              <a:t>— 동전 던지기(0.5)보다 낮음</a:t>
            </a:r>
            <a:endParaRPr lang="en-US" sz="1150" dirty="0"/>
          </a:p>
        </p:txBody>
      </p:sp>
      <p:sp>
        <p:nvSpPr>
          <p:cNvPr id="8" name="Text 6"/>
          <p:cNvSpPr/>
          <p:nvPr/>
        </p:nvSpPr>
        <p:spPr>
          <a:xfrm>
            <a:off x="777240" y="4151376"/>
            <a:ext cx="3154680" cy="310896"/>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기존 결과가 프롬프트 산물이 아님</a:t>
            </a:r>
            <a:endParaRPr lang="en-US" sz="1050" dirty="0"/>
          </a:p>
        </p:txBody>
      </p:sp>
      <p:sp>
        <p:nvSpPr>
          <p:cNvPr id="9" name="Shape 7"/>
          <p:cNvSpPr/>
          <p:nvPr/>
        </p:nvSpPr>
        <p:spPr>
          <a:xfrm>
            <a:off x="4343400" y="2304288"/>
            <a:ext cx="3611880" cy="2286000"/>
          </a:xfrm>
          <a:prstGeom prst="roundRect">
            <a:avLst>
              <a:gd name="adj" fmla="val 2400"/>
            </a:avLst>
          </a:prstGeom>
          <a:solidFill>
            <a:srgbClr val="1D3850"/>
          </a:solidFill>
          <a:ln w="12700">
            <a:solidFill>
              <a:srgbClr val="2E4E6B"/>
            </a:solidFill>
            <a:prstDash val="solid"/>
          </a:ln>
        </p:spPr>
      </p:sp>
      <p:sp>
        <p:nvSpPr>
          <p:cNvPr id="10" name="Text 8"/>
          <p:cNvSpPr/>
          <p:nvPr/>
        </p:nvSpPr>
        <p:spPr>
          <a:xfrm>
            <a:off x="4572000" y="2487168"/>
            <a:ext cx="3154680" cy="310896"/>
          </a:xfrm>
          <a:prstGeom prst="rect">
            <a:avLst/>
          </a:prstGeom>
          <a:noFill/>
          <a:ln/>
        </p:spPr>
        <p:txBody>
          <a:bodyPr wrap="square" lIns="0" tIns="0" rIns="0" bIns="0" rtlCol="0" anchor="ctr"/>
          <a:lstStyle/>
          <a:p>
            <a:pPr indent="0" marL="0">
              <a:buNone/>
            </a:pPr>
            <a:r>
              <a:rPr lang="en-US" sz="1450" b="1" dirty="0">
                <a:solidFill>
                  <a:srgbClr val="7EC8F5"/>
                </a:solidFill>
                <a:latin typeface="Arial" pitchFamily="34" charset="0"/>
                <a:ea typeface="Arial" pitchFamily="34" charset="-122"/>
                <a:cs typeface="Arial" pitchFamily="34" charset="-120"/>
              </a:rPr>
              <a:t>오라클 없이 작동한다</a:t>
            </a:r>
            <a:endParaRPr lang="en-US" sz="1450" dirty="0"/>
          </a:p>
        </p:txBody>
      </p:sp>
      <p:sp>
        <p:nvSpPr>
          <p:cNvPr id="11" name="Text 9"/>
          <p:cNvSpPr/>
          <p:nvPr/>
        </p:nvSpPr>
        <p:spPr>
          <a:xfrm>
            <a:off x="4572000" y="2889504"/>
            <a:ext cx="3154680" cy="1188720"/>
          </a:xfrm>
          <a:prstGeom prst="rect">
            <a:avLst/>
          </a:prstGeom>
          <a:noFill/>
          <a:ln/>
        </p:spPr>
        <p:txBody>
          <a:bodyPr wrap="square" lIns="0" tIns="0" rIns="0" bIns="0" rtlCol="0" anchor="ctr"/>
          <a:lstStyle/>
          <a:p>
            <a:pPr indent="0" marL="0">
              <a:lnSpc>
                <a:spcPct val="130000"/>
              </a:lnSpc>
              <a:buNone/>
            </a:pPr>
            <a:r>
              <a:rPr lang="en-US" sz="1150" dirty="0">
                <a:solidFill>
                  <a:srgbClr val="FFFFFF"/>
                </a:solidFill>
                <a:latin typeface="Arial" pitchFamily="34" charset="0"/>
                <a:ea typeface="Arial" pitchFamily="34" charset="-122"/>
                <a:cs typeface="Arial" pitchFamily="34" charset="-120"/>
              </a:rPr>
              <a:t>방해 3장에서 0.521 → 0.764</a:t>
            </a:r>
            <a:endParaRPr lang="en-US" sz="1150" dirty="0"/>
          </a:p>
          <a:p>
            <a:pPr indent="0" marL="0">
              <a:lnSpc>
                <a:spcPct val="130000"/>
              </a:lnSpc>
              <a:buNone/>
            </a:pPr>
            <a:r>
              <a:rPr lang="en-US" sz="1150" dirty="0">
                <a:solidFill>
                  <a:srgbClr val="FFFFFF"/>
                </a:solidFill>
                <a:latin typeface="Arial" pitchFamily="34" charset="0"/>
                <a:ea typeface="Arial" pitchFamily="34" charset="-122"/>
                <a:cs typeface="Arial" pitchFamily="34" charset="-120"/>
              </a:rPr>
              <a:t>정확도 0.477 → 0.697</a:t>
            </a:r>
            <a:endParaRPr lang="en-US" sz="1150" dirty="0"/>
          </a:p>
          <a:p>
            <a:pPr indent="0" marL="0">
              <a:lnSpc>
                <a:spcPct val="130000"/>
              </a:lnSpc>
              <a:buNone/>
            </a:pPr>
            <a:r>
              <a:rPr lang="en-US" sz="1150" dirty="0">
                <a:solidFill>
                  <a:srgbClr val="FFFFFF"/>
                </a:solidFill>
                <a:latin typeface="Arial" pitchFamily="34" charset="0"/>
                <a:ea typeface="Arial" pitchFamily="34" charset="-122"/>
                <a:cs typeface="Arial" pitchFamily="34" charset="-120"/>
              </a:rPr>
              <a:t>방해가 많을수록 이득이 커짐</a:t>
            </a:r>
            <a:endParaRPr lang="en-US" sz="1150" dirty="0"/>
          </a:p>
        </p:txBody>
      </p:sp>
      <p:sp>
        <p:nvSpPr>
          <p:cNvPr id="12" name="Text 10"/>
          <p:cNvSpPr/>
          <p:nvPr/>
        </p:nvSpPr>
        <p:spPr>
          <a:xfrm>
            <a:off x="4572000" y="4151376"/>
            <a:ext cx="3154680" cy="310896"/>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실현 수치를 처음 확보</a:t>
            </a:r>
            <a:endParaRPr lang="en-US" sz="1050" dirty="0"/>
          </a:p>
        </p:txBody>
      </p:sp>
      <p:sp>
        <p:nvSpPr>
          <p:cNvPr id="13" name="Shape 11"/>
          <p:cNvSpPr/>
          <p:nvPr/>
        </p:nvSpPr>
        <p:spPr>
          <a:xfrm>
            <a:off x="8138160" y="2304288"/>
            <a:ext cx="3611880" cy="2286000"/>
          </a:xfrm>
          <a:prstGeom prst="roundRect">
            <a:avLst>
              <a:gd name="adj" fmla="val 2400"/>
            </a:avLst>
          </a:prstGeom>
          <a:solidFill>
            <a:srgbClr val="1D3850"/>
          </a:solidFill>
          <a:ln w="12700">
            <a:solidFill>
              <a:srgbClr val="2E4E6B"/>
            </a:solidFill>
            <a:prstDash val="solid"/>
          </a:ln>
        </p:spPr>
      </p:sp>
      <p:sp>
        <p:nvSpPr>
          <p:cNvPr id="14" name="Text 12"/>
          <p:cNvSpPr/>
          <p:nvPr/>
        </p:nvSpPr>
        <p:spPr>
          <a:xfrm>
            <a:off x="8366760" y="2487168"/>
            <a:ext cx="3154680" cy="310896"/>
          </a:xfrm>
          <a:prstGeom prst="rect">
            <a:avLst/>
          </a:prstGeom>
          <a:noFill/>
          <a:ln/>
        </p:spPr>
        <p:txBody>
          <a:bodyPr wrap="square" lIns="0" tIns="0" rIns="0" bIns="0" rtlCol="0" anchor="ctr"/>
          <a:lstStyle/>
          <a:p>
            <a:pPr indent="0" marL="0">
              <a:buNone/>
            </a:pPr>
            <a:r>
              <a:rPr lang="en-US" sz="1450" b="1" dirty="0">
                <a:solidFill>
                  <a:srgbClr val="FFC94D"/>
                </a:solidFill>
                <a:latin typeface="Arial" pitchFamily="34" charset="0"/>
                <a:ea typeface="Arial" pitchFamily="34" charset="-122"/>
                <a:cs typeface="Arial" pitchFamily="34" charset="-120"/>
              </a:rPr>
              <a:t>기존 연구 대비 우위 지점</a:t>
            </a:r>
            <a:endParaRPr lang="en-US" sz="1450" dirty="0"/>
          </a:p>
        </p:txBody>
      </p:sp>
      <p:sp>
        <p:nvSpPr>
          <p:cNvPr id="15" name="Text 13"/>
          <p:cNvSpPr/>
          <p:nvPr/>
        </p:nvSpPr>
        <p:spPr>
          <a:xfrm>
            <a:off x="8366760" y="2889504"/>
            <a:ext cx="3154680" cy="1188720"/>
          </a:xfrm>
          <a:prstGeom prst="rect">
            <a:avLst/>
          </a:prstGeom>
          <a:noFill/>
          <a:ln/>
        </p:spPr>
        <p:txBody>
          <a:bodyPr wrap="square" lIns="0" tIns="0" rIns="0" bIns="0" rtlCol="0" anchor="ctr"/>
          <a:lstStyle/>
          <a:p>
            <a:pPr indent="0" marL="0">
              <a:lnSpc>
                <a:spcPct val="130000"/>
              </a:lnSpc>
              <a:buNone/>
            </a:pPr>
            <a:r>
              <a:rPr lang="en-US" sz="1150" dirty="0">
                <a:solidFill>
                  <a:srgbClr val="FFFFFF"/>
                </a:solidFill>
                <a:latin typeface="Arial" pitchFamily="34" charset="0"/>
                <a:ea typeface="Arial" pitchFamily="34" charset="-122"/>
                <a:cs typeface="Arial" pitchFamily="34" charset="-120"/>
              </a:rPr>
              <a:t>마스킹 기반 반사실이</a:t>
            </a:r>
            <a:endParaRPr lang="en-US" sz="1150" dirty="0"/>
          </a:p>
          <a:p>
            <a:pPr indent="0" marL="0">
              <a:lnSpc>
                <a:spcPct val="130000"/>
              </a:lnSpc>
              <a:buNone/>
            </a:pPr>
            <a:r>
              <a:rPr lang="en-US" sz="1150" dirty="0">
                <a:solidFill>
                  <a:srgbClr val="FFFFFF"/>
                </a:solidFill>
                <a:latin typeface="Arial" pitchFamily="34" charset="0"/>
                <a:ea typeface="Arial" pitchFamily="34" charset="-122"/>
                <a:cs typeface="Arial" pitchFamily="34" charset="-120"/>
              </a:rPr>
              <a:t>픽셀 노이즈보다 판별을 잘함</a:t>
            </a:r>
            <a:endParaRPr lang="en-US" sz="1150" dirty="0"/>
          </a:p>
          <a:p>
            <a:pPr indent="0" marL="0">
              <a:lnSpc>
                <a:spcPct val="130000"/>
              </a:lnSpc>
              <a:buNone/>
            </a:pPr>
            <a:r>
              <a:rPr lang="en-US" sz="1150" dirty="0">
                <a:solidFill>
                  <a:srgbClr val="FFFFFF"/>
                </a:solidFill>
                <a:latin typeface="Arial" pitchFamily="34" charset="0"/>
                <a:ea typeface="Arial" pitchFamily="34" charset="-122"/>
                <a:cs typeface="Arial" pitchFamily="34" charset="-120"/>
              </a:rPr>
              <a:t>0.730 vs 0.637 · 0.937 vs 0.817</a:t>
            </a:r>
            <a:endParaRPr lang="en-US" sz="1150" dirty="0"/>
          </a:p>
        </p:txBody>
      </p:sp>
      <p:sp>
        <p:nvSpPr>
          <p:cNvPr id="16" name="Text 14"/>
          <p:cNvSpPr/>
          <p:nvPr/>
        </p:nvSpPr>
        <p:spPr>
          <a:xfrm>
            <a:off x="8366760" y="4151376"/>
            <a:ext cx="3154680" cy="310896"/>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두 스케일 모두 일관</a:t>
            </a:r>
            <a:endParaRPr lang="en-US" sz="1050" dirty="0"/>
          </a:p>
        </p:txBody>
      </p:sp>
      <p:sp>
        <p:nvSpPr>
          <p:cNvPr id="17" name="Shape 15"/>
          <p:cNvSpPr/>
          <p:nvPr/>
        </p:nvSpPr>
        <p:spPr>
          <a:xfrm>
            <a:off x="548640" y="4828032"/>
            <a:ext cx="11201400" cy="1243584"/>
          </a:xfrm>
          <a:prstGeom prst="roundRect">
            <a:avLst>
              <a:gd name="adj" fmla="val 4412"/>
            </a:avLst>
          </a:prstGeom>
          <a:solidFill>
            <a:srgbClr val="1D3850"/>
          </a:solidFill>
          <a:ln w="12700">
            <a:solidFill>
              <a:srgbClr val="2E4E6B"/>
            </a:solidFill>
            <a:prstDash val="solid"/>
          </a:ln>
        </p:spPr>
      </p:sp>
      <p:sp>
        <p:nvSpPr>
          <p:cNvPr id="18" name="Text 16"/>
          <p:cNvSpPr/>
          <p:nvPr/>
        </p:nvSpPr>
        <p:spPr>
          <a:xfrm>
            <a:off x="822960" y="4937760"/>
            <a:ext cx="10698480" cy="274320"/>
          </a:xfrm>
          <a:prstGeom prst="rect">
            <a:avLst/>
          </a:prstGeom>
          <a:noFill/>
          <a:ln/>
        </p:spPr>
        <p:txBody>
          <a:bodyPr wrap="square" lIns="0" tIns="0" rIns="0" bIns="0" rtlCol="0" anchor="ctr"/>
          <a:lstStyle/>
          <a:p>
            <a:pPr indent="0" marL="0">
              <a:buNone/>
            </a:pPr>
            <a:r>
              <a:rPr lang="en-US" sz="1300" b="1" dirty="0">
                <a:solidFill>
                  <a:srgbClr val="FFB4A2"/>
                </a:solidFill>
                <a:latin typeface="Arial" pitchFamily="34" charset="0"/>
                <a:ea typeface="Arial" pitchFamily="34" charset="-122"/>
                <a:cs typeface="Arial" pitchFamily="34" charset="-120"/>
              </a:rPr>
              <a:t>동시에 — 과했던 주장 2건을 스스로 분해해서 정정했습니다</a:t>
            </a:r>
            <a:endParaRPr lang="en-US" sz="1300" dirty="0"/>
          </a:p>
        </p:txBody>
      </p:sp>
      <p:sp>
        <p:nvSpPr>
          <p:cNvPr id="19" name="Text 17"/>
          <p:cNvSpPr/>
          <p:nvPr/>
        </p:nvSpPr>
        <p:spPr>
          <a:xfrm>
            <a:off x="822960" y="5248656"/>
            <a:ext cx="10698480" cy="603504"/>
          </a:xfrm>
          <a:prstGeom prst="rect">
            <a:avLst/>
          </a:prstGeom>
          <a:noFill/>
          <a:ln/>
        </p:spPr>
        <p:txBody>
          <a:bodyPr wrap="square" lIns="0" tIns="0" rIns="0" bIns="0" rtlCol="0" anchor="ctr"/>
          <a:lstStyle/>
          <a:p>
            <a:pPr indent="0" marL="0">
              <a:lnSpc>
                <a:spcPct val="125000"/>
              </a:lnSpc>
              <a:buNone/>
            </a:pPr>
            <a:r>
              <a:rPr lang="en-US" sz="1100" dirty="0">
                <a:solidFill>
                  <a:srgbClr val="D0DCE6"/>
                </a:solidFill>
                <a:latin typeface="Arial" pitchFamily="34" charset="0"/>
                <a:ea typeface="Arial" pitchFamily="34" charset="-122"/>
                <a:cs typeface="Arial" pitchFamily="34" charset="-120"/>
              </a:rPr>
              <a:t>· "읽기 차단이 통째 삭제보다 낫다" → 판별이 맞으면 현 벤치에서는 구조적으로 동일. 차이는 판별이 틀렸을 때만 (검증 중)</a:t>
            </a:r>
            <a:endParaRPr lang="en-US" sz="1100" dirty="0"/>
          </a:p>
          <a:p>
            <a:pPr indent="0" marL="0">
              <a:lnSpc>
                <a:spcPct val="125000"/>
              </a:lnSpc>
              <a:buNone/>
            </a:pPr>
            <a:r>
              <a:rPr lang="en-US" sz="1100" dirty="0">
                <a:solidFill>
                  <a:srgbClr val="D0DCE6"/>
                </a:solidFill>
                <a:latin typeface="Arial" pitchFamily="34" charset="0"/>
                <a:ea typeface="Arial" pitchFamily="34" charset="-122"/>
                <a:cs typeface="Arial" pitchFamily="34" charset="-120"/>
              </a:rPr>
              <a:t>· "우리 개입이 FOCUS보다 낫다" → 판별이 같으면 차이 없음. 우위는 개입이 아니라 판별 단계에서 옴</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19456"/>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근거 ① — 문제가 실재하는가</a:t>
            </a:r>
            <a:endParaRPr lang="en-US" sz="1100" dirty="0"/>
          </a:p>
        </p:txBody>
      </p:sp>
      <p:sp>
        <p:nvSpPr>
          <p:cNvPr id="3" name="Text 1"/>
          <p:cNvSpPr/>
          <p:nvPr/>
        </p:nvSpPr>
        <p:spPr>
          <a:xfrm>
            <a:off x="502920" y="475488"/>
            <a:ext cx="11155680" cy="658368"/>
          </a:xfrm>
          <a:prstGeom prst="rect">
            <a:avLst/>
          </a:prstGeom>
          <a:noFill/>
          <a:ln/>
        </p:spPr>
        <p:txBody>
          <a:bodyPr wrap="square" lIns="0" tIns="0" rIns="0" bIns="0" rtlCol="0" anchor="ctr"/>
          <a:lstStyle/>
          <a:p>
            <a:pPr indent="0" marL="0">
              <a:buNone/>
            </a:pPr>
            <a:r>
              <a:rPr lang="en-US" sz="2100" b="1" dirty="0">
                <a:solidFill>
                  <a:srgbClr val="1F3B57"/>
                </a:solidFill>
                <a:latin typeface="Arial" pitchFamily="34" charset="0"/>
                <a:ea typeface="Arial" pitchFamily="34" charset="-122"/>
                <a:cs typeface="Arial" pitchFamily="34" charset="-120"/>
              </a:rPr>
              <a:t>질문에서 위치 단서를 없앴더니 문제가 더 심각해졌습니다</a:t>
            </a:r>
            <a:endParaRPr lang="en-US" sz="2100" dirty="0"/>
          </a:p>
        </p:txBody>
      </p:sp>
      <p:sp>
        <p:nvSpPr>
          <p:cNvPr id="4" name="Shape 2"/>
          <p:cNvSpPr/>
          <p:nvPr/>
        </p:nvSpPr>
        <p:spPr>
          <a:xfrm>
            <a:off x="502920" y="1188720"/>
            <a:ext cx="11201400" cy="859536"/>
          </a:xfrm>
          <a:prstGeom prst="roundRect">
            <a:avLst>
              <a:gd name="adj" fmla="val 6383"/>
            </a:avLst>
          </a:prstGeom>
          <a:solidFill>
            <a:srgbClr val="EFF4F9"/>
          </a:solidFill>
          <a:ln w="12700">
            <a:solidFill>
              <a:srgbClr val="D5DEE8"/>
            </a:solidFill>
            <a:prstDash val="solid"/>
          </a:ln>
        </p:spPr>
      </p:sp>
      <p:sp>
        <p:nvSpPr>
          <p:cNvPr id="5" name="Text 3"/>
          <p:cNvSpPr/>
          <p:nvPr/>
        </p:nvSpPr>
        <p:spPr>
          <a:xfrm>
            <a:off x="777240" y="1280160"/>
            <a:ext cx="10698480" cy="256032"/>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기존 벤치의 최대 약점: 질문이 "첫 번째 사진"이라고 위치를 알려줌 → 글자만 읽는 모듈도 만점을 받음</a:t>
            </a:r>
            <a:endParaRPr lang="en-US" sz="1100" dirty="0"/>
          </a:p>
        </p:txBody>
      </p:sp>
      <p:sp>
        <p:nvSpPr>
          <p:cNvPr id="6" name="Text 4"/>
          <p:cNvSpPr/>
          <p:nvPr/>
        </p:nvSpPr>
        <p:spPr>
          <a:xfrm>
            <a:off x="777240" y="1572768"/>
            <a:ext cx="10698480" cy="292608"/>
          </a:xfrm>
          <a:prstGeom prst="rect">
            <a:avLst/>
          </a:prstGeom>
          <a:noFill/>
          <a:ln/>
        </p:spPr>
        <p:txBody>
          <a:bodyPr wrap="square" lIns="0" tIns="0" rIns="0" bIns="0" rtlCol="0" anchor="ctr"/>
          <a:lstStyle/>
          <a:p>
            <a:pPr indent="0" marL="0">
              <a:buNone/>
            </a:pPr>
            <a:r>
              <a:rPr lang="en-US" sz="1300" b="1" dirty="0">
                <a:solidFill>
                  <a:srgbClr val="1F3B57"/>
                </a:solidFill>
                <a:latin typeface="Arial" pitchFamily="34" charset="0"/>
                <a:ea typeface="Arial" pitchFamily="34" charset="-122"/>
                <a:cs typeface="Arial" pitchFamily="34" charset="-120"/>
              </a:rPr>
              <a:t>새 벤치 (600문항 신규 제작):  "microwave가 있는 사진에 boat가 있나?"  — 내용으로만 특정, 위치 무작위</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2194560"/>
          <a:ext cx="11201400" cy="914400"/>
        </p:xfrm>
        <a:graphic>
          <a:graphicData uri="http://schemas.openxmlformats.org/drawingml/2006/table">
            <a:tbl>
              <a:tblPr/>
              <a:tblGrid>
                <a:gridCol w="2240280"/>
                <a:gridCol w="2240280"/>
                <a:gridCol w="2240280"/>
                <a:gridCol w="2240280"/>
                <a:gridCol w="2240280"/>
              </a:tblGrid>
              <a:tr h="329184">
                <a:tc>
                  <a:txBody>
                    <a:bodyPr/>
                    <a:lstStyle/>
                    <a:p>
                      <a:pPr algn="ctr" indent="0" marL="0">
                        <a:buNone/>
                      </a:pP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무개입</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우리 방법 (실현)</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상한 (오라클)</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문제 크기 95%CI</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310896">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3B · 사진 2장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D62728"/>
                          </a:solidFill>
                          <a:latin typeface="Arial" pitchFamily="34" charset="0"/>
                          <a:ea typeface="Arial" pitchFamily="34" charset="-122"/>
                          <a:cs typeface="Arial" pitchFamily="34" charset="-120"/>
                        </a:rPr>
                        <a:t>0.4927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8B57"/>
                          </a:solidFill>
                          <a:latin typeface="Arial" pitchFamily="34" charset="0"/>
                          <a:ea typeface="Arial" pitchFamily="34" charset="-122"/>
                          <a:cs typeface="Arial" pitchFamily="34" charset="-120"/>
                        </a:rPr>
                        <a:t>0.8141</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0.9730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[+0.413, +0.545] ★</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3B · 사진 3장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D62728"/>
                          </a:solidFill>
                          <a:latin typeface="Arial" pitchFamily="34" charset="0"/>
                          <a:ea typeface="Arial" pitchFamily="34" charset="-122"/>
                          <a:cs typeface="Arial" pitchFamily="34" charset="-120"/>
                        </a:rPr>
                        <a:t>0.4527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8B57"/>
                          </a:solidFill>
                          <a:latin typeface="Arial" pitchFamily="34" charset="0"/>
                          <a:ea typeface="Arial" pitchFamily="34" charset="-122"/>
                          <a:cs typeface="Arial" pitchFamily="34" charset="-120"/>
                        </a:rPr>
                        <a:t>0.8592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0.9636</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[+0.449, +0.576] ★</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7B · 사진 2장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0.7977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8B57"/>
                          </a:solidFill>
                          <a:latin typeface="Arial" pitchFamily="34" charset="0"/>
                          <a:ea typeface="Arial" pitchFamily="34" charset="-122"/>
                          <a:cs typeface="Arial" pitchFamily="34" charset="-120"/>
                        </a:rPr>
                        <a:t>0.8551</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0.9425</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[+0.108, +0.187] ★</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7B · 사진 3장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0.7294</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8B57"/>
                          </a:solidFill>
                          <a:latin typeface="Arial" pitchFamily="34" charset="0"/>
                          <a:ea typeface="Arial" pitchFamily="34" charset="-122"/>
                          <a:cs typeface="Arial" pitchFamily="34" charset="-120"/>
                        </a:rPr>
                        <a:t>0.8386</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0.9476</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[+0.172, +0.269] ★</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4041648"/>
            <a:ext cx="5532120" cy="1481328"/>
          </a:xfrm>
          <a:prstGeom prst="roundRect">
            <a:avLst>
              <a:gd name="adj" fmla="val 3704"/>
            </a:avLst>
          </a:prstGeom>
          <a:solidFill>
            <a:srgbClr val="FBEAEA"/>
          </a:solidFill>
          <a:ln w="16510">
            <a:solidFill>
              <a:srgbClr val="D62728"/>
            </a:solidFill>
            <a:prstDash val="solid"/>
          </a:ln>
        </p:spPr>
      </p:sp>
      <p:sp>
        <p:nvSpPr>
          <p:cNvPr id="9" name="Text 6"/>
          <p:cNvSpPr/>
          <p:nvPr/>
        </p:nvSpPr>
        <p:spPr>
          <a:xfrm>
            <a:off x="713232" y="4151376"/>
            <a:ext cx="5120640" cy="256032"/>
          </a:xfrm>
          <a:prstGeom prst="rect">
            <a:avLst/>
          </a:prstGeom>
          <a:noFill/>
          <a:ln/>
        </p:spPr>
        <p:txBody>
          <a:bodyPr wrap="square" lIns="0" tIns="0" rIns="0" bIns="0" rtlCol="0" anchor="ctr"/>
          <a:lstStyle/>
          <a:p>
            <a:pPr indent="0" marL="0">
              <a:buNone/>
            </a:pPr>
            <a:r>
              <a:rPr lang="en-US" sz="1250" b="1" dirty="0">
                <a:solidFill>
                  <a:srgbClr val="D62728"/>
                </a:solidFill>
                <a:latin typeface="Arial" pitchFamily="34" charset="0"/>
                <a:ea typeface="Arial" pitchFamily="34" charset="-122"/>
                <a:cs typeface="Arial" pitchFamily="34" charset="-120"/>
              </a:rPr>
              <a:t>3B는 무개입이 찍기보다 못합니다</a:t>
            </a:r>
            <a:endParaRPr lang="en-US" sz="1250" dirty="0"/>
          </a:p>
        </p:txBody>
      </p:sp>
      <p:sp>
        <p:nvSpPr>
          <p:cNvPr id="10" name="Text 7"/>
          <p:cNvSpPr/>
          <p:nvPr/>
        </p:nvSpPr>
        <p:spPr>
          <a:xfrm>
            <a:off x="713232" y="4443984"/>
            <a:ext cx="5120640" cy="987552"/>
          </a:xfrm>
          <a:prstGeom prst="rect">
            <a:avLst/>
          </a:prstGeom>
          <a:noFill/>
          <a:ln/>
        </p:spPr>
        <p:txBody>
          <a:bodyPr wrap="square" lIns="0" tIns="0" rIns="0" bIns="0" rtlCol="0" anchor="ctr"/>
          <a:lstStyle/>
          <a:p>
            <a:pPr indent="0" marL="0">
              <a:lnSpc>
                <a:spcPct val="120000"/>
              </a:lnSpc>
              <a:buNone/>
            </a:pPr>
            <a:r>
              <a:rPr lang="en-US" sz="1100" dirty="0">
                <a:solidFill>
                  <a:srgbClr val="1F3B57"/>
                </a:solidFill>
                <a:latin typeface="Arial" pitchFamily="34" charset="0"/>
                <a:ea typeface="Arial" pitchFamily="34" charset="-122"/>
                <a:cs typeface="Arial" pitchFamily="34" charset="-120"/>
              </a:rPr>
              <a:t>정답이 "없다"인 문항만 보면 —</a:t>
            </a:r>
            <a:endParaRPr lang="en-US" sz="1100" dirty="0"/>
          </a:p>
          <a:p>
            <a:pPr indent="0" marL="0">
              <a:lnSpc>
                <a:spcPct val="120000"/>
              </a:lnSpc>
              <a:buNone/>
            </a:pP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     무개입 정확도        0.267</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     개입 후 (오라클)      0.973</a:t>
            </a:r>
            <a:endParaRPr lang="en-US" sz="1100" dirty="0"/>
          </a:p>
          <a:p>
            <a:pPr indent="0" marL="0">
              <a:lnSpc>
                <a:spcPct val="120000"/>
              </a:lnSpc>
              <a:buNone/>
            </a:pP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무관한 사진에 있는 물건을 그대로 답합니다</a:t>
            </a:r>
            <a:endParaRPr lang="en-US" sz="1100" dirty="0"/>
          </a:p>
        </p:txBody>
      </p:sp>
      <p:sp>
        <p:nvSpPr>
          <p:cNvPr id="11" name="Shape 8"/>
          <p:cNvSpPr/>
          <p:nvPr/>
        </p:nvSpPr>
        <p:spPr>
          <a:xfrm>
            <a:off x="6199632" y="4041648"/>
            <a:ext cx="5504688" cy="1481328"/>
          </a:xfrm>
          <a:prstGeom prst="roundRect">
            <a:avLst>
              <a:gd name="adj" fmla="val 3704"/>
            </a:avLst>
          </a:prstGeom>
          <a:solidFill>
            <a:srgbClr val="E9F4EE"/>
          </a:solidFill>
          <a:ln w="16510">
            <a:solidFill>
              <a:srgbClr val="2E8B57"/>
            </a:solidFill>
            <a:prstDash val="solid"/>
          </a:ln>
        </p:spPr>
      </p:sp>
      <p:sp>
        <p:nvSpPr>
          <p:cNvPr id="12" name="Text 9"/>
          <p:cNvSpPr/>
          <p:nvPr/>
        </p:nvSpPr>
        <p:spPr>
          <a:xfrm>
            <a:off x="6409944" y="4151376"/>
            <a:ext cx="5120640" cy="256032"/>
          </a:xfrm>
          <a:prstGeom prst="rect">
            <a:avLst/>
          </a:prstGeom>
          <a:noFill/>
          <a:ln/>
        </p:spPr>
        <p:txBody>
          <a:bodyPr wrap="square" lIns="0" tIns="0" rIns="0" bIns="0" rtlCol="0" anchor="ctr"/>
          <a:lstStyle/>
          <a:p>
            <a:pPr indent="0" marL="0">
              <a:buNone/>
            </a:pPr>
            <a:r>
              <a:rPr lang="en-US" sz="1250" b="1" dirty="0">
                <a:solidFill>
                  <a:srgbClr val="2E8B57"/>
                </a:solidFill>
                <a:latin typeface="Arial" pitchFamily="34" charset="0"/>
                <a:ea typeface="Arial" pitchFamily="34" charset="-122"/>
                <a:cs typeface="Arial" pitchFamily="34" charset="-120"/>
              </a:rPr>
              <a:t>이게 왜 중요한가</a:t>
            </a:r>
            <a:endParaRPr lang="en-US" sz="1250" dirty="0"/>
          </a:p>
        </p:txBody>
      </p:sp>
      <p:sp>
        <p:nvSpPr>
          <p:cNvPr id="13" name="Text 10"/>
          <p:cNvSpPr/>
          <p:nvPr/>
        </p:nvSpPr>
        <p:spPr>
          <a:xfrm>
            <a:off x="6409944" y="4443984"/>
            <a:ext cx="5120640" cy="987552"/>
          </a:xfrm>
          <a:prstGeom prst="rect">
            <a:avLst/>
          </a:prstGeom>
          <a:noFill/>
          <a:ln/>
        </p:spPr>
        <p:txBody>
          <a:bodyPr wrap="square" lIns="0" tIns="0" rIns="0" bIns="0" rtlCol="0" anchor="ctr"/>
          <a:lstStyle/>
          <a:p>
            <a:pPr indent="0" marL="0">
              <a:lnSpc>
                <a:spcPct val="120000"/>
              </a:lnSpc>
              <a:buNone/>
            </a:pPr>
            <a:r>
              <a:rPr lang="en-US" sz="1100" dirty="0">
                <a:solidFill>
                  <a:srgbClr val="1F3B57"/>
                </a:solidFill>
                <a:latin typeface="Arial" pitchFamily="34" charset="0"/>
                <a:ea typeface="Arial" pitchFamily="34" charset="-122"/>
                <a:cs typeface="Arial" pitchFamily="34" charset="-120"/>
              </a:rPr>
              <a:t>"위치를 알려주니까 나온 결과 아니냐"가</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지금까지 가장 큰 약점이었습니다.</a:t>
            </a:r>
            <a:endParaRPr lang="en-US" sz="1100" dirty="0"/>
          </a:p>
          <a:p>
            <a:pPr indent="0" marL="0">
              <a:lnSpc>
                <a:spcPct val="120000"/>
              </a:lnSpc>
              <a:buNone/>
            </a:pP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위치를 없앤 벤치를 만들었더니 문제가</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사라지기는커녕 더 커졌습니다.</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 이 방향으로 계속할 근거가 생겼습니다</a:t>
            </a:r>
            <a:endParaRPr lang="en-US" sz="1100" dirty="0"/>
          </a:p>
        </p:txBody>
      </p:sp>
      <p:sp>
        <p:nvSpPr>
          <p:cNvPr id="14" name="Text 11"/>
          <p:cNvSpPr/>
          <p:nvPr/>
        </p:nvSpPr>
        <p:spPr>
          <a:xfrm>
            <a:off x="502920" y="5650992"/>
            <a:ext cx="11155680" cy="310896"/>
          </a:xfrm>
          <a:prstGeom prst="rect">
            <a:avLst/>
          </a:prstGeom>
          <a:noFill/>
          <a:ln/>
        </p:spPr>
        <p:txBody>
          <a:bodyPr wrap="square" lIns="0" tIns="0" rIns="0" bIns="0" rtlCol="0" anchor="ctr"/>
          <a:lstStyle/>
          <a:p>
            <a:pPr indent="0" marL="0">
              <a:buNone/>
            </a:pPr>
            <a:r>
              <a:rPr lang="en-US" sz="1000" i="1" dirty="0">
                <a:solidFill>
                  <a:srgbClr val="6B7280"/>
                </a:solidFill>
                <a:latin typeface="Arial" pitchFamily="34" charset="0"/>
                <a:ea typeface="Arial" pitchFamily="34" charset="-122"/>
                <a:cs typeface="Arial" pitchFamily="34" charset="-120"/>
              </a:rPr>
              <a:t>판별력 점수(AUC): 맞다/아니다를 가려내는 능력. 0.5 = 찍기 · n=600 · COCO 기반 자체 제작 · 사전 등록 후 측정</a:t>
            </a:r>
            <a:endParaRPr lang="en-US" sz="1000" dirty="0"/>
          </a:p>
        </p:txBody>
      </p:sp>
      <p:sp>
        <p:nvSpPr>
          <p:cNvPr id="15" name="Shape 12"/>
          <p:cNvSpPr/>
          <p:nvPr/>
        </p:nvSpPr>
        <p:spPr>
          <a:xfrm>
            <a:off x="502920" y="6053328"/>
            <a:ext cx="11201400" cy="548640"/>
          </a:xfrm>
          <a:prstGeom prst="roundRect">
            <a:avLst>
              <a:gd name="adj" fmla="val 13333"/>
            </a:avLst>
          </a:prstGeom>
          <a:solidFill>
            <a:srgbClr val="1F3B57"/>
          </a:solidFill>
          <a:ln/>
        </p:spPr>
      </p:sp>
      <p:sp>
        <p:nvSpPr>
          <p:cNvPr id="16" name="Text 13"/>
          <p:cNvSpPr/>
          <p:nvPr/>
        </p:nvSpPr>
        <p:spPr>
          <a:xfrm>
            <a:off x="777240" y="6053328"/>
            <a:ext cx="10744200" cy="54864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가장 큰 약점을 스스로 공격했고, 결과는 문제가 더 크다는 쪽이었습니다</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19456"/>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근거 ② — 실제로 쓸 수 있는가</a:t>
            </a:r>
            <a:endParaRPr lang="en-US" sz="1100" dirty="0"/>
          </a:p>
        </p:txBody>
      </p:sp>
      <p:sp>
        <p:nvSpPr>
          <p:cNvPr id="3" name="Text 1"/>
          <p:cNvSpPr/>
          <p:nvPr/>
        </p:nvSpPr>
        <p:spPr>
          <a:xfrm>
            <a:off x="502920" y="475488"/>
            <a:ext cx="11155680" cy="658368"/>
          </a:xfrm>
          <a:prstGeom prst="rect">
            <a:avLst/>
          </a:prstGeom>
          <a:noFill/>
          <a:ln/>
        </p:spPr>
        <p:txBody>
          <a:bodyPr wrap="square" lIns="0" tIns="0" rIns="0" bIns="0" rtlCol="0" anchor="ctr"/>
          <a:lstStyle/>
          <a:p>
            <a:pPr indent="0" marL="0">
              <a:buNone/>
            </a:pPr>
            <a:r>
              <a:rPr lang="en-US" sz="2100" b="1" dirty="0">
                <a:solidFill>
                  <a:srgbClr val="1F3B57"/>
                </a:solidFill>
                <a:latin typeface="Arial" pitchFamily="34" charset="0"/>
                <a:ea typeface="Arial" pitchFamily="34" charset="-122"/>
                <a:cs typeface="Arial" pitchFamily="34" charset="-120"/>
              </a:rPr>
              <a:t>어느 사진이 방해인지 알려주지 않아도 작동합니다</a:t>
            </a:r>
            <a:endParaRPr lang="en-US" sz="2100" dirty="0"/>
          </a:p>
        </p:txBody>
      </p:sp>
      <p:sp>
        <p:nvSpPr>
          <p:cNvPr id="4" name="Text 2"/>
          <p:cNvSpPr/>
          <p:nvPr/>
        </p:nvSpPr>
        <p:spPr>
          <a:xfrm>
            <a:off x="502920" y="1152144"/>
            <a:ext cx="11201400" cy="274320"/>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지금까지 모든 수치는 방해 사진을 알려준 조건이었습니다. 이번에 컨트롤러를 포함한 실현 수치를 처음 쟀습니다.</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11201400" cy="914400"/>
        </p:xfrm>
        <a:graphic>
          <a:graphicData uri="http://schemas.openxmlformats.org/drawingml/2006/table">
            <a:tbl>
              <a:tblPr/>
              <a:tblGrid>
                <a:gridCol w="1866900"/>
                <a:gridCol w="1866900"/>
                <a:gridCol w="1866900"/>
                <a:gridCol w="1866900"/>
                <a:gridCol w="1866900"/>
                <a:gridCol w="1866900"/>
              </a:tblGrid>
              <a:tr h="329184">
                <a:tc>
                  <a:txBody>
                    <a:bodyPr/>
                    <a:lstStyle/>
                    <a:p>
                      <a:pPr algn="ctr" indent="0" marL="0">
                        <a:buNone/>
                      </a:pP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무개입</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실현 (컨트롤러 포함)</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상한 (오라클)</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실현−무개입 95%CI</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판정</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301752">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3B · 방해 1장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0.6970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0.7556</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0.9057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[+0.031, +0.089]</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01752">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3B · 방해 2장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0.6080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0.7761</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0.9039</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[+0.126, +0.212]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01752">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3B · 방해 3장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0.5212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0.7643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0.9033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[+0.196, +0.294]</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01752">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7B · 방해 1장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0.8690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0.8971</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0.8993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[+0.012, +0.046]</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01752">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7B · 방해 2장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0.8723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0.8826</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0.8970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[−0.007, +0.030]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06A00"/>
                          </a:solidFill>
                          <a:latin typeface="Arial" pitchFamily="34" charset="0"/>
                          <a:ea typeface="Arial" pitchFamily="34" charset="-122"/>
                          <a:cs typeface="Arial" pitchFamily="34" charset="-120"/>
                        </a:rPr>
                        <a:t>부분</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01752">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7B · 방해 3장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0.8740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0.8925</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0.8957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[+0.003, +0.036]</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3840480"/>
            <a:ext cx="3611880" cy="1700784"/>
          </a:xfrm>
          <a:prstGeom prst="roundRect">
            <a:avLst>
              <a:gd name="adj" fmla="val 3226"/>
            </a:avLst>
          </a:prstGeom>
          <a:solidFill>
            <a:srgbClr val="E9F4EE"/>
          </a:solidFill>
          <a:ln w="16510">
            <a:solidFill>
              <a:srgbClr val="2E8B57"/>
            </a:solidFill>
            <a:prstDash val="solid"/>
          </a:ln>
        </p:spPr>
      </p:sp>
      <p:sp>
        <p:nvSpPr>
          <p:cNvPr id="7" name="Text 4"/>
          <p:cNvSpPr/>
          <p:nvPr/>
        </p:nvSpPr>
        <p:spPr>
          <a:xfrm>
            <a:off x="704088" y="3968496"/>
            <a:ext cx="3200400" cy="274320"/>
          </a:xfrm>
          <a:prstGeom prst="rect">
            <a:avLst/>
          </a:prstGeom>
          <a:noFill/>
          <a:ln/>
        </p:spPr>
        <p:txBody>
          <a:bodyPr wrap="square" lIns="0" tIns="0" rIns="0" bIns="0" rtlCol="0" anchor="ctr"/>
          <a:lstStyle/>
          <a:p>
            <a:pPr indent="0" marL="0">
              <a:buNone/>
            </a:pPr>
            <a:r>
              <a:rPr lang="en-US" sz="1200" b="1" dirty="0">
                <a:solidFill>
                  <a:srgbClr val="2E8B57"/>
                </a:solidFill>
                <a:latin typeface="Arial" pitchFamily="34" charset="0"/>
                <a:ea typeface="Arial" pitchFamily="34" charset="-122"/>
                <a:cs typeface="Arial" pitchFamily="34" charset="-120"/>
              </a:rPr>
              <a:t>방해가 많을수록 이득이 커진다</a:t>
            </a:r>
            <a:endParaRPr lang="en-US" sz="1200" dirty="0"/>
          </a:p>
        </p:txBody>
      </p:sp>
      <p:sp>
        <p:nvSpPr>
          <p:cNvPr id="8" name="Text 5"/>
          <p:cNvSpPr/>
          <p:nvPr/>
        </p:nvSpPr>
        <p:spPr>
          <a:xfrm>
            <a:off x="704088" y="4352544"/>
            <a:ext cx="3200400" cy="548640"/>
          </a:xfrm>
          <a:prstGeom prst="rect">
            <a:avLst/>
          </a:prstGeom>
          <a:noFill/>
          <a:ln/>
        </p:spPr>
        <p:txBody>
          <a:bodyPr wrap="square" lIns="0" tIns="0" rIns="0" bIns="0" rtlCol="0" anchor="ctr"/>
          <a:lstStyle/>
          <a:p>
            <a:pPr algn="ctr" indent="0" marL="0">
              <a:buNone/>
            </a:pPr>
            <a:r>
              <a:rPr lang="en-US" sz="1700" b="1" dirty="0">
                <a:solidFill>
                  <a:srgbClr val="2E8B57"/>
                </a:solidFill>
                <a:latin typeface="Arial" pitchFamily="34" charset="0"/>
                <a:ea typeface="Arial" pitchFamily="34" charset="-122"/>
                <a:cs typeface="Arial" pitchFamily="34" charset="-120"/>
              </a:rPr>
              <a:t>+0.059  →  +0.168  →  +0.243</a:t>
            </a:r>
            <a:endParaRPr lang="en-US" sz="1700" dirty="0"/>
          </a:p>
        </p:txBody>
      </p:sp>
      <p:sp>
        <p:nvSpPr>
          <p:cNvPr id="9" name="Text 6"/>
          <p:cNvSpPr/>
          <p:nvPr/>
        </p:nvSpPr>
        <p:spPr>
          <a:xfrm>
            <a:off x="704088" y="4992624"/>
            <a:ext cx="320040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방해 1장 → 2장 → 3장 (3B)</a:t>
            </a:r>
            <a:endParaRPr lang="en-US" sz="1000" dirty="0"/>
          </a:p>
        </p:txBody>
      </p:sp>
      <p:sp>
        <p:nvSpPr>
          <p:cNvPr id="10" name="Shape 7"/>
          <p:cNvSpPr/>
          <p:nvPr/>
        </p:nvSpPr>
        <p:spPr>
          <a:xfrm>
            <a:off x="4270248" y="3840480"/>
            <a:ext cx="3611880" cy="1700784"/>
          </a:xfrm>
          <a:prstGeom prst="roundRect">
            <a:avLst>
              <a:gd name="adj" fmla="val 3226"/>
            </a:avLst>
          </a:prstGeom>
          <a:solidFill>
            <a:srgbClr val="E8F1FA"/>
          </a:solidFill>
          <a:ln w="16510">
            <a:solidFill>
              <a:srgbClr val="1F77B4"/>
            </a:solidFill>
            <a:prstDash val="solid"/>
          </a:ln>
        </p:spPr>
      </p:sp>
      <p:sp>
        <p:nvSpPr>
          <p:cNvPr id="11" name="Text 8"/>
          <p:cNvSpPr/>
          <p:nvPr/>
        </p:nvSpPr>
        <p:spPr>
          <a:xfrm>
            <a:off x="4471416" y="3968496"/>
            <a:ext cx="3200400" cy="274320"/>
          </a:xfrm>
          <a:prstGeom prst="rect">
            <a:avLst/>
          </a:prstGeom>
          <a:noFill/>
          <a:ln/>
        </p:spPr>
        <p:txBody>
          <a:bodyPr wrap="square" lIns="0" tIns="0" rIns="0" bIns="0" rtlCol="0" anchor="ctr"/>
          <a:lstStyle/>
          <a:p>
            <a:pPr indent="0" marL="0">
              <a:buNone/>
            </a:pPr>
            <a:r>
              <a:rPr lang="en-US" sz="1200" b="1" dirty="0">
                <a:solidFill>
                  <a:srgbClr val="1F77B4"/>
                </a:solidFill>
                <a:latin typeface="Arial" pitchFamily="34" charset="0"/>
                <a:ea typeface="Arial" pitchFamily="34" charset="-122"/>
                <a:cs typeface="Arial" pitchFamily="34" charset="-120"/>
              </a:rPr>
              <a:t>고정 임계값 정확도로 봐도</a:t>
            </a:r>
            <a:endParaRPr lang="en-US" sz="1200" dirty="0"/>
          </a:p>
        </p:txBody>
      </p:sp>
      <p:sp>
        <p:nvSpPr>
          <p:cNvPr id="12" name="Text 9"/>
          <p:cNvSpPr/>
          <p:nvPr/>
        </p:nvSpPr>
        <p:spPr>
          <a:xfrm>
            <a:off x="4471416" y="4352544"/>
            <a:ext cx="3200400" cy="548640"/>
          </a:xfrm>
          <a:prstGeom prst="rect">
            <a:avLst/>
          </a:prstGeom>
          <a:noFill/>
          <a:ln/>
        </p:spPr>
        <p:txBody>
          <a:bodyPr wrap="square" lIns="0" tIns="0" rIns="0" bIns="0" rtlCol="0" anchor="ctr"/>
          <a:lstStyle/>
          <a:p>
            <a:pPr algn="ctr" indent="0" marL="0">
              <a:buNone/>
            </a:pPr>
            <a:r>
              <a:rPr lang="en-US" sz="1700" b="1" dirty="0">
                <a:solidFill>
                  <a:srgbClr val="1F77B4"/>
                </a:solidFill>
                <a:latin typeface="Arial" pitchFamily="34" charset="0"/>
                <a:ea typeface="Arial" pitchFamily="34" charset="-122"/>
                <a:cs typeface="Arial" pitchFamily="34" charset="-120"/>
              </a:rPr>
              <a:t>0.477  →  0.697</a:t>
            </a:r>
            <a:endParaRPr lang="en-US" sz="1700" dirty="0"/>
          </a:p>
        </p:txBody>
      </p:sp>
      <p:sp>
        <p:nvSpPr>
          <p:cNvPr id="13" name="Text 10"/>
          <p:cNvSpPr/>
          <p:nvPr/>
        </p:nvSpPr>
        <p:spPr>
          <a:xfrm>
            <a:off x="4471416" y="4992624"/>
            <a:ext cx="320040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무개입 → 실현 (3B, 방해 3장)</a:t>
            </a:r>
            <a:endParaRPr lang="en-US" sz="1000" dirty="0"/>
          </a:p>
        </p:txBody>
      </p:sp>
      <p:sp>
        <p:nvSpPr>
          <p:cNvPr id="14" name="Shape 11"/>
          <p:cNvSpPr/>
          <p:nvPr/>
        </p:nvSpPr>
        <p:spPr>
          <a:xfrm>
            <a:off x="8037576" y="3840480"/>
            <a:ext cx="3611880" cy="1700784"/>
          </a:xfrm>
          <a:prstGeom prst="roundRect">
            <a:avLst>
              <a:gd name="adj" fmla="val 3226"/>
            </a:avLst>
          </a:prstGeom>
          <a:solidFill>
            <a:srgbClr val="FFF8E8"/>
          </a:solidFill>
          <a:ln w="16510">
            <a:solidFill>
              <a:srgbClr val="B06A00"/>
            </a:solidFill>
            <a:prstDash val="solid"/>
          </a:ln>
        </p:spPr>
      </p:sp>
      <p:sp>
        <p:nvSpPr>
          <p:cNvPr id="15" name="Text 12"/>
          <p:cNvSpPr/>
          <p:nvPr/>
        </p:nvSpPr>
        <p:spPr>
          <a:xfrm>
            <a:off x="8238744" y="3968496"/>
            <a:ext cx="3200400" cy="274320"/>
          </a:xfrm>
          <a:prstGeom prst="rect">
            <a:avLst/>
          </a:prstGeom>
          <a:noFill/>
          <a:ln/>
        </p:spPr>
        <p:txBody>
          <a:bodyPr wrap="square" lIns="0" tIns="0" rIns="0" bIns="0" rtlCol="0" anchor="ctr"/>
          <a:lstStyle/>
          <a:p>
            <a:pPr indent="0" marL="0">
              <a:buNone/>
            </a:pPr>
            <a:r>
              <a:rPr lang="en-US" sz="1200" b="1" dirty="0">
                <a:solidFill>
                  <a:srgbClr val="B06A00"/>
                </a:solidFill>
                <a:latin typeface="Arial" pitchFamily="34" charset="0"/>
                <a:ea typeface="Arial" pitchFamily="34" charset="-122"/>
                <a:cs typeface="Arial" pitchFamily="34" charset="-120"/>
              </a:rPr>
              <a:t>남은 격차는 전부 판별 오류</a:t>
            </a:r>
            <a:endParaRPr lang="en-US" sz="1200" dirty="0"/>
          </a:p>
        </p:txBody>
      </p:sp>
      <p:sp>
        <p:nvSpPr>
          <p:cNvPr id="16" name="Text 13"/>
          <p:cNvSpPr/>
          <p:nvPr/>
        </p:nvSpPr>
        <p:spPr>
          <a:xfrm>
            <a:off x="8238744" y="4352544"/>
            <a:ext cx="3200400" cy="548640"/>
          </a:xfrm>
          <a:prstGeom prst="rect">
            <a:avLst/>
          </a:prstGeom>
          <a:noFill/>
          <a:ln/>
        </p:spPr>
        <p:txBody>
          <a:bodyPr wrap="square" lIns="0" tIns="0" rIns="0" bIns="0" rtlCol="0" anchor="ctr"/>
          <a:lstStyle/>
          <a:p>
            <a:pPr algn="ctr" indent="0" marL="0">
              <a:buNone/>
            </a:pPr>
            <a:r>
              <a:rPr lang="en-US" sz="1700" b="1" dirty="0">
                <a:solidFill>
                  <a:srgbClr val="B06A00"/>
                </a:solidFill>
                <a:latin typeface="Arial" pitchFamily="34" charset="0"/>
                <a:ea typeface="Arial" pitchFamily="34" charset="-122"/>
                <a:cs typeface="Arial" pitchFamily="34" charset="-120"/>
              </a:rPr>
              <a:t>실현 0.764  vs  상한 0.903</a:t>
            </a:r>
            <a:endParaRPr lang="en-US" sz="1700" dirty="0"/>
          </a:p>
        </p:txBody>
      </p:sp>
      <p:sp>
        <p:nvSpPr>
          <p:cNvPr id="17" name="Text 14"/>
          <p:cNvSpPr/>
          <p:nvPr/>
        </p:nvSpPr>
        <p:spPr>
          <a:xfrm>
            <a:off x="8238744" y="4992624"/>
            <a:ext cx="320040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컨트롤러 판별 정확도 0.730</a:t>
            </a:r>
            <a:endParaRPr lang="en-US" sz="1000" dirty="0"/>
          </a:p>
        </p:txBody>
      </p:sp>
      <p:sp>
        <p:nvSpPr>
          <p:cNvPr id="18" name="Text 15"/>
          <p:cNvSpPr/>
          <p:nvPr/>
        </p:nvSpPr>
        <p:spPr>
          <a:xfrm>
            <a:off x="704088" y="5266944"/>
            <a:ext cx="3200400" cy="219456"/>
          </a:xfrm>
          <a:prstGeom prst="rect">
            <a:avLst/>
          </a:prstGeom>
          <a:noFill/>
          <a:ln/>
        </p:spPr>
        <p:txBody>
          <a:bodyPr wrap="square" lIns="0" tIns="0" rIns="0" bIns="0" rtlCol="0" anchor="ctr"/>
          <a:lstStyle/>
          <a:p>
            <a:pPr algn="ctr" indent="0" marL="0">
              <a:buNone/>
            </a:pPr>
            <a:r>
              <a:rPr lang="en-US" sz="950" i="1" dirty="0">
                <a:solidFill>
                  <a:srgbClr val="6B7280"/>
                </a:solidFill>
                <a:latin typeface="Arial" pitchFamily="34" charset="0"/>
                <a:ea typeface="Arial" pitchFamily="34" charset="-122"/>
                <a:cs typeface="Arial" pitchFamily="34" charset="-120"/>
              </a:rPr>
              <a:t>"예" 응답 편향도 0.610 → 0.517로 함께 교정됩니다</a:t>
            </a:r>
            <a:endParaRPr lang="en-US" sz="950" dirty="0"/>
          </a:p>
        </p:txBody>
      </p:sp>
      <p:sp>
        <p:nvSpPr>
          <p:cNvPr id="19" name="Text 16"/>
          <p:cNvSpPr/>
          <p:nvPr/>
        </p:nvSpPr>
        <p:spPr>
          <a:xfrm>
            <a:off x="8129016" y="5266944"/>
            <a:ext cx="3200400" cy="219456"/>
          </a:xfrm>
          <a:prstGeom prst="rect">
            <a:avLst/>
          </a:prstGeom>
          <a:noFill/>
          <a:ln/>
        </p:spPr>
        <p:txBody>
          <a:bodyPr wrap="square" lIns="0" tIns="0" rIns="0" bIns="0" rtlCol="0" anchor="ctr"/>
          <a:lstStyle/>
          <a:p>
            <a:pPr algn="ctr" indent="0" marL="0">
              <a:buNone/>
            </a:pPr>
            <a:r>
              <a:rPr lang="en-US" sz="950" i="1" dirty="0">
                <a:solidFill>
                  <a:srgbClr val="6B7280"/>
                </a:solidFill>
                <a:latin typeface="Arial" pitchFamily="34" charset="0"/>
                <a:ea typeface="Arial" pitchFamily="34" charset="-122"/>
                <a:cs typeface="Arial" pitchFamily="34" charset="-120"/>
              </a:rPr>
              <a:t>여기를 줄이는 것이 남은 최대 이득</a:t>
            </a:r>
            <a:endParaRPr lang="en-US" sz="950" dirty="0"/>
          </a:p>
        </p:txBody>
      </p:sp>
      <p:sp>
        <p:nvSpPr>
          <p:cNvPr id="20" name="Shape 17"/>
          <p:cNvSpPr/>
          <p:nvPr/>
        </p:nvSpPr>
        <p:spPr>
          <a:xfrm>
            <a:off x="502920" y="6053328"/>
            <a:ext cx="11201400" cy="548640"/>
          </a:xfrm>
          <a:prstGeom prst="roundRect">
            <a:avLst>
              <a:gd name="adj" fmla="val 13333"/>
            </a:avLst>
          </a:prstGeom>
          <a:solidFill>
            <a:srgbClr val="2E8B57"/>
          </a:solidFill>
          <a:ln/>
        </p:spPr>
      </p:sp>
      <p:sp>
        <p:nvSpPr>
          <p:cNvPr id="21" name="Text 18"/>
          <p:cNvSpPr/>
          <p:nvPr/>
        </p:nvSpPr>
        <p:spPr>
          <a:xfrm>
            <a:off x="777240" y="6053328"/>
            <a:ext cx="10744200" cy="54864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6조건 중 5조건 유의. 이 표가 논문의 헤드라인이 됩니다</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19456"/>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근거 ③ — 기존 연구보다 나은 점이 있는가</a:t>
            </a:r>
            <a:endParaRPr lang="en-US" sz="1100" dirty="0"/>
          </a:p>
        </p:txBody>
      </p:sp>
      <p:sp>
        <p:nvSpPr>
          <p:cNvPr id="3" name="Text 1"/>
          <p:cNvSpPr/>
          <p:nvPr/>
        </p:nvSpPr>
        <p:spPr>
          <a:xfrm>
            <a:off x="502920" y="475488"/>
            <a:ext cx="11155680" cy="658368"/>
          </a:xfrm>
          <a:prstGeom prst="rect">
            <a:avLst/>
          </a:prstGeom>
          <a:noFill/>
          <a:ln/>
        </p:spPr>
        <p:txBody>
          <a:bodyPr wrap="square" lIns="0" tIns="0" rIns="0" bIns="0" rtlCol="0" anchor="ctr"/>
          <a:lstStyle/>
          <a:p>
            <a:pPr indent="0" marL="0">
              <a:buNone/>
            </a:pPr>
            <a:r>
              <a:rPr lang="en-US" sz="2100" b="1" dirty="0">
                <a:solidFill>
                  <a:srgbClr val="1F3B57"/>
                </a:solidFill>
                <a:latin typeface="Arial" pitchFamily="34" charset="0"/>
                <a:ea typeface="Arial" pitchFamily="34" charset="-122"/>
                <a:cs typeface="Arial" pitchFamily="34" charset="-120"/>
              </a:rPr>
              <a:t>같은 레시피에서 개입 수단만 바꿔 비교했습니다</a:t>
            </a:r>
            <a:endParaRPr lang="en-US" sz="2100" dirty="0"/>
          </a:p>
        </p:txBody>
      </p:sp>
      <p:sp>
        <p:nvSpPr>
          <p:cNvPr id="4" name="Text 2"/>
          <p:cNvSpPr/>
          <p:nvPr/>
        </p:nvSpPr>
        <p:spPr>
          <a:xfrm>
            <a:off x="502920" y="1152144"/>
            <a:ext cx="11201400" cy="274320"/>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FOCUS와 한 번도 비교하지 못했습니다. 같은 문항·같은 N+1 반사실 논리에서 개입 수단만 교체했습니다.</a:t>
            </a:r>
            <a:endParaRPr lang="en-US" sz="1150" dirty="0"/>
          </a:p>
        </p:txBody>
      </p:sp>
      <p:sp>
        <p:nvSpPr>
          <p:cNvPr id="5" name="Shape 3"/>
          <p:cNvSpPr/>
          <p:nvPr/>
        </p:nvSpPr>
        <p:spPr>
          <a:xfrm>
            <a:off x="502920" y="1499616"/>
            <a:ext cx="5532120" cy="1920240"/>
          </a:xfrm>
          <a:prstGeom prst="roundRect">
            <a:avLst>
              <a:gd name="adj" fmla="val 2857"/>
            </a:avLst>
          </a:prstGeom>
          <a:solidFill>
            <a:srgbClr val="E9F4EE"/>
          </a:solidFill>
          <a:ln w="17780">
            <a:solidFill>
              <a:srgbClr val="2E8B57"/>
            </a:solidFill>
            <a:prstDash val="solid"/>
          </a:ln>
        </p:spPr>
      </p:sp>
      <p:sp>
        <p:nvSpPr>
          <p:cNvPr id="6" name="Text 4"/>
          <p:cNvSpPr/>
          <p:nvPr/>
        </p:nvSpPr>
        <p:spPr>
          <a:xfrm>
            <a:off x="713232" y="1627632"/>
            <a:ext cx="5120640" cy="274320"/>
          </a:xfrm>
          <a:prstGeom prst="rect">
            <a:avLst/>
          </a:prstGeom>
          <a:noFill/>
          <a:ln/>
        </p:spPr>
        <p:txBody>
          <a:bodyPr wrap="square" lIns="0" tIns="0" rIns="0" bIns="0" rtlCol="0" anchor="ctr"/>
          <a:lstStyle/>
          <a:p>
            <a:pPr indent="0" marL="0">
              <a:buNone/>
            </a:pPr>
            <a:r>
              <a:rPr lang="en-US" sz="1300" b="1" dirty="0">
                <a:solidFill>
                  <a:srgbClr val="2E8B57"/>
                </a:solidFill>
                <a:latin typeface="Arial" pitchFamily="34" charset="0"/>
                <a:ea typeface="Arial" pitchFamily="34" charset="-122"/>
                <a:cs typeface="Arial" pitchFamily="34" charset="-120"/>
              </a:rPr>
              <a:t>우위가 확인된 지점 — 판별 단계</a:t>
            </a:r>
            <a:endParaRPr lang="en-US" sz="1300" dirty="0"/>
          </a:p>
        </p:txBody>
      </p:sp>
      <p:sp>
        <p:nvSpPr>
          <p:cNvPr id="7" name="Text 5"/>
          <p:cNvSpPr/>
          <p:nvPr/>
        </p:nvSpPr>
        <p:spPr>
          <a:xfrm>
            <a:off x="713232" y="1920240"/>
            <a:ext cx="5120640" cy="237744"/>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"어느 사진이 방해인가"를 맞히는 정확도</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2212848"/>
          <a:ext cx="4983480" cy="914400"/>
        </p:xfrm>
        <a:graphic>
          <a:graphicData uri="http://schemas.openxmlformats.org/drawingml/2006/table">
            <a:tbl>
              <a:tblPr/>
              <a:tblGrid>
                <a:gridCol w="1661160"/>
                <a:gridCol w="1661160"/>
                <a:gridCol w="1661160"/>
              </a:tblGrid>
              <a:tr h="274320">
                <a:tc>
                  <a:txBody>
                    <a:bodyPr/>
                    <a:lstStyle/>
                    <a:p>
                      <a:pPr algn="ctr" indent="0" marL="0">
                        <a:buNone/>
                      </a:pP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우리 (마스킹)</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FOCUS식 (픽셀 노이즈)</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274320">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3B</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8B57"/>
                          </a:solidFill>
                          <a:latin typeface="Arial" pitchFamily="34" charset="0"/>
                          <a:ea typeface="Arial" pitchFamily="34" charset="-122"/>
                          <a:cs typeface="Arial" pitchFamily="34" charset="-120"/>
                        </a:rPr>
                        <a:t>0.730</a:t>
                      </a:r>
                      <a:endParaRPr lang="en-US" sz="12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0.637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274320">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7B</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8B57"/>
                          </a:solidFill>
                          <a:latin typeface="Arial" pitchFamily="34" charset="0"/>
                          <a:ea typeface="Arial" pitchFamily="34" charset="-122"/>
                          <a:cs typeface="Arial" pitchFamily="34" charset="-120"/>
                        </a:rPr>
                        <a:t>0.937</a:t>
                      </a:r>
                      <a:endParaRPr lang="en-US" sz="12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0.817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Text 6"/>
          <p:cNvSpPr/>
          <p:nvPr/>
        </p:nvSpPr>
        <p:spPr>
          <a:xfrm>
            <a:off x="777240" y="3072384"/>
            <a:ext cx="4983480" cy="292608"/>
          </a:xfrm>
          <a:prstGeom prst="rect">
            <a:avLst/>
          </a:prstGeom>
          <a:noFill/>
          <a:ln/>
        </p:spPr>
        <p:txBody>
          <a:bodyPr wrap="square" lIns="0" tIns="0" rIns="0" bIns="0" rtlCol="0" anchor="ctr"/>
          <a:lstStyle/>
          <a:p>
            <a:pPr indent="0" marL="0">
              <a:lnSpc>
                <a:spcPct val="115000"/>
              </a:lnSpc>
              <a:buNone/>
            </a:pPr>
            <a:r>
              <a:rPr lang="en-US" sz="1050" dirty="0">
                <a:solidFill>
                  <a:srgbClr val="1F3B57"/>
                </a:solidFill>
                <a:latin typeface="Arial" pitchFamily="34" charset="0"/>
                <a:ea typeface="Arial" pitchFamily="34" charset="-122"/>
                <a:cs typeface="Arial" pitchFamily="34" charset="-120"/>
              </a:rPr>
              <a:t>노이즈는 입력 분포 밖으로 나가는 거친 교란이고,</a:t>
            </a:r>
            <a:endParaRPr lang="en-US" sz="1050" dirty="0"/>
          </a:p>
          <a:p>
            <a:pPr indent="0" marL="0">
              <a:lnSpc>
                <a:spcPct val="115000"/>
              </a:lnSpc>
              <a:buNone/>
            </a:pPr>
            <a:r>
              <a:rPr lang="en-US" sz="1050" dirty="0">
                <a:solidFill>
                  <a:srgbClr val="1F3B57"/>
                </a:solidFill>
                <a:latin typeface="Arial" pitchFamily="34" charset="0"/>
                <a:ea typeface="Arial" pitchFamily="34" charset="-122"/>
                <a:cs typeface="Arial" pitchFamily="34" charset="-120"/>
              </a:rPr>
              <a:t>마스킹은 깨끗한 인과 절제입니다. 두 스케일 모두 일관.</a:t>
            </a:r>
            <a:endParaRPr lang="en-US" sz="1050" dirty="0"/>
          </a:p>
        </p:txBody>
      </p:sp>
      <p:sp>
        <p:nvSpPr>
          <p:cNvPr id="10" name="Shape 7"/>
          <p:cNvSpPr/>
          <p:nvPr/>
        </p:nvSpPr>
        <p:spPr>
          <a:xfrm>
            <a:off x="6199632" y="1499616"/>
            <a:ext cx="5504688" cy="1920240"/>
          </a:xfrm>
          <a:prstGeom prst="roundRect">
            <a:avLst>
              <a:gd name="adj" fmla="val 2857"/>
            </a:avLst>
          </a:prstGeom>
          <a:solidFill>
            <a:srgbClr val="FFF8E8"/>
          </a:solidFill>
          <a:ln w="17780">
            <a:solidFill>
              <a:srgbClr val="B06A00"/>
            </a:solidFill>
            <a:prstDash val="solid"/>
          </a:ln>
        </p:spPr>
      </p:sp>
      <p:sp>
        <p:nvSpPr>
          <p:cNvPr id="11" name="Text 8"/>
          <p:cNvSpPr/>
          <p:nvPr/>
        </p:nvSpPr>
        <p:spPr>
          <a:xfrm>
            <a:off x="6409944" y="1627632"/>
            <a:ext cx="5120640" cy="274320"/>
          </a:xfrm>
          <a:prstGeom prst="rect">
            <a:avLst/>
          </a:prstGeom>
          <a:noFill/>
          <a:ln/>
        </p:spPr>
        <p:txBody>
          <a:bodyPr wrap="square" lIns="0" tIns="0" rIns="0" bIns="0" rtlCol="0" anchor="ctr"/>
          <a:lstStyle/>
          <a:p>
            <a:pPr indent="0" marL="0">
              <a:buNone/>
            </a:pPr>
            <a:r>
              <a:rPr lang="en-US" sz="1300" b="1" dirty="0">
                <a:solidFill>
                  <a:srgbClr val="B06A00"/>
                </a:solidFill>
                <a:latin typeface="Arial" pitchFamily="34" charset="0"/>
                <a:ea typeface="Arial" pitchFamily="34" charset="-122"/>
                <a:cs typeface="Arial" pitchFamily="34" charset="-120"/>
              </a:rPr>
              <a:t>정정 — 개입 단계에서는 차이가 없습니다</a:t>
            </a:r>
            <a:endParaRPr lang="en-US" sz="1300" dirty="0"/>
          </a:p>
        </p:txBody>
      </p:sp>
      <p:sp>
        <p:nvSpPr>
          <p:cNvPr id="12" name="Text 9"/>
          <p:cNvSpPr/>
          <p:nvPr/>
        </p:nvSpPr>
        <p:spPr>
          <a:xfrm>
            <a:off x="6409944" y="1920240"/>
            <a:ext cx="5120640" cy="237744"/>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두 방법이 모두 방해 사진을 맞게 고른 문항만 비교하면:</a:t>
            </a:r>
            <a:endParaRPr lang="en-US" sz="105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409944" y="2212848"/>
          <a:ext cx="5074920" cy="914400"/>
        </p:xfrm>
        <a:graphic>
          <a:graphicData uri="http://schemas.openxmlformats.org/drawingml/2006/table">
            <a:tbl>
              <a:tblPr/>
              <a:tblGrid>
                <a:gridCol w="1268730"/>
                <a:gridCol w="1268730"/>
                <a:gridCol w="1268730"/>
                <a:gridCol w="1268730"/>
              </a:tblGrid>
              <a:tr h="274320">
                <a:tc>
                  <a:txBody>
                    <a:bodyPr/>
                    <a:lstStyle/>
                    <a:p>
                      <a:pPr algn="ctr" indent="0" marL="0">
                        <a:buNone/>
                      </a:pP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우리</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FOCUS식</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차이 95%CI</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274320">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3B N=3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0.9423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0.9398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B06A00"/>
                          </a:solidFill>
                          <a:latin typeface="Arial" pitchFamily="34" charset="0"/>
                          <a:ea typeface="Arial" pitchFamily="34" charset="-122"/>
                          <a:cs typeface="Arial" pitchFamily="34" charset="-120"/>
                        </a:rPr>
                        <a:t>[−0.008,+0.014]</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274320">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7B N=3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0.9153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0.9083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B06A00"/>
                          </a:solidFill>
                          <a:latin typeface="Arial" pitchFamily="34" charset="0"/>
                          <a:ea typeface="Arial" pitchFamily="34" charset="-122"/>
                          <a:cs typeface="Arial" pitchFamily="34" charset="-120"/>
                        </a:rPr>
                        <a:t>[−0.005,+0.020]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14" name="Text 10"/>
          <p:cNvSpPr/>
          <p:nvPr/>
        </p:nvSpPr>
        <p:spPr>
          <a:xfrm>
            <a:off x="6409944" y="3072384"/>
            <a:ext cx="5074920" cy="292608"/>
          </a:xfrm>
          <a:prstGeom prst="rect">
            <a:avLst/>
          </a:prstGeom>
          <a:noFill/>
          <a:ln/>
        </p:spPr>
        <p:txBody>
          <a:bodyPr wrap="square" lIns="0" tIns="0" rIns="0" bIns="0" rtlCol="0" anchor="ctr"/>
          <a:lstStyle/>
          <a:p>
            <a:pPr indent="0" marL="0">
              <a:lnSpc>
                <a:spcPct val="115000"/>
              </a:lnSpc>
              <a:buNone/>
            </a:pPr>
            <a:r>
              <a:rPr lang="en-US" sz="1050" b="1" dirty="0">
                <a:solidFill>
                  <a:srgbClr val="B06A00"/>
                </a:solidFill>
                <a:latin typeface="Arial" pitchFamily="34" charset="0"/>
                <a:ea typeface="Arial" pitchFamily="34" charset="-122"/>
                <a:cs typeface="Arial" pitchFamily="34" charset="-120"/>
              </a:rPr>
              <a:t>→ 전체 우위(3B +0.117~+0.210)는 판별 정확도 차이에서</a:t>
            </a:r>
            <a:endParaRPr lang="en-US" sz="1050" dirty="0"/>
          </a:p>
          <a:p>
            <a:pPr indent="0" marL="0">
              <a:lnSpc>
                <a:spcPct val="115000"/>
              </a:lnSpc>
              <a:buNone/>
            </a:pPr>
            <a:r>
              <a:rPr lang="en-US" sz="1050" b="1" dirty="0">
                <a:solidFill>
                  <a:srgbClr val="B06A00"/>
                </a:solidFill>
                <a:latin typeface="Arial" pitchFamily="34" charset="0"/>
                <a:ea typeface="Arial" pitchFamily="34" charset="-122"/>
                <a:cs typeface="Arial" pitchFamily="34" charset="-120"/>
              </a:rPr>
              <a:t>   나온 것이고, 고치는 방식 자체는 동급입니다.</a:t>
            </a:r>
            <a:endParaRPr lang="en-US" sz="1050" dirty="0"/>
          </a:p>
        </p:txBody>
      </p:sp>
      <p:sp>
        <p:nvSpPr>
          <p:cNvPr id="15" name="Shape 11"/>
          <p:cNvSpPr/>
          <p:nvPr/>
        </p:nvSpPr>
        <p:spPr>
          <a:xfrm>
            <a:off x="502920" y="3584448"/>
            <a:ext cx="11201400" cy="1060704"/>
          </a:xfrm>
          <a:prstGeom prst="roundRect">
            <a:avLst>
              <a:gd name="adj" fmla="val 5172"/>
            </a:avLst>
          </a:prstGeom>
          <a:solidFill>
            <a:srgbClr val="E8F1FA"/>
          </a:solidFill>
          <a:ln w="17780">
            <a:solidFill>
              <a:srgbClr val="1F77B4"/>
            </a:solidFill>
            <a:prstDash val="solid"/>
          </a:ln>
        </p:spPr>
      </p:sp>
      <p:sp>
        <p:nvSpPr>
          <p:cNvPr id="16" name="Text 12"/>
          <p:cNvSpPr/>
          <p:nvPr/>
        </p:nvSpPr>
        <p:spPr>
          <a:xfrm>
            <a:off x="777240" y="3694176"/>
            <a:ext cx="10698480" cy="274320"/>
          </a:xfrm>
          <a:prstGeom prst="rect">
            <a:avLst/>
          </a:prstGeom>
          <a:noFill/>
          <a:ln/>
        </p:spPr>
        <p:txBody>
          <a:bodyPr wrap="square" lIns="0" tIns="0" rIns="0" bIns="0" rtlCol="0" anchor="ctr"/>
          <a:lstStyle/>
          <a:p>
            <a:pPr indent="0" marL="0">
              <a:buNone/>
            </a:pPr>
            <a:r>
              <a:rPr lang="en-US" sz="1300" b="1" dirty="0">
                <a:solidFill>
                  <a:srgbClr val="1F77B4"/>
                </a:solidFill>
                <a:latin typeface="Arial" pitchFamily="34" charset="0"/>
                <a:ea typeface="Arial" pitchFamily="34" charset="-122"/>
                <a:cs typeface="Arial" pitchFamily="34" charset="-120"/>
              </a:rPr>
              <a:t>그래서 주장을 이렇게 좁힙니다</a:t>
            </a:r>
            <a:endParaRPr lang="en-US" sz="1300" dirty="0"/>
          </a:p>
        </p:txBody>
      </p:sp>
      <p:sp>
        <p:nvSpPr>
          <p:cNvPr id="17" name="Text 13"/>
          <p:cNvSpPr/>
          <p:nvPr/>
        </p:nvSpPr>
        <p:spPr>
          <a:xfrm>
            <a:off x="777240" y="4005072"/>
            <a:ext cx="10698480" cy="292608"/>
          </a:xfrm>
          <a:prstGeom prst="rect">
            <a:avLst/>
          </a:prstGeom>
          <a:noFill/>
          <a:ln/>
        </p:spPr>
        <p:txBody>
          <a:bodyPr wrap="square" lIns="0" tIns="0" rIns="0" bIns="0" rtlCol="0" anchor="ctr"/>
          <a:lstStyle/>
          <a:p>
            <a:pPr indent="0" marL="0">
              <a:buNone/>
            </a:pPr>
            <a:r>
              <a:rPr lang="en-US" sz="1300" b="1" dirty="0">
                <a:solidFill>
                  <a:srgbClr val="1F3B57"/>
                </a:solidFill>
                <a:latin typeface="Arial" pitchFamily="34" charset="0"/>
                <a:ea typeface="Arial" pitchFamily="34" charset="-122"/>
                <a:cs typeface="Arial" pitchFamily="34" charset="-120"/>
              </a:rPr>
              <a:t>"우리 개입이 더 낫다"  (X)   →   "마스킹 기반 반사실이 픽셀 노이즈보다 정확한 판별자다"  (O)</a:t>
            </a:r>
            <a:endParaRPr lang="en-US" sz="1300" dirty="0"/>
          </a:p>
        </p:txBody>
      </p:sp>
      <p:sp>
        <p:nvSpPr>
          <p:cNvPr id="18" name="Text 14"/>
          <p:cNvSpPr/>
          <p:nvPr/>
        </p:nvSpPr>
        <p:spPr>
          <a:xfrm>
            <a:off x="777240" y="4334256"/>
            <a:ext cx="10698480" cy="256032"/>
          </a:xfrm>
          <a:prstGeom prst="rect">
            <a:avLst/>
          </a:prstGeom>
          <a:noFill/>
          <a:ln/>
        </p:spPr>
        <p:txBody>
          <a:bodyPr wrap="square" lIns="0" tIns="0" rIns="0" bIns="0" rtlCol="0" anchor="ctr"/>
          <a:lstStyle/>
          <a:p>
            <a:pPr indent="0" marL="0">
              <a:buNone/>
            </a:pPr>
            <a:r>
              <a:rPr lang="en-US" sz="1050" dirty="0">
                <a:solidFill>
                  <a:srgbClr val="1F3B57"/>
                </a:solidFill>
                <a:latin typeface="Arial" pitchFamily="34" charset="0"/>
                <a:ea typeface="Arial" pitchFamily="34" charset="-122"/>
                <a:cs typeface="Arial" pitchFamily="34" charset="-120"/>
              </a:rPr>
              <a:t>그리고 판별과 개입에 같은 수단(attention 마스크)을 쓰기 때문에, 이미지 인코딩(비용의 66%)을 N+1회 전부 재사용할 수 있습니다 — 픽셀을 바꾸는 방식은 매번 다시 인코딩해야 합니다.</a:t>
            </a:r>
            <a:endParaRPr lang="en-US" sz="1050" dirty="0"/>
          </a:p>
        </p:txBody>
      </p:sp>
      <p:sp>
        <p:nvSpPr>
          <p:cNvPr id="19" name="Shape 15"/>
          <p:cNvSpPr/>
          <p:nvPr/>
        </p:nvSpPr>
        <p:spPr>
          <a:xfrm>
            <a:off x="502920" y="4791456"/>
            <a:ext cx="11201400" cy="731520"/>
          </a:xfrm>
          <a:prstGeom prst="roundRect">
            <a:avLst>
              <a:gd name="adj" fmla="val 7500"/>
            </a:avLst>
          </a:prstGeom>
          <a:solidFill>
            <a:srgbClr val="EFF4F9"/>
          </a:solidFill>
          <a:ln w="12700">
            <a:solidFill>
              <a:srgbClr val="D5DEE8"/>
            </a:solidFill>
            <a:prstDash val="solid"/>
          </a:ln>
        </p:spPr>
      </p:sp>
      <p:sp>
        <p:nvSpPr>
          <p:cNvPr id="20" name="Text 16"/>
          <p:cNvSpPr/>
          <p:nvPr/>
        </p:nvSpPr>
        <p:spPr>
          <a:xfrm>
            <a:off x="777240" y="4791456"/>
            <a:ext cx="10698480" cy="731520"/>
          </a:xfrm>
          <a:prstGeom prst="rect">
            <a:avLst/>
          </a:prstGeom>
          <a:noFill/>
          <a:ln/>
        </p:spPr>
        <p:txBody>
          <a:bodyPr wrap="square" lIns="0" tIns="0" rIns="0" bIns="0" rtlCol="0" anchor="ctr"/>
          <a:lstStyle/>
          <a:p>
            <a:pPr indent="0" marL="0">
              <a:lnSpc>
                <a:spcPct val="120000"/>
              </a:lnSpc>
              <a:buNone/>
            </a:pPr>
            <a:r>
              <a:rPr lang="en-US" sz="1050" dirty="0">
                <a:solidFill>
                  <a:srgbClr val="1F3B57"/>
                </a:solidFill>
                <a:latin typeface="Arial" pitchFamily="34" charset="0"/>
                <a:ea typeface="Arial" pitchFamily="34" charset="-122"/>
                <a:cs typeface="Arial" pitchFamily="34" charset="-120"/>
              </a:rPr>
              <a:t>정직하게 붙이는 조건:  원 논문 하이퍼파라미터를 그대로 옮긴 재현이 아니라 "N+1 반사실 + 개입 수단"만 통제한 비교입니다.</a:t>
            </a:r>
            <a:endParaRPr lang="en-US" sz="1050" dirty="0"/>
          </a:p>
          <a:p>
            <a:pPr indent="0" marL="0">
              <a:lnSpc>
                <a:spcPct val="120000"/>
              </a:lnSpc>
              <a:buNone/>
            </a:pPr>
            <a:r>
              <a:rPr lang="en-US" sz="1050" dirty="0">
                <a:solidFill>
                  <a:srgbClr val="1F3B57"/>
                </a:solidFill>
                <a:latin typeface="Arial" pitchFamily="34" charset="0"/>
                <a:ea typeface="Arial" pitchFamily="34" charset="-122"/>
                <a:cs typeface="Arial" pitchFamily="34" charset="-120"/>
              </a:rPr>
              <a:t>인코딩 재사용은 아직 구현하지 않았으므로 "더 빠르다"는 주장하지 않습니다.</a:t>
            </a:r>
            <a:endParaRPr lang="en-US" sz="1050" dirty="0"/>
          </a:p>
        </p:txBody>
      </p:sp>
      <p:sp>
        <p:nvSpPr>
          <p:cNvPr id="21" name="Shape 17"/>
          <p:cNvSpPr/>
          <p:nvPr/>
        </p:nvSpPr>
        <p:spPr>
          <a:xfrm>
            <a:off x="502920" y="6053328"/>
            <a:ext cx="11201400" cy="548640"/>
          </a:xfrm>
          <a:prstGeom prst="roundRect">
            <a:avLst>
              <a:gd name="adj" fmla="val 13333"/>
            </a:avLst>
          </a:prstGeom>
          <a:solidFill>
            <a:srgbClr val="1F77B4"/>
          </a:solidFill>
          <a:ln/>
        </p:spPr>
      </p:sp>
      <p:sp>
        <p:nvSpPr>
          <p:cNvPr id="22" name="Text 18"/>
          <p:cNvSpPr/>
          <p:nvPr/>
        </p:nvSpPr>
        <p:spPr>
          <a:xfrm>
            <a:off x="777240" y="6053328"/>
            <a:ext cx="10744200" cy="54864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우위 지점이 어디인지 정확히 특정했습니다. 이게 논문의 주장 범위가 됩니다</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19456"/>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검증 태도 — 유리한 결과를 스스로 분해했습니다</a:t>
            </a:r>
            <a:endParaRPr lang="en-US" sz="1100" dirty="0"/>
          </a:p>
        </p:txBody>
      </p:sp>
      <p:sp>
        <p:nvSpPr>
          <p:cNvPr id="3" name="Text 1"/>
          <p:cNvSpPr/>
          <p:nvPr/>
        </p:nvSpPr>
        <p:spPr>
          <a:xfrm>
            <a:off x="502920" y="475488"/>
            <a:ext cx="11155680" cy="658368"/>
          </a:xfrm>
          <a:prstGeom prst="rect">
            <a:avLst/>
          </a:prstGeom>
          <a:noFill/>
          <a:ln/>
        </p:spPr>
        <p:txBody>
          <a:bodyPr wrap="square" lIns="0" tIns="0" rIns="0" bIns="0" rtlCol="0" anchor="ctr"/>
          <a:lstStyle/>
          <a:p>
            <a:pPr indent="0" marL="0">
              <a:buNone/>
            </a:pPr>
            <a:r>
              <a:rPr lang="en-US" sz="2100" b="1" dirty="0">
                <a:solidFill>
                  <a:srgbClr val="1F3B57"/>
                </a:solidFill>
                <a:latin typeface="Arial" pitchFamily="34" charset="0"/>
                <a:ea typeface="Arial" pitchFamily="34" charset="-122"/>
                <a:cs typeface="Arial" pitchFamily="34" charset="-120"/>
              </a:rPr>
              <a:t>처음엔 더 좋아 보였는데, 쪼개보니 조건부였습니다</a:t>
            </a:r>
            <a:endParaRPr lang="en-US" sz="2100" dirty="0"/>
          </a:p>
        </p:txBody>
      </p:sp>
      <p:sp>
        <p:nvSpPr>
          <p:cNvPr id="4" name="Shape 2"/>
          <p:cNvSpPr/>
          <p:nvPr/>
        </p:nvSpPr>
        <p:spPr>
          <a:xfrm>
            <a:off x="502920" y="1188720"/>
            <a:ext cx="11201400" cy="2103120"/>
          </a:xfrm>
          <a:prstGeom prst="roundRect">
            <a:avLst>
              <a:gd name="adj" fmla="val 2609"/>
            </a:avLst>
          </a:prstGeom>
          <a:solidFill>
            <a:srgbClr val="FFF8E8"/>
          </a:solidFill>
          <a:ln w="17780">
            <a:solidFill>
              <a:srgbClr val="B06A00"/>
            </a:solidFill>
            <a:prstDash val="solid"/>
          </a:ln>
        </p:spPr>
      </p:sp>
      <p:sp>
        <p:nvSpPr>
          <p:cNvPr id="5" name="Text 3"/>
          <p:cNvSpPr/>
          <p:nvPr/>
        </p:nvSpPr>
        <p:spPr>
          <a:xfrm>
            <a:off x="777240" y="1316736"/>
            <a:ext cx="10698480" cy="274320"/>
          </a:xfrm>
          <a:prstGeom prst="rect">
            <a:avLst/>
          </a:prstGeom>
          <a:noFill/>
          <a:ln/>
        </p:spPr>
        <p:txBody>
          <a:bodyPr wrap="square" lIns="0" tIns="0" rIns="0" bIns="0" rtlCol="0" anchor="ctr"/>
          <a:lstStyle/>
          <a:p>
            <a:pPr indent="0" marL="0">
              <a:buNone/>
            </a:pPr>
            <a:r>
              <a:rPr lang="en-US" sz="1400" b="1" dirty="0">
                <a:solidFill>
                  <a:srgbClr val="B06A00"/>
                </a:solidFill>
                <a:latin typeface="Arial" pitchFamily="34" charset="0"/>
                <a:ea typeface="Arial" pitchFamily="34" charset="-122"/>
                <a:cs typeface="Arial" pitchFamily="34" charset="-120"/>
              </a:rPr>
              <a:t>정정 — "읽기만 차단"이 "통째 삭제"보다 낫다는 주장</a:t>
            </a:r>
            <a:endParaRPr lang="en-US" sz="1400" dirty="0"/>
          </a:p>
        </p:txBody>
      </p:sp>
      <p:sp>
        <p:nvSpPr>
          <p:cNvPr id="6" name="Text 4"/>
          <p:cNvSpPr/>
          <p:nvPr/>
        </p:nvSpPr>
        <p:spPr>
          <a:xfrm>
            <a:off x="777240" y="1627632"/>
            <a:ext cx="10698480" cy="256032"/>
          </a:xfrm>
          <a:prstGeom prst="rect">
            <a:avLst/>
          </a:prstGeom>
          <a:noFill/>
          <a:ln/>
        </p:spPr>
        <p:txBody>
          <a:bodyPr wrap="square" lIns="0" tIns="0" rIns="0" bIns="0" rtlCol="0" anchor="ctr"/>
          <a:lstStyle/>
          <a:p>
            <a:pPr indent="0" marL="0">
              <a:buNone/>
            </a:pPr>
            <a:r>
              <a:rPr lang="en-US" sz="1150" dirty="0">
                <a:solidFill>
                  <a:srgbClr val="1F3B57"/>
                </a:solidFill>
                <a:latin typeface="Arial" pitchFamily="34" charset="0"/>
                <a:ea typeface="Arial" pitchFamily="34" charset="-122"/>
                <a:cs typeface="Arial" pitchFamily="34" charset="-120"/>
              </a:rPr>
              <a:t>전체로 보면 0.7643 vs 0.6472 로 유의하게 좋았습니다. 그런데 판별 성공/실패로 나눠보니:</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1956816"/>
          <a:ext cx="10698480" cy="914400"/>
        </p:xfrm>
        <a:graphic>
          <a:graphicData uri="http://schemas.openxmlformats.org/drawingml/2006/table">
            <a:tbl>
              <a:tblPr/>
              <a:tblGrid>
                <a:gridCol w="2674620"/>
                <a:gridCol w="2674620"/>
                <a:gridCol w="2674620"/>
                <a:gridCol w="2674620"/>
              </a:tblGrid>
              <a:tr h="292608">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3B · 방해 3장</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읽기만 차단</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통째 삭제</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차이</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292608">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판별 성공 (219건)</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0.9397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0.9397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B06A00"/>
                          </a:solidFill>
                          <a:latin typeface="Arial" pitchFamily="34" charset="0"/>
                          <a:ea typeface="Arial" pitchFamily="34" charset="-122"/>
                          <a:cs typeface="Arial" pitchFamily="34" charset="-120"/>
                        </a:rPr>
                        <a:t>margin이 219/219 완전 동일</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292608">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판별 실패 (81건)</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0.0753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0.0338</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CI [−0.012, +0.117] · 단독으론 비유의</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Text 5"/>
          <p:cNvSpPr/>
          <p:nvPr/>
        </p:nvSpPr>
        <p:spPr>
          <a:xfrm>
            <a:off x="777240" y="2871216"/>
            <a:ext cx="10698480" cy="329184"/>
          </a:xfrm>
          <a:prstGeom prst="rect">
            <a:avLst/>
          </a:prstGeom>
          <a:noFill/>
          <a:ln/>
        </p:spPr>
        <p:txBody>
          <a:bodyPr wrap="square" lIns="0" tIns="0" rIns="0" bIns="0" rtlCol="0" anchor="ctr"/>
          <a:lstStyle/>
          <a:p>
            <a:pPr indent="0" marL="0">
              <a:lnSpc>
                <a:spcPct val="115000"/>
              </a:lnSpc>
              <a:buNone/>
            </a:pPr>
            <a:r>
              <a:rPr lang="en-US" sz="1100" dirty="0">
                <a:solidFill>
                  <a:srgbClr val="1F3B57"/>
                </a:solidFill>
                <a:latin typeface="Arial" pitchFamily="34" charset="0"/>
                <a:ea typeface="Arial" pitchFamily="34" charset="-122"/>
                <a:cs typeface="Arial" pitchFamily="34" charset="-120"/>
              </a:rPr>
              <a:t>이유: 현 벤치는 관련 사진이 항상 첫 번째입니다. 맞게 고르면 차단 대상이 전부 뒤쪽 사진인데, 첫 번째 사진은 causal attention 때문에 애초에 뒤쪽을 볼 수 없습니다 → 두 방식이 수학적으로 같아집니다.</a:t>
            </a:r>
            <a:endParaRPr lang="en-US" sz="1100" dirty="0"/>
          </a:p>
        </p:txBody>
      </p:sp>
      <p:sp>
        <p:nvSpPr>
          <p:cNvPr id="9" name="Shape 6"/>
          <p:cNvSpPr/>
          <p:nvPr/>
        </p:nvSpPr>
        <p:spPr>
          <a:xfrm>
            <a:off x="502920" y="3419856"/>
            <a:ext cx="5532120" cy="1170432"/>
          </a:xfrm>
          <a:prstGeom prst="roundRect">
            <a:avLst>
              <a:gd name="adj" fmla="val 4688"/>
            </a:avLst>
          </a:prstGeom>
          <a:solidFill>
            <a:srgbClr val="E8F1FA"/>
          </a:solidFill>
          <a:ln w="16510">
            <a:solidFill>
              <a:srgbClr val="1F77B4"/>
            </a:solidFill>
            <a:prstDash val="solid"/>
          </a:ln>
        </p:spPr>
      </p:sp>
      <p:sp>
        <p:nvSpPr>
          <p:cNvPr id="10" name="Text 7"/>
          <p:cNvSpPr/>
          <p:nvPr/>
        </p:nvSpPr>
        <p:spPr>
          <a:xfrm>
            <a:off x="713232" y="3529584"/>
            <a:ext cx="5120640" cy="256032"/>
          </a:xfrm>
          <a:prstGeom prst="rect">
            <a:avLst/>
          </a:prstGeom>
          <a:noFill/>
          <a:ln/>
        </p:spPr>
        <p:txBody>
          <a:bodyPr wrap="square" lIns="0" tIns="0" rIns="0" bIns="0" rtlCol="0" anchor="ctr"/>
          <a:lstStyle/>
          <a:p>
            <a:pPr indent="0" marL="0">
              <a:buNone/>
            </a:pPr>
            <a:r>
              <a:rPr lang="en-US" sz="1250" b="1" dirty="0">
                <a:solidFill>
                  <a:srgbClr val="1F77B4"/>
                </a:solidFill>
                <a:latin typeface="Arial" pitchFamily="34" charset="0"/>
                <a:ea typeface="Arial" pitchFamily="34" charset="-122"/>
                <a:cs typeface="Arial" pitchFamily="34" charset="-120"/>
              </a:rPr>
              <a:t>지금 GPU에서 검정 중</a:t>
            </a:r>
            <a:endParaRPr lang="en-US" sz="1250" dirty="0"/>
          </a:p>
        </p:txBody>
      </p:sp>
      <p:sp>
        <p:nvSpPr>
          <p:cNvPr id="11" name="Text 8"/>
          <p:cNvSpPr/>
          <p:nvPr/>
        </p:nvSpPr>
        <p:spPr>
          <a:xfrm>
            <a:off x="713232" y="3822192"/>
            <a:ext cx="5120640" cy="658368"/>
          </a:xfrm>
          <a:prstGeom prst="rect">
            <a:avLst/>
          </a:prstGeom>
          <a:noFill/>
          <a:ln/>
        </p:spPr>
        <p:txBody>
          <a:bodyPr wrap="square" lIns="0" tIns="0" rIns="0" bIns="0" rtlCol="0" anchor="ctr"/>
          <a:lstStyle/>
          <a:p>
            <a:pPr indent="0" marL="0">
              <a:lnSpc>
                <a:spcPct val="120000"/>
              </a:lnSpc>
              <a:buNone/>
            </a:pPr>
            <a:r>
              <a:rPr lang="en-US" sz="1100" dirty="0">
                <a:solidFill>
                  <a:srgbClr val="1F3B57"/>
                </a:solidFill>
                <a:latin typeface="Arial" pitchFamily="34" charset="0"/>
                <a:ea typeface="Arial" pitchFamily="34" charset="-122"/>
                <a:cs typeface="Arial" pitchFamily="34" charset="-120"/>
              </a:rPr>
              <a:t>새 벤치(anchor)는 관련 사진 위치가 무작위라</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이 동치가 깨집니다. 거기서 차이가 나면</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"개입 방식 자체가 낫다"가 성립합니다.</a:t>
            </a:r>
            <a:endParaRPr lang="en-US" sz="1100" dirty="0"/>
          </a:p>
        </p:txBody>
      </p:sp>
      <p:sp>
        <p:nvSpPr>
          <p:cNvPr id="12" name="Shape 9"/>
          <p:cNvSpPr/>
          <p:nvPr/>
        </p:nvSpPr>
        <p:spPr>
          <a:xfrm>
            <a:off x="6199632" y="3419856"/>
            <a:ext cx="5504688" cy="1170432"/>
          </a:xfrm>
          <a:prstGeom prst="roundRect">
            <a:avLst>
              <a:gd name="adj" fmla="val 4688"/>
            </a:avLst>
          </a:prstGeom>
          <a:solidFill>
            <a:srgbClr val="E9F4EE"/>
          </a:solidFill>
          <a:ln w="16510">
            <a:solidFill>
              <a:srgbClr val="2E8B57"/>
            </a:solidFill>
            <a:prstDash val="solid"/>
          </a:ln>
        </p:spPr>
      </p:sp>
      <p:sp>
        <p:nvSpPr>
          <p:cNvPr id="13" name="Text 10"/>
          <p:cNvSpPr/>
          <p:nvPr/>
        </p:nvSpPr>
        <p:spPr>
          <a:xfrm>
            <a:off x="6409944" y="3529584"/>
            <a:ext cx="5120640" cy="256032"/>
          </a:xfrm>
          <a:prstGeom prst="rect">
            <a:avLst/>
          </a:prstGeom>
          <a:noFill/>
          <a:ln/>
        </p:spPr>
        <p:txBody>
          <a:bodyPr wrap="square" lIns="0" tIns="0" rIns="0" bIns="0" rtlCol="0" anchor="ctr"/>
          <a:lstStyle/>
          <a:p>
            <a:pPr indent="0" marL="0">
              <a:buNone/>
            </a:pPr>
            <a:r>
              <a:rPr lang="en-US" sz="1250" b="1" dirty="0">
                <a:solidFill>
                  <a:srgbClr val="2E8B57"/>
                </a:solidFill>
                <a:latin typeface="Arial" pitchFamily="34" charset="0"/>
                <a:ea typeface="Arial" pitchFamily="34" charset="-122"/>
                <a:cs typeface="Arial" pitchFamily="34" charset="-120"/>
              </a:rPr>
              <a:t>지금 말할 수 있는 것</a:t>
            </a:r>
            <a:endParaRPr lang="en-US" sz="1250" dirty="0"/>
          </a:p>
        </p:txBody>
      </p:sp>
      <p:sp>
        <p:nvSpPr>
          <p:cNvPr id="14" name="Text 11"/>
          <p:cNvSpPr/>
          <p:nvPr/>
        </p:nvSpPr>
        <p:spPr>
          <a:xfrm>
            <a:off x="6409944" y="3822192"/>
            <a:ext cx="5120640" cy="658368"/>
          </a:xfrm>
          <a:prstGeom prst="rect">
            <a:avLst/>
          </a:prstGeom>
          <a:noFill/>
          <a:ln/>
        </p:spPr>
        <p:txBody>
          <a:bodyPr wrap="square" lIns="0" tIns="0" rIns="0" bIns="0" rtlCol="0" anchor="ctr"/>
          <a:lstStyle/>
          <a:p>
            <a:pPr indent="0" marL="0">
              <a:lnSpc>
                <a:spcPct val="120000"/>
              </a:lnSpc>
              <a:buNone/>
            </a:pPr>
            <a:r>
              <a:rPr lang="en-US" sz="1100" dirty="0">
                <a:solidFill>
                  <a:srgbClr val="1F3B57"/>
                </a:solidFill>
                <a:latin typeface="Arial" pitchFamily="34" charset="0"/>
                <a:ea typeface="Arial" pitchFamily="34" charset="-122"/>
                <a:cs typeface="Arial" pitchFamily="34" charset="-120"/>
              </a:rPr>
              <a:t>"판별이 틀렸을 때 읽기 차단이 덜 망가진다"</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 선택 오류에 강건하다는 성질입니다.</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검정 전까지는 여기까지만 주장합니다.</a:t>
            </a:r>
            <a:endParaRPr lang="en-US" sz="1100" dirty="0"/>
          </a:p>
        </p:txBody>
      </p:sp>
      <p:sp>
        <p:nvSpPr>
          <p:cNvPr id="15" name="Shape 12"/>
          <p:cNvSpPr/>
          <p:nvPr/>
        </p:nvSpPr>
        <p:spPr>
          <a:xfrm>
            <a:off x="502920" y="4736592"/>
            <a:ext cx="11201400" cy="786384"/>
          </a:xfrm>
          <a:prstGeom prst="roundRect">
            <a:avLst>
              <a:gd name="adj" fmla="val 6977"/>
            </a:avLst>
          </a:prstGeom>
          <a:solidFill>
            <a:srgbClr val="1F3B57"/>
          </a:solidFill>
          <a:ln/>
        </p:spPr>
      </p:sp>
      <p:sp>
        <p:nvSpPr>
          <p:cNvPr id="16" name="Text 13"/>
          <p:cNvSpPr/>
          <p:nvPr/>
        </p:nvSpPr>
        <p:spPr>
          <a:xfrm>
            <a:off x="777240" y="4736592"/>
            <a:ext cx="10698480" cy="7863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이런 분해를 하지 않았다면 리뷰어가 찾아냈을 것입니다. 미리 찾아서 주장 범위를 좁히는 편이 논문에 유리합니다.</a:t>
            </a:r>
            <a:endParaRPr lang="en-US" sz="1250" dirty="0"/>
          </a:p>
        </p:txBody>
      </p:sp>
      <p:sp>
        <p:nvSpPr>
          <p:cNvPr id="17" name="Shape 14"/>
          <p:cNvSpPr/>
          <p:nvPr/>
        </p:nvSpPr>
        <p:spPr>
          <a:xfrm>
            <a:off x="502920" y="6053328"/>
            <a:ext cx="11201400" cy="548640"/>
          </a:xfrm>
          <a:prstGeom prst="roundRect">
            <a:avLst>
              <a:gd name="adj" fmla="val 13333"/>
            </a:avLst>
          </a:prstGeom>
          <a:solidFill>
            <a:srgbClr val="1F3B57"/>
          </a:solidFill>
          <a:ln/>
        </p:spPr>
      </p:sp>
      <p:sp>
        <p:nvSpPr>
          <p:cNvPr id="18" name="Text 15"/>
          <p:cNvSpPr/>
          <p:nvPr/>
        </p:nvSpPr>
        <p:spPr>
          <a:xfrm>
            <a:off x="777240" y="6053328"/>
            <a:ext cx="10744200" cy="54864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사전 등록 누적 10건 중 6건이 기준 미달·예측 반대였고, 전부 기록했습니다</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19456"/>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접은 것 — 다만 폐기가 아니라 보류입니다</a:t>
            </a:r>
            <a:endParaRPr lang="en-US" sz="1100" dirty="0"/>
          </a:p>
        </p:txBody>
      </p:sp>
      <p:sp>
        <p:nvSpPr>
          <p:cNvPr id="3" name="Text 1"/>
          <p:cNvSpPr/>
          <p:nvPr/>
        </p:nvSpPr>
        <p:spPr>
          <a:xfrm>
            <a:off x="502920" y="475488"/>
            <a:ext cx="11155680" cy="658368"/>
          </a:xfrm>
          <a:prstGeom prst="rect">
            <a:avLst/>
          </a:prstGeom>
          <a:noFill/>
          <a:ln/>
        </p:spPr>
        <p:txBody>
          <a:bodyPr wrap="square" lIns="0" tIns="0" rIns="0" bIns="0" rtlCol="0" anchor="ctr"/>
          <a:lstStyle/>
          <a:p>
            <a:pPr indent="0" marL="0">
              <a:buNone/>
            </a:pPr>
            <a:r>
              <a:rPr lang="en-US" sz="2100" b="1" dirty="0">
                <a:solidFill>
                  <a:srgbClr val="1F3B57"/>
                </a:solidFill>
                <a:latin typeface="Arial" pitchFamily="34" charset="0"/>
                <a:ea typeface="Arial" pitchFamily="34" charset="-122"/>
                <a:cs typeface="Arial" pitchFamily="34" charset="-120"/>
              </a:rPr>
              <a:t>두 주장을 접었습니다. 되살릴 경로는 남겨뒀습니다</a:t>
            </a:r>
            <a:endParaRPr lang="en-US" sz="2100" dirty="0"/>
          </a:p>
        </p:txBody>
      </p:sp>
      <p:sp>
        <p:nvSpPr>
          <p:cNvPr id="4" name="Shape 2"/>
          <p:cNvSpPr/>
          <p:nvPr/>
        </p:nvSpPr>
        <p:spPr>
          <a:xfrm>
            <a:off x="502920" y="1188720"/>
            <a:ext cx="11201400" cy="1243584"/>
          </a:xfrm>
          <a:prstGeom prst="roundRect">
            <a:avLst>
              <a:gd name="adj" fmla="val 4412"/>
            </a:avLst>
          </a:prstGeom>
          <a:solidFill>
            <a:srgbClr val="FBEAEA"/>
          </a:solidFill>
          <a:ln w="16510">
            <a:solidFill>
              <a:srgbClr val="D62728"/>
            </a:solidFill>
            <a:prstDash val="solid"/>
          </a:ln>
        </p:spPr>
      </p:sp>
      <p:sp>
        <p:nvSpPr>
          <p:cNvPr id="5" name="Text 3"/>
          <p:cNvSpPr/>
          <p:nvPr/>
        </p:nvSpPr>
        <p:spPr>
          <a:xfrm>
            <a:off x="731520" y="1316736"/>
            <a:ext cx="2103120" cy="292608"/>
          </a:xfrm>
          <a:prstGeom prst="rect">
            <a:avLst/>
          </a:prstGeom>
          <a:noFill/>
          <a:ln/>
        </p:spPr>
        <p:txBody>
          <a:bodyPr wrap="square" lIns="0" tIns="0" rIns="0" bIns="0" rtlCol="0" anchor="ctr"/>
          <a:lstStyle/>
          <a:p>
            <a:pPr indent="0" marL="0">
              <a:buNone/>
            </a:pPr>
            <a:r>
              <a:rPr lang="en-US" sz="1400" b="1" dirty="0">
                <a:solidFill>
                  <a:srgbClr val="D62728"/>
                </a:solidFill>
                <a:latin typeface="Arial" pitchFamily="34" charset="0"/>
                <a:ea typeface="Arial" pitchFamily="34" charset="-122"/>
                <a:cs typeface="Arial" pitchFamily="34" charset="-120"/>
              </a:rPr>
              <a:t>경로 대비</a:t>
            </a:r>
            <a:endParaRPr lang="en-US" sz="1400" dirty="0"/>
          </a:p>
        </p:txBody>
      </p:sp>
      <p:sp>
        <p:nvSpPr>
          <p:cNvPr id="6" name="Text 4"/>
          <p:cNvSpPr/>
          <p:nvPr/>
        </p:nvSpPr>
        <p:spPr>
          <a:xfrm>
            <a:off x="731520" y="1645920"/>
            <a:ext cx="5029200" cy="45720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Arial" pitchFamily="34" charset="0"/>
                <a:ea typeface="Arial" pitchFamily="34" charset="-122"/>
                <a:cs typeface="Arial" pitchFamily="34" charset="-120"/>
              </a:rPr>
              <a:t>같은 사진으로 '가장 깨끗한 경로'와 '가장 오염된 경로'를 만들어 빼는 추가 기능</a:t>
            </a:r>
            <a:endParaRPr lang="en-US" sz="1050" dirty="0"/>
          </a:p>
        </p:txBody>
      </p:sp>
      <p:sp>
        <p:nvSpPr>
          <p:cNvPr id="7" name="Text 5"/>
          <p:cNvSpPr/>
          <p:nvPr/>
        </p:nvSpPr>
        <p:spPr>
          <a:xfrm>
            <a:off x="5943600" y="1316736"/>
            <a:ext cx="2377440" cy="256032"/>
          </a:xfrm>
          <a:prstGeom prst="rect">
            <a:avLst/>
          </a:prstGeom>
          <a:noFill/>
          <a:ln/>
        </p:spPr>
        <p:txBody>
          <a:bodyPr wrap="square" lIns="0" tIns="0" rIns="0" bIns="0" rtlCol="0" anchor="ctr"/>
          <a:lstStyle/>
          <a:p>
            <a:pPr indent="0" marL="0">
              <a:buNone/>
            </a:pPr>
            <a:r>
              <a:rPr lang="en-US" sz="1100" b="1" dirty="0">
                <a:solidFill>
                  <a:srgbClr val="1F3B57"/>
                </a:solidFill>
                <a:latin typeface="Arial" pitchFamily="34" charset="0"/>
                <a:ea typeface="Arial" pitchFamily="34" charset="-122"/>
                <a:cs typeface="Arial" pitchFamily="34" charset="-120"/>
              </a:rPr>
              <a:t>왜 접었나</a:t>
            </a:r>
            <a:endParaRPr lang="en-US" sz="1100" dirty="0"/>
          </a:p>
        </p:txBody>
      </p:sp>
      <p:sp>
        <p:nvSpPr>
          <p:cNvPr id="8" name="Text 6"/>
          <p:cNvSpPr/>
          <p:nvPr/>
        </p:nvSpPr>
        <p:spPr>
          <a:xfrm>
            <a:off x="5943600" y="1591056"/>
            <a:ext cx="2743200" cy="548640"/>
          </a:xfrm>
          <a:prstGeom prst="rect">
            <a:avLst/>
          </a:prstGeom>
          <a:noFill/>
          <a:ln/>
        </p:spPr>
        <p:txBody>
          <a:bodyPr wrap="square" lIns="0" tIns="0" rIns="0" bIns="0" rtlCol="0" anchor="ctr"/>
          <a:lstStyle/>
          <a:p>
            <a:pPr indent="0" marL="0">
              <a:lnSpc>
                <a:spcPct val="115000"/>
              </a:lnSpc>
              <a:buNone/>
            </a:pPr>
            <a:r>
              <a:rPr lang="en-US" sz="1050" dirty="0">
                <a:solidFill>
                  <a:srgbClr val="1F3B57"/>
                </a:solidFill>
                <a:latin typeface="Arial" pitchFamily="34" charset="0"/>
                <a:ea typeface="Arial" pitchFamily="34" charset="-122"/>
                <a:cs typeface="Arial" pitchFamily="34" charset="-120"/>
              </a:rPr>
              <a:t>방해가 정답과 같은 방향으로 미는 문항에서 크게 해로움 (0.988 → 0.862)</a:t>
            </a:r>
            <a:endParaRPr lang="en-US" sz="1050" dirty="0"/>
          </a:p>
        </p:txBody>
      </p:sp>
      <p:sp>
        <p:nvSpPr>
          <p:cNvPr id="9" name="Text 7"/>
          <p:cNvSpPr/>
          <p:nvPr/>
        </p:nvSpPr>
        <p:spPr>
          <a:xfrm>
            <a:off x="8869680" y="1316736"/>
            <a:ext cx="2651760" cy="256032"/>
          </a:xfrm>
          <a:prstGeom prst="rect">
            <a:avLst/>
          </a:prstGeom>
          <a:noFill/>
          <a:ln/>
        </p:spPr>
        <p:txBody>
          <a:bodyPr wrap="square" lIns="0" tIns="0" rIns="0" bIns="0" rtlCol="0" anchor="ctr"/>
          <a:lstStyle/>
          <a:p>
            <a:pPr indent="0" marL="0">
              <a:buNone/>
            </a:pPr>
            <a:r>
              <a:rPr lang="en-US" sz="1100" b="1" dirty="0">
                <a:solidFill>
                  <a:srgbClr val="2E8B57"/>
                </a:solidFill>
                <a:latin typeface="Arial" pitchFamily="34" charset="0"/>
                <a:ea typeface="Arial" pitchFamily="34" charset="-122"/>
                <a:cs typeface="Arial" pitchFamily="34" charset="-120"/>
              </a:rPr>
              <a:t>되살릴 경로</a:t>
            </a:r>
            <a:endParaRPr lang="en-US" sz="1100" dirty="0"/>
          </a:p>
        </p:txBody>
      </p:sp>
      <p:sp>
        <p:nvSpPr>
          <p:cNvPr id="10" name="Text 8"/>
          <p:cNvSpPr/>
          <p:nvPr/>
        </p:nvSpPr>
        <p:spPr>
          <a:xfrm>
            <a:off x="8869680" y="1591056"/>
            <a:ext cx="2743200" cy="731520"/>
          </a:xfrm>
          <a:prstGeom prst="rect">
            <a:avLst/>
          </a:prstGeom>
          <a:noFill/>
          <a:ln/>
        </p:spPr>
        <p:txBody>
          <a:bodyPr wrap="square" lIns="0" tIns="0" rIns="0" bIns="0" rtlCol="0" anchor="ctr"/>
          <a:lstStyle/>
          <a:p>
            <a:pPr indent="0" marL="0">
              <a:lnSpc>
                <a:spcPct val="115000"/>
              </a:lnSpc>
              <a:buNone/>
            </a:pPr>
            <a:r>
              <a:rPr lang="en-US" sz="1050" dirty="0">
                <a:solidFill>
                  <a:srgbClr val="1F3B57"/>
                </a:solidFill>
                <a:latin typeface="Arial" pitchFamily="34" charset="0"/>
                <a:ea typeface="Arial" pitchFamily="34" charset="-122"/>
                <a:cs typeface="Arial" pitchFamily="34" charset="-120"/>
              </a:rPr>
              <a:t>게이트 추가 / 문항별 적응 β / '방해가 얼마나 미는가'를 재는 진단 지표로 전환</a:t>
            </a:r>
            <a:endParaRPr lang="en-US" sz="1050" dirty="0"/>
          </a:p>
        </p:txBody>
      </p:sp>
      <p:sp>
        <p:nvSpPr>
          <p:cNvPr id="11" name="Shape 9"/>
          <p:cNvSpPr/>
          <p:nvPr/>
        </p:nvSpPr>
        <p:spPr>
          <a:xfrm>
            <a:off x="502920" y="2560320"/>
            <a:ext cx="11201400" cy="1243584"/>
          </a:xfrm>
          <a:prstGeom prst="roundRect">
            <a:avLst>
              <a:gd name="adj" fmla="val 4412"/>
            </a:avLst>
          </a:prstGeom>
          <a:solidFill>
            <a:srgbClr val="FBEAEA"/>
          </a:solidFill>
          <a:ln w="16510">
            <a:solidFill>
              <a:srgbClr val="D62728"/>
            </a:solidFill>
            <a:prstDash val="solid"/>
          </a:ln>
        </p:spPr>
      </p:sp>
      <p:sp>
        <p:nvSpPr>
          <p:cNvPr id="12" name="Text 10"/>
          <p:cNvSpPr/>
          <p:nvPr/>
        </p:nvSpPr>
        <p:spPr>
          <a:xfrm>
            <a:off x="731520" y="2688336"/>
            <a:ext cx="2103120" cy="292608"/>
          </a:xfrm>
          <a:prstGeom prst="rect">
            <a:avLst/>
          </a:prstGeom>
          <a:noFill/>
          <a:ln/>
        </p:spPr>
        <p:txBody>
          <a:bodyPr wrap="square" lIns="0" tIns="0" rIns="0" bIns="0" rtlCol="0" anchor="ctr"/>
          <a:lstStyle/>
          <a:p>
            <a:pPr indent="0" marL="0">
              <a:buNone/>
            </a:pPr>
            <a:r>
              <a:rPr lang="en-US" sz="1400" b="1" dirty="0">
                <a:solidFill>
                  <a:srgbClr val="D62728"/>
                </a:solidFill>
                <a:latin typeface="Arial" pitchFamily="34" charset="0"/>
                <a:ea typeface="Arial" pitchFamily="34" charset="-122"/>
                <a:cs typeface="Arial" pitchFamily="34" charset="-120"/>
              </a:rPr>
              <a:t>통합 주장</a:t>
            </a:r>
            <a:endParaRPr lang="en-US" sz="1400" dirty="0"/>
          </a:p>
        </p:txBody>
      </p:sp>
      <p:sp>
        <p:nvSpPr>
          <p:cNvPr id="13" name="Text 11"/>
          <p:cNvSpPr/>
          <p:nvPr/>
        </p:nvSpPr>
        <p:spPr>
          <a:xfrm>
            <a:off x="731520" y="3017520"/>
            <a:ext cx="5029200" cy="45720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Arial" pitchFamily="34" charset="0"/>
                <a:ea typeface="Arial" pitchFamily="34" charset="-122"/>
                <a:cs typeface="Arial" pitchFamily="34" charset="-120"/>
              </a:rPr>
              <a:t>'막아라(MIMIC) vs 열어라(CAPL)'로 갈린 기존 연구를 우리 분해가 설명한다</a:t>
            </a:r>
            <a:endParaRPr lang="en-US" sz="1050" dirty="0"/>
          </a:p>
        </p:txBody>
      </p:sp>
      <p:sp>
        <p:nvSpPr>
          <p:cNvPr id="14" name="Text 12"/>
          <p:cNvSpPr/>
          <p:nvPr/>
        </p:nvSpPr>
        <p:spPr>
          <a:xfrm>
            <a:off x="5943600" y="2688336"/>
            <a:ext cx="2377440" cy="256032"/>
          </a:xfrm>
          <a:prstGeom prst="rect">
            <a:avLst/>
          </a:prstGeom>
          <a:noFill/>
          <a:ln/>
        </p:spPr>
        <p:txBody>
          <a:bodyPr wrap="square" lIns="0" tIns="0" rIns="0" bIns="0" rtlCol="0" anchor="ctr"/>
          <a:lstStyle/>
          <a:p>
            <a:pPr indent="0" marL="0">
              <a:buNone/>
            </a:pPr>
            <a:r>
              <a:rPr lang="en-US" sz="1100" b="1" dirty="0">
                <a:solidFill>
                  <a:srgbClr val="1F3B57"/>
                </a:solidFill>
                <a:latin typeface="Arial" pitchFamily="34" charset="0"/>
                <a:ea typeface="Arial" pitchFamily="34" charset="-122"/>
                <a:cs typeface="Arial" pitchFamily="34" charset="-120"/>
              </a:rPr>
              <a:t>왜 접었나</a:t>
            </a:r>
            <a:endParaRPr lang="en-US" sz="1100" dirty="0"/>
          </a:p>
        </p:txBody>
      </p:sp>
      <p:sp>
        <p:nvSpPr>
          <p:cNvPr id="15" name="Text 13"/>
          <p:cNvSpPr/>
          <p:nvPr/>
        </p:nvSpPr>
        <p:spPr>
          <a:xfrm>
            <a:off x="5943600" y="2962656"/>
            <a:ext cx="2743200" cy="548640"/>
          </a:xfrm>
          <a:prstGeom prst="rect">
            <a:avLst/>
          </a:prstGeom>
          <a:noFill/>
          <a:ln/>
        </p:spPr>
        <p:txBody>
          <a:bodyPr wrap="square" lIns="0" tIns="0" rIns="0" bIns="0" rtlCol="0" anchor="ctr"/>
          <a:lstStyle/>
          <a:p>
            <a:pPr indent="0" marL="0">
              <a:lnSpc>
                <a:spcPct val="115000"/>
              </a:lnSpc>
              <a:buNone/>
            </a:pPr>
            <a:r>
              <a:rPr lang="en-US" sz="1050" dirty="0">
                <a:solidFill>
                  <a:srgbClr val="1F3B57"/>
                </a:solidFill>
                <a:latin typeface="Arial" pitchFamily="34" charset="0"/>
                <a:ea typeface="Arial" pitchFamily="34" charset="-122"/>
                <a:cs typeface="Arial" pitchFamily="34" charset="-120"/>
              </a:rPr>
              <a:t>MIMIC식 균일 차단이 무개입보다 나쁨 (3B 0.412 vs 0.697)</a:t>
            </a:r>
            <a:endParaRPr lang="en-US" sz="1050" dirty="0"/>
          </a:p>
        </p:txBody>
      </p:sp>
      <p:sp>
        <p:nvSpPr>
          <p:cNvPr id="16" name="Text 14"/>
          <p:cNvSpPr/>
          <p:nvPr/>
        </p:nvSpPr>
        <p:spPr>
          <a:xfrm>
            <a:off x="8869680" y="2688336"/>
            <a:ext cx="2651760" cy="256032"/>
          </a:xfrm>
          <a:prstGeom prst="rect">
            <a:avLst/>
          </a:prstGeom>
          <a:noFill/>
          <a:ln/>
        </p:spPr>
        <p:txBody>
          <a:bodyPr wrap="square" lIns="0" tIns="0" rIns="0" bIns="0" rtlCol="0" anchor="ctr"/>
          <a:lstStyle/>
          <a:p>
            <a:pPr indent="0" marL="0">
              <a:buNone/>
            </a:pPr>
            <a:r>
              <a:rPr lang="en-US" sz="1100" b="1" dirty="0">
                <a:solidFill>
                  <a:srgbClr val="2E8B57"/>
                </a:solidFill>
                <a:latin typeface="Arial" pitchFamily="34" charset="0"/>
                <a:ea typeface="Arial" pitchFamily="34" charset="-122"/>
                <a:cs typeface="Arial" pitchFamily="34" charset="-120"/>
              </a:rPr>
              <a:t>되살릴 경로</a:t>
            </a:r>
            <a:endParaRPr lang="en-US" sz="1100" dirty="0"/>
          </a:p>
        </p:txBody>
      </p:sp>
      <p:sp>
        <p:nvSpPr>
          <p:cNvPr id="17" name="Text 15"/>
          <p:cNvSpPr/>
          <p:nvPr/>
        </p:nvSpPr>
        <p:spPr>
          <a:xfrm>
            <a:off x="8869680" y="2962656"/>
            <a:ext cx="2743200" cy="731520"/>
          </a:xfrm>
          <a:prstGeom prst="rect">
            <a:avLst/>
          </a:prstGeom>
          <a:noFill/>
          <a:ln/>
        </p:spPr>
        <p:txBody>
          <a:bodyPr wrap="square" lIns="0" tIns="0" rIns="0" bIns="0" rtlCol="0" anchor="ctr"/>
          <a:lstStyle/>
          <a:p>
            <a:pPr indent="0" marL="0">
              <a:lnSpc>
                <a:spcPct val="115000"/>
              </a:lnSpc>
              <a:buNone/>
            </a:pPr>
            <a:r>
              <a:rPr lang="en-US" sz="1050" dirty="0">
                <a:solidFill>
                  <a:srgbClr val="1F3B57"/>
                </a:solidFill>
                <a:latin typeface="Arial" pitchFamily="34" charset="0"/>
                <a:ea typeface="Arial" pitchFamily="34" charset="-122"/>
                <a:cs typeface="Arial" pitchFamily="34" charset="-120"/>
              </a:rPr>
              <a:t>층 구간을 상대 위치로 맞춰 스윕 (3B 36층 / 7B 28층이라 절대값 12~23은 위치가 다름)</a:t>
            </a:r>
            <a:endParaRPr lang="en-US" sz="1050" dirty="0"/>
          </a:p>
        </p:txBody>
      </p:sp>
      <p:sp>
        <p:nvSpPr>
          <p:cNvPr id="18" name="Shape 16"/>
          <p:cNvSpPr/>
          <p:nvPr/>
        </p:nvSpPr>
        <p:spPr>
          <a:xfrm>
            <a:off x="502920" y="3986784"/>
            <a:ext cx="5532120" cy="1517904"/>
          </a:xfrm>
          <a:prstGeom prst="roundRect">
            <a:avLst>
              <a:gd name="adj" fmla="val 3614"/>
            </a:avLst>
          </a:prstGeom>
          <a:solidFill>
            <a:srgbClr val="E9F4EE"/>
          </a:solidFill>
          <a:ln w="16510">
            <a:solidFill>
              <a:srgbClr val="2E8B57"/>
            </a:solidFill>
            <a:prstDash val="solid"/>
          </a:ln>
        </p:spPr>
      </p:sp>
      <p:sp>
        <p:nvSpPr>
          <p:cNvPr id="19" name="Text 17"/>
          <p:cNvSpPr/>
          <p:nvPr/>
        </p:nvSpPr>
        <p:spPr>
          <a:xfrm>
            <a:off x="713232" y="4096512"/>
            <a:ext cx="5120640" cy="256032"/>
          </a:xfrm>
          <a:prstGeom prst="rect">
            <a:avLst/>
          </a:prstGeom>
          <a:noFill/>
          <a:ln/>
        </p:spPr>
        <p:txBody>
          <a:bodyPr wrap="square" lIns="0" tIns="0" rIns="0" bIns="0" rtlCol="0" anchor="ctr"/>
          <a:lstStyle/>
          <a:p>
            <a:pPr indent="0" marL="0">
              <a:buNone/>
            </a:pPr>
            <a:r>
              <a:rPr lang="en-US" sz="1250" b="1" dirty="0">
                <a:solidFill>
                  <a:srgbClr val="2E8B57"/>
                </a:solidFill>
                <a:latin typeface="Arial" pitchFamily="34" charset="0"/>
                <a:ea typeface="Arial" pitchFamily="34" charset="-122"/>
                <a:cs typeface="Arial" pitchFamily="34" charset="-120"/>
              </a:rPr>
              <a:t>중요 — 핵심 방법 자체는 안전합니다</a:t>
            </a:r>
            <a:endParaRPr lang="en-US" sz="1250" dirty="0"/>
          </a:p>
        </p:txBody>
      </p:sp>
      <p:sp>
        <p:nvSpPr>
          <p:cNvPr id="20" name="Text 18"/>
          <p:cNvSpPr/>
          <p:nvPr/>
        </p:nvSpPr>
        <p:spPr>
          <a:xfrm>
            <a:off x="713232" y="4389120"/>
            <a:ext cx="5120640" cy="329184"/>
          </a:xfrm>
          <a:prstGeom prst="rect">
            <a:avLst/>
          </a:prstGeom>
          <a:noFill/>
          <a:ln/>
        </p:spPr>
        <p:txBody>
          <a:bodyPr wrap="square" lIns="0" tIns="0" rIns="0" bIns="0" rtlCol="0" anchor="ctr"/>
          <a:lstStyle/>
          <a:p>
            <a:pPr indent="0" marL="0">
              <a:lnSpc>
                <a:spcPct val="115000"/>
              </a:lnSpc>
              <a:buNone/>
            </a:pPr>
            <a:r>
              <a:rPr lang="en-US" sz="1100" dirty="0">
                <a:solidFill>
                  <a:srgbClr val="1F3B57"/>
                </a:solidFill>
                <a:latin typeface="Arial" pitchFamily="34" charset="0"/>
                <a:ea typeface="Arial" pitchFamily="34" charset="-122"/>
                <a:cs typeface="Arial" pitchFamily="34" charset="-120"/>
              </a:rPr>
              <a:t>해로운 것은 '빼기'였고, '읽기 차단'은 아닙니다.</a:t>
            </a:r>
            <a:endParaRPr lang="en-US" sz="1100" dirty="0"/>
          </a:p>
          <a:p>
            <a:pPr indent="0" marL="0">
              <a:lnSpc>
                <a:spcPct val="115000"/>
              </a:lnSpc>
              <a:buNone/>
            </a:pPr>
            <a:r>
              <a:rPr lang="en-US" sz="1100" dirty="0">
                <a:solidFill>
                  <a:srgbClr val="1F3B57"/>
                </a:solidFill>
                <a:latin typeface="Arial" pitchFamily="34" charset="0"/>
                <a:ea typeface="Arial" pitchFamily="34" charset="-122"/>
                <a:cs typeface="Arial" pitchFamily="34" charset="-120"/>
              </a:rPr>
              <a:t>방해가 정답 방향으로 미는 문항에서도:</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13232" y="4773168"/>
          <a:ext cx="5120640" cy="914400"/>
        </p:xfrm>
        <a:graphic>
          <a:graphicData uri="http://schemas.openxmlformats.org/drawingml/2006/table">
            <a:tbl>
              <a:tblPr/>
              <a:tblGrid>
                <a:gridCol w="1706880"/>
                <a:gridCol w="1706880"/>
                <a:gridCol w="1706880"/>
              </a:tblGrid>
              <a:tr h="237744">
                <a:tc>
                  <a:txBody>
                    <a:bodyPr/>
                    <a:lstStyle/>
                    <a:p>
                      <a:pPr algn="ctr" indent="0" marL="0">
                        <a:buNone/>
                      </a:pP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무개입 → 읽기차단</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95%CI</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237744">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3B</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0.9937 → 0.9883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E8B57"/>
                          </a:solidFill>
                          <a:latin typeface="Arial" pitchFamily="34" charset="0"/>
                          <a:ea typeface="Arial" pitchFamily="34" charset="-122"/>
                          <a:cs typeface="Arial" pitchFamily="34" charset="-120"/>
                        </a:rPr>
                        <a:t>[−0.013,+0.001]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237744">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7B</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0.9847 → 0.9897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E8B57"/>
                          </a:solidFill>
                          <a:latin typeface="Arial" pitchFamily="34" charset="0"/>
                          <a:ea typeface="Arial" pitchFamily="34" charset="-122"/>
                          <a:cs typeface="Arial" pitchFamily="34" charset="-120"/>
                        </a:rPr>
                        <a:t>[−0.002,+0.013]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22" name="Shape 19"/>
          <p:cNvSpPr/>
          <p:nvPr/>
        </p:nvSpPr>
        <p:spPr>
          <a:xfrm>
            <a:off x="6199632" y="3986784"/>
            <a:ext cx="5504688" cy="1517904"/>
          </a:xfrm>
          <a:prstGeom prst="roundRect">
            <a:avLst>
              <a:gd name="adj" fmla="val 3614"/>
            </a:avLst>
          </a:prstGeom>
          <a:solidFill>
            <a:srgbClr val="F3F4F6"/>
          </a:solidFill>
          <a:ln w="15240">
            <a:solidFill>
              <a:srgbClr val="6B7280"/>
            </a:solidFill>
            <a:prstDash val="solid"/>
          </a:ln>
        </p:spPr>
      </p:sp>
      <p:sp>
        <p:nvSpPr>
          <p:cNvPr id="23" name="Text 20"/>
          <p:cNvSpPr/>
          <p:nvPr/>
        </p:nvSpPr>
        <p:spPr>
          <a:xfrm>
            <a:off x="6409944" y="4096512"/>
            <a:ext cx="5120640" cy="256032"/>
          </a:xfrm>
          <a:prstGeom prst="rect">
            <a:avLst/>
          </a:prstGeom>
          <a:noFill/>
          <a:ln/>
        </p:spPr>
        <p:txBody>
          <a:bodyPr wrap="square" lIns="0" tIns="0" rIns="0" bIns="0" rtlCol="0" anchor="ctr"/>
          <a:lstStyle/>
          <a:p>
            <a:pPr indent="0" marL="0">
              <a:buNone/>
            </a:pPr>
            <a:r>
              <a:rPr lang="en-US" sz="1250" b="1" dirty="0">
                <a:solidFill>
                  <a:srgbClr val="1F3B57"/>
                </a:solidFill>
                <a:latin typeface="Arial" pitchFamily="34" charset="0"/>
                <a:ea typeface="Arial" pitchFamily="34" charset="-122"/>
                <a:cs typeface="Arial" pitchFamily="34" charset="-120"/>
              </a:rPr>
              <a:t>그 밖에 폐기가 아니라 보류한 것 2건</a:t>
            </a:r>
            <a:endParaRPr lang="en-US" sz="1250" dirty="0"/>
          </a:p>
        </p:txBody>
      </p:sp>
      <p:sp>
        <p:nvSpPr>
          <p:cNvPr id="24" name="Text 21"/>
          <p:cNvSpPr/>
          <p:nvPr/>
        </p:nvSpPr>
        <p:spPr>
          <a:xfrm>
            <a:off x="6409944" y="4389120"/>
            <a:ext cx="5120640" cy="987552"/>
          </a:xfrm>
          <a:prstGeom prst="rect">
            <a:avLst/>
          </a:prstGeom>
          <a:noFill/>
          <a:ln/>
        </p:spPr>
        <p:txBody>
          <a:bodyPr wrap="square" lIns="0" tIns="0" rIns="0" bIns="0" rtlCol="0" anchor="ctr"/>
          <a:lstStyle/>
          <a:p>
            <a:pPr indent="0" marL="0">
              <a:lnSpc>
                <a:spcPct val="120000"/>
              </a:lnSpc>
              <a:buNone/>
            </a:pPr>
            <a:r>
              <a:rPr lang="en-US" sz="1050" dirty="0">
                <a:solidFill>
                  <a:srgbClr val="1F3B57"/>
                </a:solidFill>
                <a:latin typeface="Arial" pitchFamily="34" charset="0"/>
                <a:ea typeface="Arial" pitchFamily="34" charset="-122"/>
                <a:cs typeface="Arial" pitchFamily="34" charset="-120"/>
              </a:rPr>
              <a:t>· 기권(abstention) 게이트 — 확신도 신호 하나로는 실패.</a:t>
            </a:r>
            <a:endParaRPr lang="en-US" sz="1050" dirty="0"/>
          </a:p>
          <a:p>
            <a:pPr indent="0" marL="0">
              <a:lnSpc>
                <a:spcPct val="120000"/>
              </a:lnSpc>
              <a:buNone/>
            </a:pPr>
            <a:r>
              <a:rPr lang="en-US" sz="1050" dirty="0">
                <a:solidFill>
                  <a:srgbClr val="1F3B57"/>
                </a:solidFill>
                <a:latin typeface="Arial" pitchFamily="34" charset="0"/>
                <a:ea typeface="Arial" pitchFamily="34" charset="-122"/>
                <a:cs typeface="Arial" pitchFamily="34" charset="-120"/>
              </a:rPr>
              <a:t>  CLIP과 우리 판별의 '불일치'를 신호로 쓰는 방안이 남음</a:t>
            </a:r>
            <a:endParaRPr lang="en-US" sz="1050" dirty="0"/>
          </a:p>
          <a:p>
            <a:pPr indent="0" marL="0">
              <a:lnSpc>
                <a:spcPct val="120000"/>
              </a:lnSpc>
              <a:buNone/>
            </a:pPr>
            <a:endParaRPr lang="en-US" sz="1050" dirty="0"/>
          </a:p>
          <a:p>
            <a:pPr indent="0" marL="0">
              <a:lnSpc>
                <a:spcPct val="120000"/>
              </a:lnSpc>
              <a:buNone/>
            </a:pPr>
            <a:r>
              <a:rPr lang="en-US" sz="1050" dirty="0">
                <a:solidFill>
                  <a:srgbClr val="1F3B57"/>
                </a:solidFill>
                <a:latin typeface="Arial" pitchFamily="34" charset="0"/>
                <a:ea typeface="Arial" pitchFamily="34" charset="-122"/>
                <a:cs typeface="Arial" pitchFamily="34" charset="-120"/>
              </a:rPr>
              <a:t>· top-k 일반화 — 관련 사진 개수를 추정하지 않고</a:t>
            </a:r>
            <a:endParaRPr lang="en-US" sz="1050" dirty="0"/>
          </a:p>
          <a:p>
            <a:pPr indent="0" marL="0">
              <a:lnSpc>
                <a:spcPct val="120000"/>
              </a:lnSpc>
              <a:buNone/>
            </a:pPr>
            <a:r>
              <a:rPr lang="en-US" sz="1050" dirty="0">
                <a:solidFill>
                  <a:srgbClr val="1F3B57"/>
                </a:solidFill>
                <a:latin typeface="Arial" pitchFamily="34" charset="0"/>
                <a:ea typeface="Arial" pitchFamily="34" charset="-122"/>
                <a:cs typeface="Arial" pitchFamily="34" charset="-120"/>
              </a:rPr>
              <a:t>  무조건 k개를 남긴 것이 원인일 수 있음</a:t>
            </a:r>
            <a:endParaRPr lang="en-US" sz="1050" dirty="0"/>
          </a:p>
        </p:txBody>
      </p:sp>
      <p:sp>
        <p:nvSpPr>
          <p:cNvPr id="25" name="Shape 22"/>
          <p:cNvSpPr/>
          <p:nvPr/>
        </p:nvSpPr>
        <p:spPr>
          <a:xfrm>
            <a:off x="502920" y="6053328"/>
            <a:ext cx="11201400" cy="548640"/>
          </a:xfrm>
          <a:prstGeom prst="roundRect">
            <a:avLst>
              <a:gd name="adj" fmla="val 13333"/>
            </a:avLst>
          </a:prstGeom>
          <a:solidFill>
            <a:srgbClr val="1F3B57"/>
          </a:solidFill>
          <a:ln/>
        </p:spPr>
      </p:sp>
      <p:sp>
        <p:nvSpPr>
          <p:cNvPr id="26" name="Text 23"/>
          <p:cNvSpPr/>
          <p:nvPr/>
        </p:nvSpPr>
        <p:spPr>
          <a:xfrm>
            <a:off x="777240" y="6053328"/>
            <a:ext cx="10744200" cy="54864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실패 4건 전부 원인과 되살릴 경로를 문서에 남겼습니다 (docs/38)</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638"/>
        </a:solidFill>
      </p:bgPr>
    </p:bg>
    <p:spTree>
      <p:nvGrpSpPr>
        <p:cNvPr id="1" name=""/>
        <p:cNvGrpSpPr/>
        <p:nvPr/>
      </p:nvGrpSpPr>
      <p:grpSpPr>
        <a:xfrm>
          <a:off x="0" y="0"/>
          <a:ext cx="0" cy="0"/>
          <a:chOff x="0" y="0"/>
          <a:chExt cx="0" cy="0"/>
        </a:xfrm>
      </p:grpSpPr>
      <p:sp>
        <p:nvSpPr>
          <p:cNvPr id="2" name="Text 0"/>
          <p:cNvSpPr/>
          <p:nvPr/>
        </p:nvSpPr>
        <p:spPr>
          <a:xfrm>
            <a:off x="502920" y="219456"/>
            <a:ext cx="10515600" cy="274320"/>
          </a:xfrm>
          <a:prstGeom prst="rect">
            <a:avLst/>
          </a:prstGeom>
          <a:noFill/>
          <a:ln/>
        </p:spPr>
        <p:txBody>
          <a:bodyPr wrap="square" lIns="0" tIns="0" rIns="0" bIns="0" rtlCol="0" anchor="ctr"/>
          <a:lstStyle/>
          <a:p>
            <a:pPr indent="0" marL="0">
              <a:buNone/>
            </a:pPr>
            <a:r>
              <a:rPr lang="en-US" sz="1100" b="1" dirty="0">
                <a:solidFill>
                  <a:srgbClr val="9FB8CE"/>
                </a:solidFill>
                <a:latin typeface="Arial" pitchFamily="34" charset="0"/>
                <a:ea typeface="Arial" pitchFamily="34" charset="-122"/>
                <a:cs typeface="Arial" pitchFamily="34" charset="-120"/>
              </a:rPr>
              <a:t>다음 단계</a:t>
            </a:r>
            <a:endParaRPr lang="en-US" sz="1100" dirty="0"/>
          </a:p>
        </p:txBody>
      </p:sp>
      <p:sp>
        <p:nvSpPr>
          <p:cNvPr id="3" name="Text 1"/>
          <p:cNvSpPr/>
          <p:nvPr/>
        </p:nvSpPr>
        <p:spPr>
          <a:xfrm>
            <a:off x="502920" y="475488"/>
            <a:ext cx="11155680" cy="658368"/>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CVPR 2027 마감까지 11주 — 중단 조건을 먼저 둡니다</a:t>
            </a:r>
            <a:endParaRPr lang="en-US" sz="2100" dirty="0"/>
          </a:p>
        </p:txBody>
      </p:sp>
      <p:sp>
        <p:nvSpPr>
          <p:cNvPr id="4" name="Shape 2"/>
          <p:cNvSpPr/>
          <p:nvPr/>
        </p:nvSpPr>
        <p:spPr>
          <a:xfrm>
            <a:off x="502920" y="1225296"/>
            <a:ext cx="11201400" cy="658368"/>
          </a:xfrm>
          <a:prstGeom prst="roundRect">
            <a:avLst>
              <a:gd name="adj" fmla="val 8333"/>
            </a:avLst>
          </a:prstGeom>
          <a:solidFill>
            <a:srgbClr val="1D3850"/>
          </a:solidFill>
          <a:ln w="12700">
            <a:solidFill>
              <a:srgbClr val="2E4E6B"/>
            </a:solidFill>
            <a:prstDash val="solid"/>
          </a:ln>
        </p:spPr>
      </p:sp>
      <p:sp>
        <p:nvSpPr>
          <p:cNvPr id="5" name="Text 3"/>
          <p:cNvSpPr/>
          <p:nvPr/>
        </p:nvSpPr>
        <p:spPr>
          <a:xfrm>
            <a:off x="731520" y="1225296"/>
            <a:ext cx="1143000" cy="658368"/>
          </a:xfrm>
          <a:prstGeom prst="rect">
            <a:avLst/>
          </a:prstGeom>
          <a:noFill/>
          <a:ln/>
        </p:spPr>
        <p:txBody>
          <a:bodyPr wrap="square" lIns="0" tIns="0" rIns="0" bIns="0" rtlCol="0" anchor="ctr"/>
          <a:lstStyle/>
          <a:p>
            <a:pPr indent="0" marL="0">
              <a:buNone/>
            </a:pPr>
            <a:r>
              <a:rPr lang="en-US" sz="1250" b="1" dirty="0">
                <a:solidFill>
                  <a:srgbClr val="FFC94D"/>
                </a:solidFill>
                <a:latin typeface="Arial" pitchFamily="34" charset="0"/>
                <a:ea typeface="Arial" pitchFamily="34" charset="-122"/>
                <a:cs typeface="Arial" pitchFamily="34" charset="-120"/>
              </a:rPr>
              <a:t>이번 주</a:t>
            </a:r>
            <a:endParaRPr lang="en-US" sz="1250" dirty="0"/>
          </a:p>
        </p:txBody>
      </p:sp>
      <p:sp>
        <p:nvSpPr>
          <p:cNvPr id="6" name="Text 4"/>
          <p:cNvSpPr/>
          <p:nvPr/>
        </p:nvSpPr>
        <p:spPr>
          <a:xfrm>
            <a:off x="2011680" y="1225296"/>
            <a:ext cx="5943600" cy="65836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진행 중인 검정 마무리 (개입 방식 자체가 나은가) · 판별 개선 (CLIP과의 불일치를 신호로)</a:t>
            </a:r>
            <a:endParaRPr lang="en-US" sz="1150" dirty="0"/>
          </a:p>
        </p:txBody>
      </p:sp>
      <p:sp>
        <p:nvSpPr>
          <p:cNvPr id="7" name="Text 5"/>
          <p:cNvSpPr/>
          <p:nvPr/>
        </p:nvSpPr>
        <p:spPr>
          <a:xfrm>
            <a:off x="8138160" y="1225296"/>
            <a:ext cx="3383280" cy="658368"/>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 실현 0.764 → 오라클 0.903 격차 줄이기</a:t>
            </a:r>
            <a:endParaRPr lang="en-US" sz="1050" dirty="0"/>
          </a:p>
        </p:txBody>
      </p:sp>
      <p:sp>
        <p:nvSpPr>
          <p:cNvPr id="8" name="Shape 6"/>
          <p:cNvSpPr/>
          <p:nvPr/>
        </p:nvSpPr>
        <p:spPr>
          <a:xfrm>
            <a:off x="502920" y="1993392"/>
            <a:ext cx="11201400" cy="658368"/>
          </a:xfrm>
          <a:prstGeom prst="roundRect">
            <a:avLst>
              <a:gd name="adj" fmla="val 8333"/>
            </a:avLst>
          </a:prstGeom>
          <a:solidFill>
            <a:srgbClr val="1D3850"/>
          </a:solidFill>
          <a:ln w="12700">
            <a:solidFill>
              <a:srgbClr val="2E4E6B"/>
            </a:solidFill>
            <a:prstDash val="solid"/>
          </a:ln>
        </p:spPr>
      </p:sp>
      <p:sp>
        <p:nvSpPr>
          <p:cNvPr id="9" name="Text 7"/>
          <p:cNvSpPr/>
          <p:nvPr/>
        </p:nvSpPr>
        <p:spPr>
          <a:xfrm>
            <a:off x="731520" y="1993392"/>
            <a:ext cx="1143000" cy="658368"/>
          </a:xfrm>
          <a:prstGeom prst="rect">
            <a:avLst/>
          </a:prstGeom>
          <a:noFill/>
          <a:ln/>
        </p:spPr>
        <p:txBody>
          <a:bodyPr wrap="square" lIns="0" tIns="0" rIns="0" bIns="0" rtlCol="0" anchor="ctr"/>
          <a:lstStyle/>
          <a:p>
            <a:pPr indent="0" marL="0">
              <a:buNone/>
            </a:pPr>
            <a:r>
              <a:rPr lang="en-US" sz="1250" b="1" dirty="0">
                <a:solidFill>
                  <a:srgbClr val="FF9E80"/>
                </a:solidFill>
                <a:latin typeface="Arial" pitchFamily="34" charset="0"/>
                <a:ea typeface="Arial" pitchFamily="34" charset="-122"/>
                <a:cs typeface="Arial" pitchFamily="34" charset="-120"/>
              </a:rPr>
              <a:t>1–2주</a:t>
            </a:r>
            <a:endParaRPr lang="en-US" sz="1250" dirty="0"/>
          </a:p>
        </p:txBody>
      </p:sp>
      <p:sp>
        <p:nvSpPr>
          <p:cNvPr id="10" name="Text 8"/>
          <p:cNvSpPr/>
          <p:nvPr/>
        </p:nvSpPr>
        <p:spPr>
          <a:xfrm>
            <a:off x="2011680" y="1993392"/>
            <a:ext cx="5943600" cy="65836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공개 벤치마크 포팅 (MuirBench · BLINK)</a:t>
            </a:r>
            <a:endParaRPr lang="en-US" sz="1150" dirty="0"/>
          </a:p>
        </p:txBody>
      </p:sp>
      <p:sp>
        <p:nvSpPr>
          <p:cNvPr id="11" name="Text 9"/>
          <p:cNvSpPr/>
          <p:nvPr/>
        </p:nvSpPr>
        <p:spPr>
          <a:xfrm>
            <a:off x="8138160" y="1993392"/>
            <a:ext cx="3383280" cy="658368"/>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 ★ 여기서 재현 안 되면 접습니다</a:t>
            </a:r>
            <a:endParaRPr lang="en-US" sz="1050" dirty="0"/>
          </a:p>
        </p:txBody>
      </p:sp>
      <p:sp>
        <p:nvSpPr>
          <p:cNvPr id="12" name="Shape 10"/>
          <p:cNvSpPr/>
          <p:nvPr/>
        </p:nvSpPr>
        <p:spPr>
          <a:xfrm>
            <a:off x="502920" y="2761488"/>
            <a:ext cx="11201400" cy="658368"/>
          </a:xfrm>
          <a:prstGeom prst="roundRect">
            <a:avLst>
              <a:gd name="adj" fmla="val 8333"/>
            </a:avLst>
          </a:prstGeom>
          <a:solidFill>
            <a:srgbClr val="1D3850"/>
          </a:solidFill>
          <a:ln w="12700">
            <a:solidFill>
              <a:srgbClr val="2E4E6B"/>
            </a:solidFill>
            <a:prstDash val="solid"/>
          </a:ln>
        </p:spPr>
      </p:sp>
      <p:sp>
        <p:nvSpPr>
          <p:cNvPr id="13" name="Text 11"/>
          <p:cNvSpPr/>
          <p:nvPr/>
        </p:nvSpPr>
        <p:spPr>
          <a:xfrm>
            <a:off x="731520" y="2761488"/>
            <a:ext cx="1143000" cy="658368"/>
          </a:xfrm>
          <a:prstGeom prst="rect">
            <a:avLst/>
          </a:prstGeom>
          <a:noFill/>
          <a:ln/>
        </p:spPr>
        <p:txBody>
          <a:bodyPr wrap="square" lIns="0" tIns="0" rIns="0" bIns="0" rtlCol="0" anchor="ctr"/>
          <a:lstStyle/>
          <a:p>
            <a:pPr indent="0" marL="0">
              <a:buNone/>
            </a:pPr>
            <a:r>
              <a:rPr lang="en-US" sz="1250" b="1" dirty="0">
                <a:solidFill>
                  <a:srgbClr val="7EC8F5"/>
                </a:solidFill>
                <a:latin typeface="Arial" pitchFamily="34" charset="0"/>
                <a:ea typeface="Arial" pitchFamily="34" charset="-122"/>
                <a:cs typeface="Arial" pitchFamily="34" charset="-120"/>
              </a:rPr>
              <a:t>3–4주</a:t>
            </a:r>
            <a:endParaRPr lang="en-US" sz="1250" dirty="0"/>
          </a:p>
        </p:txBody>
      </p:sp>
      <p:sp>
        <p:nvSpPr>
          <p:cNvPr id="14" name="Text 12"/>
          <p:cNvSpPr/>
          <p:nvPr/>
        </p:nvSpPr>
        <p:spPr>
          <a:xfrm>
            <a:off x="2011680" y="2761488"/>
            <a:ext cx="5943600" cy="65836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다른 모델군 1개 (LLaVA-OneVision-7B) 마스크 훅 포팅</a:t>
            </a:r>
            <a:endParaRPr lang="en-US" sz="1150" dirty="0"/>
          </a:p>
        </p:txBody>
      </p:sp>
      <p:sp>
        <p:nvSpPr>
          <p:cNvPr id="15" name="Text 13"/>
          <p:cNvSpPr/>
          <p:nvPr/>
        </p:nvSpPr>
        <p:spPr>
          <a:xfrm>
            <a:off x="8138160" y="2761488"/>
            <a:ext cx="3383280" cy="658368"/>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 기전이 Qwen 고유물이 아닌가</a:t>
            </a:r>
            <a:endParaRPr lang="en-US" sz="1050" dirty="0"/>
          </a:p>
        </p:txBody>
      </p:sp>
      <p:sp>
        <p:nvSpPr>
          <p:cNvPr id="16" name="Shape 14"/>
          <p:cNvSpPr/>
          <p:nvPr/>
        </p:nvSpPr>
        <p:spPr>
          <a:xfrm>
            <a:off x="502920" y="3529584"/>
            <a:ext cx="11201400" cy="658368"/>
          </a:xfrm>
          <a:prstGeom prst="roundRect">
            <a:avLst>
              <a:gd name="adj" fmla="val 8333"/>
            </a:avLst>
          </a:prstGeom>
          <a:solidFill>
            <a:srgbClr val="1D3850"/>
          </a:solidFill>
          <a:ln w="12700">
            <a:solidFill>
              <a:srgbClr val="2E4E6B"/>
            </a:solidFill>
            <a:prstDash val="solid"/>
          </a:ln>
        </p:spPr>
      </p:sp>
      <p:sp>
        <p:nvSpPr>
          <p:cNvPr id="17" name="Text 15"/>
          <p:cNvSpPr/>
          <p:nvPr/>
        </p:nvSpPr>
        <p:spPr>
          <a:xfrm>
            <a:off x="731520" y="3529584"/>
            <a:ext cx="1143000" cy="658368"/>
          </a:xfrm>
          <a:prstGeom prst="rect">
            <a:avLst/>
          </a:prstGeom>
          <a:noFill/>
          <a:ln/>
        </p:spPr>
        <p:txBody>
          <a:bodyPr wrap="square" lIns="0" tIns="0" rIns="0" bIns="0" rtlCol="0" anchor="ctr"/>
          <a:lstStyle/>
          <a:p>
            <a:pPr indent="0" marL="0">
              <a:buNone/>
            </a:pPr>
            <a:r>
              <a:rPr lang="en-US" sz="1250" b="1" dirty="0">
                <a:solidFill>
                  <a:srgbClr val="7EC8F5"/>
                </a:solidFill>
                <a:latin typeface="Arial" pitchFamily="34" charset="0"/>
                <a:ea typeface="Arial" pitchFamily="34" charset="-122"/>
                <a:cs typeface="Arial" pitchFamily="34" charset="-120"/>
              </a:rPr>
              <a:t>5–7주</a:t>
            </a:r>
            <a:endParaRPr lang="en-US" sz="1250" dirty="0"/>
          </a:p>
        </p:txBody>
      </p:sp>
      <p:sp>
        <p:nvSpPr>
          <p:cNvPr id="18" name="Text 16"/>
          <p:cNvSpPr/>
          <p:nvPr/>
        </p:nvSpPr>
        <p:spPr>
          <a:xfrm>
            <a:off x="2011680" y="3529584"/>
            <a:ext cx="5943600" cy="65836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인코더 재사용 구현 → 실측 속도 · 방해 5~8장 · 생성(자유 서술) 평가</a:t>
            </a:r>
            <a:endParaRPr lang="en-US" sz="1150" dirty="0"/>
          </a:p>
        </p:txBody>
      </p:sp>
      <p:sp>
        <p:nvSpPr>
          <p:cNvPr id="19" name="Text 17"/>
          <p:cNvSpPr/>
          <p:nvPr/>
        </p:nvSpPr>
        <p:spPr>
          <a:xfrm>
            <a:off x="8138160" y="3529584"/>
            <a:ext cx="3383280" cy="658368"/>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 비용 주장 확정 / 예-아니오 논문 탈피</a:t>
            </a:r>
            <a:endParaRPr lang="en-US" sz="1050" dirty="0"/>
          </a:p>
        </p:txBody>
      </p:sp>
      <p:sp>
        <p:nvSpPr>
          <p:cNvPr id="20" name="Shape 18"/>
          <p:cNvSpPr/>
          <p:nvPr/>
        </p:nvSpPr>
        <p:spPr>
          <a:xfrm>
            <a:off x="502920" y="4297680"/>
            <a:ext cx="11201400" cy="658368"/>
          </a:xfrm>
          <a:prstGeom prst="roundRect">
            <a:avLst>
              <a:gd name="adj" fmla="val 8333"/>
            </a:avLst>
          </a:prstGeom>
          <a:solidFill>
            <a:srgbClr val="1D3850"/>
          </a:solidFill>
          <a:ln w="12700">
            <a:solidFill>
              <a:srgbClr val="2E4E6B"/>
            </a:solidFill>
            <a:prstDash val="solid"/>
          </a:ln>
        </p:spPr>
      </p:sp>
      <p:sp>
        <p:nvSpPr>
          <p:cNvPr id="21" name="Text 19"/>
          <p:cNvSpPr/>
          <p:nvPr/>
        </p:nvSpPr>
        <p:spPr>
          <a:xfrm>
            <a:off x="731520" y="4297680"/>
            <a:ext cx="1143000" cy="658368"/>
          </a:xfrm>
          <a:prstGeom prst="rect">
            <a:avLst/>
          </a:prstGeom>
          <a:noFill/>
          <a:ln/>
        </p:spPr>
        <p:txBody>
          <a:bodyPr wrap="square" lIns="0" tIns="0" rIns="0" bIns="0" rtlCol="0" anchor="ctr"/>
          <a:lstStyle/>
          <a:p>
            <a:pPr indent="0" marL="0">
              <a:buNone/>
            </a:pPr>
            <a:r>
              <a:rPr lang="en-US" sz="1250" b="1" dirty="0">
                <a:solidFill>
                  <a:srgbClr val="8CE0B0"/>
                </a:solidFill>
                <a:latin typeface="Arial" pitchFamily="34" charset="0"/>
                <a:ea typeface="Arial" pitchFamily="34" charset="-122"/>
                <a:cs typeface="Arial" pitchFamily="34" charset="-120"/>
              </a:rPr>
              <a:t>8–11주</a:t>
            </a:r>
            <a:endParaRPr lang="en-US" sz="1250" dirty="0"/>
          </a:p>
        </p:txBody>
      </p:sp>
      <p:sp>
        <p:nvSpPr>
          <p:cNvPr id="22" name="Text 20"/>
          <p:cNvSpPr/>
          <p:nvPr/>
        </p:nvSpPr>
        <p:spPr>
          <a:xfrm>
            <a:off x="2011680" y="4297680"/>
            <a:ext cx="5943600" cy="65836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초고 → 내부 리뷰 2회 → 초록 11/06 → 제출 11/13</a:t>
            </a:r>
            <a:endParaRPr lang="en-US" sz="1150" dirty="0"/>
          </a:p>
        </p:txBody>
      </p:sp>
      <p:sp>
        <p:nvSpPr>
          <p:cNvPr id="23" name="Text 21"/>
          <p:cNvSpPr/>
          <p:nvPr/>
        </p:nvSpPr>
        <p:spPr>
          <a:xfrm>
            <a:off x="8138160" y="4297680"/>
            <a:ext cx="3383280" cy="658368"/>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 —</a:t>
            </a:r>
            <a:endParaRPr lang="en-US" sz="1050" dirty="0"/>
          </a:p>
        </p:txBody>
      </p:sp>
      <p:sp>
        <p:nvSpPr>
          <p:cNvPr id="24" name="Shape 22"/>
          <p:cNvSpPr/>
          <p:nvPr/>
        </p:nvSpPr>
        <p:spPr>
          <a:xfrm>
            <a:off x="502920" y="5138928"/>
            <a:ext cx="11201400" cy="822960"/>
          </a:xfrm>
          <a:prstGeom prst="roundRect">
            <a:avLst>
              <a:gd name="adj" fmla="val 6667"/>
            </a:avLst>
          </a:prstGeom>
          <a:solidFill>
            <a:srgbClr val="3A2430"/>
          </a:solidFill>
          <a:ln w="15240">
            <a:solidFill>
              <a:srgbClr val="6B3A4A"/>
            </a:solidFill>
            <a:prstDash val="solid"/>
          </a:ln>
        </p:spPr>
      </p:sp>
      <p:sp>
        <p:nvSpPr>
          <p:cNvPr id="25" name="Text 23"/>
          <p:cNvSpPr/>
          <p:nvPr/>
        </p:nvSpPr>
        <p:spPr>
          <a:xfrm>
            <a:off x="777240" y="5230368"/>
            <a:ext cx="10698480" cy="256032"/>
          </a:xfrm>
          <a:prstGeom prst="rect">
            <a:avLst/>
          </a:prstGeom>
          <a:noFill/>
          <a:ln/>
        </p:spPr>
        <p:txBody>
          <a:bodyPr wrap="square" lIns="0" tIns="0" rIns="0" bIns="0" rtlCol="0" anchor="ctr"/>
          <a:lstStyle/>
          <a:p>
            <a:pPr indent="0" marL="0">
              <a:buNone/>
            </a:pPr>
            <a:r>
              <a:rPr lang="en-US" sz="1200" b="1" dirty="0">
                <a:solidFill>
                  <a:srgbClr val="FFB4A2"/>
                </a:solidFill>
                <a:latin typeface="Arial" pitchFamily="34" charset="0"/>
                <a:ea typeface="Arial" pitchFamily="34" charset="-122"/>
                <a:cs typeface="Arial" pitchFamily="34" charset="-120"/>
              </a:rPr>
              <a:t>가장 큰 위험: 지금 모든 결과가 우리가 만든 COCO 기반 벤치와 예/아니오 단답에 한정됩니다.</a:t>
            </a:r>
            <a:endParaRPr lang="en-US" sz="1200" dirty="0"/>
          </a:p>
        </p:txBody>
      </p:sp>
      <p:sp>
        <p:nvSpPr>
          <p:cNvPr id="26" name="Text 24"/>
          <p:cNvSpPr/>
          <p:nvPr/>
        </p:nvSpPr>
        <p:spPr>
          <a:xfrm>
            <a:off x="777240" y="5522976"/>
            <a:ext cx="10698480" cy="256032"/>
          </a:xfrm>
          <a:prstGeom prst="rect">
            <a:avLst/>
          </a:prstGeom>
          <a:noFill/>
          <a:ln/>
        </p:spPr>
        <p:txBody>
          <a:bodyPr wrap="square" lIns="0" tIns="0" rIns="0" bIns="0" rtlCol="0" anchor="ctr"/>
          <a:lstStyle/>
          <a:p>
            <a:pPr indent="0" marL="0">
              <a:buNone/>
            </a:pPr>
            <a:r>
              <a:rPr lang="en-US" sz="1100" dirty="0">
                <a:solidFill>
                  <a:srgbClr val="D0BCC4"/>
                </a:solidFill>
                <a:latin typeface="Arial" pitchFamily="34" charset="0"/>
                <a:ea typeface="Arial" pitchFamily="34" charset="-122"/>
                <a:cs typeface="Arial" pitchFamily="34" charset="-120"/>
              </a:rPr>
              <a:t>공개 벤치마크에서 재현되지 않으면 2주차에 접습니다. 그 판정 기준을 지금 문서로 고정해두겠습니다.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2026-08-25T04:58:39Z</dcterms:created>
  <dcterms:modified xsi:type="dcterms:W3CDTF">2026-08-25T04:58:39Z</dcterms:modified>
</cp:coreProperties>
</file>