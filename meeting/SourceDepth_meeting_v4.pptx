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보고는 한 문장입니다 — '이미지마다 계산 깊이를 다르게 주면 환각이 줄고 계산도 준다', 이 가설이 실험에서 성립했습니다. 세 개의 숫자(21% 오염, 81% 회복, 정반대 최적 깊이)로 차례로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결과를 자랑하러 온 게 아니라, 가설이 어디서 무너졌는지 보고드리고 1주일만 더 확인할 시간을 요청드리려고 왔습니다.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 자체는 알려져 있습니다. 저희의 차별점은 '어느 깊이에서 섞이는가'를 재고, '계산을 줄이면서' 고치는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차단은 attention 계산에서 그 이미지 토큰을 제외하는 것이라, 수학적으로 '없는 것'과 동일합니다. 다만 차단 이전 층에서 이미 새어나간 정보는 못 막는데, 그 잔여분도 실측했고 오답의 19% 이하였습니다.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설계의 핵심은 대조군입니다. 방해 이미지에 물건이 있는 문항과 없는 문항을 똑같이 150개씩 두면, 뒤집힘이 물건 때문인지 아닌지 바로 구분됩니다. 그리고 판정 기준을 실험 전에 동결했습니다.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측정 장치 자체를 먼저 검증했습니다. 특히 세 번째 — 마스킹이 흉내가 아니라 토큰을 실제로 삭제한 구현과 100% 같은 예측을 낸다는 것까지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정직하게 말합니다. 7B에서 우리 벤치로는 안 잡힙니다. 이유는 천장 효과이고, 문헌은 더 어려운 벤치에서 7B도 무너진다고 보고합니다. 그래서 Phase 1의 과제 중 하나가 벤치 이동입니다.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회복 81% 대 부작용 3.7%, 22배입니다. 그리고 차단 결과가 이미지 1장만 준 것보다 높다는 것 — '얕게 차단하는 것이 더 싸면서 더 정확하다'는 제안서의 문장이 그대로 실측됐습니다.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 회복이 우연 아니냐'에 대한 답입니다. 질문 대상을 반대로 차단하면 정답률이 무너져야 진짜인데, 실제로 0.79에서 0.50으로 무너졌고 답이 정확히 '보이는 이미지'를 따라갔습니다.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중요한 단서를 하나 답니다. relational 질문에서 -51%p는 치명적으로 보이지만, '이 질문이 비교형인가'는 텍스트만 보고 0층에서 판정할 수 있습니다. 즉 이 실패는 게이트로 회피 가능합니다. 반면 '어느 이미지가 관련인가'는 그렇지 않고, 그게 다음 슬라이드입니다.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슬라이드의 마지막 한 줄이 가장 중요합니다. 지금까지 보여드린 모든 이득은 oracle 조건입니다. 그 조건이 실현 가능한지가 이 연구의 사활이고, 다음 슬라이드가 그 답입니다.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오늘 발표의 핵심입니다. 실패를 보고하는 게 아니라, 실패의 구조적 이유를 규명한 것을 보고합니다. FastV 같은 기존 동적 pruning도 얕은 층 attention을 쓰는데, Feather the Throttle(ICCV25)이 그 신호가 위치 편향임을 토큰 단위로 보였고 저희가 이미지 단위로 확인했습니다. 즉 이건 우리 방법만의 문제가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novelty 우려는 저희가 먼저 조사했습니다. 12편 전부 원문 확인했고, 과한 주장은 버렸습니다. 남는 칸이 이 연구의 자리이고, 이 칸은 비어 있습니다. 단 결합 novelty라는 지적을 피하려면 차등 배분의 이득을 실증해야 하고, 그게 지금 밤새 돌고 있는 실험입니다.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어제 저는 이 논문 때문에 자리가 찼다고 판단했었습니다. 그런데 원문 19페이지를 대조해 보니 핵심 수치를 제가 잘못 읽었더군요. 26.4에서 49.4는 마스킹이 아니라 대부분 학습 데이터가 만든 것이고, 동일 조건에서 마스킹 단독 효과는 3.3점입니다. 그리고 파인튜닝이 전제입니다. 이걸 확인하고 판단을 바꿨습니다.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1주일이면 충분합니다. 인프라와 데이터가 이미 다 있어서 새로 만들 게 없습니다. 그리고 이번에도 판정 기준을 먼저 정해두고 들어가겠습니다 — 게이트 1과 2가 모두 실패하면 미련 없이 접겠습니다.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638"/>
        </a:solidFill>
      </p:bgPr>
    </p:bg>
    <p:spTree>
      <p:nvGrpSpPr>
        <p:cNvPr id="1" name=""/>
        <p:cNvGrpSpPr/>
        <p:nvPr/>
      </p:nvGrpSpPr>
      <p:grpSpPr>
        <a:xfrm>
          <a:off x="0" y="0"/>
          <a:ext cx="0" cy="0"/>
          <a:chOff x="0" y="0"/>
          <a:chExt cx="0" cy="0"/>
        </a:xfrm>
      </p:grpSpPr>
      <p:sp>
        <p:nvSpPr>
          <p:cNvPr id="2" name="Text 0"/>
          <p:cNvSpPr/>
          <p:nvPr/>
        </p:nvSpPr>
        <p:spPr>
          <a:xfrm>
            <a:off x="548640" y="457200"/>
            <a:ext cx="10058400" cy="292608"/>
          </a:xfrm>
          <a:prstGeom prst="rect">
            <a:avLst/>
          </a:prstGeom>
          <a:noFill/>
          <a:ln/>
        </p:spPr>
        <p:txBody>
          <a:bodyPr wrap="square" lIns="0" tIns="0" rIns="0" bIns="0" rtlCol="0" anchor="ctr"/>
          <a:lstStyle/>
          <a:p>
            <a:pPr indent="0" marL="0">
              <a:buNone/>
            </a:pPr>
            <a:r>
              <a:rPr lang="en-US" sz="1150" b="1" spc="100" kern="0" dirty="0">
                <a:solidFill>
                  <a:srgbClr val="8AA5BC"/>
                </a:solidFill>
                <a:latin typeface="Arial" pitchFamily="34" charset="0"/>
                <a:ea typeface="Arial" pitchFamily="34" charset="-122"/>
                <a:cs typeface="Arial" pitchFamily="34" charset="-120"/>
              </a:rPr>
              <a:t>SOURCEDEPTH · 검증 실험(PHASE 0) 결과 보고 · 2026-08-12 · IMML Lab 한상민</a:t>
            </a:r>
            <a:endParaRPr lang="en-US" sz="1150" dirty="0"/>
          </a:p>
        </p:txBody>
      </p:sp>
      <p:sp>
        <p:nvSpPr>
          <p:cNvPr id="3" name="Text 1"/>
          <p:cNvSpPr/>
          <p:nvPr/>
        </p:nvSpPr>
        <p:spPr>
          <a:xfrm>
            <a:off x="548640" y="1051560"/>
            <a:ext cx="11155680" cy="1737360"/>
          </a:xfrm>
          <a:prstGeom prst="rect">
            <a:avLst/>
          </a:prstGeom>
          <a:noFill/>
          <a:ln/>
        </p:spPr>
        <p:txBody>
          <a:bodyPr wrap="square" lIns="0" tIns="0" rIns="0" bIns="0" rtlCol="0" anchor="ctr"/>
          <a:lstStyle/>
          <a:p>
            <a:pPr indent="0" marL="0">
              <a:lnSpc>
                <a:spcPct val="115000"/>
              </a:lnSpc>
              <a:buNone/>
            </a:pPr>
            <a:r>
              <a:rPr lang="en-US" sz="3200" b="1" dirty="0">
                <a:solidFill>
                  <a:srgbClr val="FFFFFF"/>
                </a:solidFill>
                <a:latin typeface="Arial" pitchFamily="34" charset="0"/>
                <a:ea typeface="Arial" pitchFamily="34" charset="-122"/>
                <a:cs typeface="Arial" pitchFamily="34" charset="-120"/>
              </a:rPr>
              <a:t>이미지마다 계산 깊이를 다르게 주면,</a:t>
            </a:r>
            <a:endParaRPr lang="en-US" sz="3200" dirty="0"/>
          </a:p>
          <a:p>
            <a:pPr indent="0" marL="0">
              <a:lnSpc>
                <a:spcPct val="115000"/>
              </a:lnSpc>
              <a:buNone/>
            </a:pPr>
            <a:r>
              <a:rPr lang="en-US" sz="3200" b="1" dirty="0">
                <a:solidFill>
                  <a:srgbClr val="FFFFFF"/>
                </a:solidFill>
                <a:latin typeface="Arial" pitchFamily="34" charset="0"/>
                <a:ea typeface="Arial" pitchFamily="34" charset="-122"/>
                <a:cs typeface="Arial" pitchFamily="34" charset="-120"/>
              </a:rPr>
              <a:t>멀티이미지 환각이 줄고 계산도 준다</a:t>
            </a:r>
            <a:endParaRPr lang="en-US" sz="3200" dirty="0"/>
          </a:p>
        </p:txBody>
      </p:sp>
      <p:sp>
        <p:nvSpPr>
          <p:cNvPr id="4" name="Text 2"/>
          <p:cNvSpPr/>
          <p:nvPr/>
        </p:nvSpPr>
        <p:spPr>
          <a:xfrm>
            <a:off x="548640" y="2834640"/>
            <a:ext cx="10972800" cy="411480"/>
          </a:xfrm>
          <a:prstGeom prst="rect">
            <a:avLst/>
          </a:prstGeom>
          <a:noFill/>
          <a:ln/>
        </p:spPr>
        <p:txBody>
          <a:bodyPr wrap="square" lIns="0" tIns="0" rIns="0" bIns="0" rtlCol="0" anchor="ctr"/>
          <a:lstStyle/>
          <a:p>
            <a:pPr indent="0" marL="0">
              <a:buNone/>
            </a:pPr>
            <a:r>
              <a:rPr lang="en-US" sz="1500" dirty="0">
                <a:solidFill>
                  <a:srgbClr val="AFC6DA"/>
                </a:solidFill>
                <a:latin typeface="Arial" pitchFamily="34" charset="0"/>
                <a:ea typeface="Arial" pitchFamily="34" charset="-122"/>
                <a:cs typeface="Arial" pitchFamily="34" charset="-120"/>
              </a:rPr>
              <a:t>검증 실험 결과 보고 — 그리고 1주일 추가 검증 요청</a:t>
            </a:r>
            <a:endParaRPr lang="en-US" sz="1500" dirty="0"/>
          </a:p>
        </p:txBody>
      </p:sp>
      <p:sp>
        <p:nvSpPr>
          <p:cNvPr id="5" name="Shape 3"/>
          <p:cNvSpPr/>
          <p:nvPr/>
        </p:nvSpPr>
        <p:spPr>
          <a:xfrm>
            <a:off x="548640" y="3520440"/>
            <a:ext cx="3611880" cy="2606040"/>
          </a:xfrm>
          <a:prstGeom prst="roundRect">
            <a:avLst>
              <a:gd name="adj" fmla="val 3509"/>
            </a:avLst>
          </a:prstGeom>
          <a:solidFill>
            <a:srgbClr val="1D3850"/>
          </a:solidFill>
          <a:ln w="12700">
            <a:solidFill>
              <a:srgbClr val="2E4E6B"/>
            </a:solidFill>
            <a:prstDash val="solid"/>
          </a:ln>
        </p:spPr>
      </p:sp>
      <p:sp>
        <p:nvSpPr>
          <p:cNvPr id="6" name="Text 4"/>
          <p:cNvSpPr/>
          <p:nvPr/>
        </p:nvSpPr>
        <p:spPr>
          <a:xfrm>
            <a:off x="777240" y="3721608"/>
            <a:ext cx="3154680" cy="411480"/>
          </a:xfrm>
          <a:prstGeom prst="rect">
            <a:avLst/>
          </a:prstGeom>
          <a:noFill/>
          <a:ln/>
        </p:spPr>
        <p:txBody>
          <a:bodyPr wrap="square" lIns="0" tIns="0" rIns="0" bIns="0" rtlCol="0" anchor="ctr"/>
          <a:lstStyle/>
          <a:p>
            <a:pPr indent="0" marL="0">
              <a:buNone/>
            </a:pPr>
            <a:r>
              <a:rPr lang="en-US" sz="1550" b="1" dirty="0">
                <a:solidFill>
                  <a:srgbClr val="7EC8F5"/>
                </a:solidFill>
                <a:latin typeface="Arial" pitchFamily="34" charset="0"/>
                <a:ea typeface="Arial" pitchFamily="34" charset="-122"/>
                <a:cs typeface="Arial" pitchFamily="34" charset="-120"/>
              </a:rPr>
              <a:t>가설의 앞부분은 확인됐다</a:t>
            </a:r>
            <a:endParaRPr lang="en-US" sz="1550" dirty="0"/>
          </a:p>
        </p:txBody>
      </p:sp>
      <p:sp>
        <p:nvSpPr>
          <p:cNvPr id="7" name="Text 5"/>
          <p:cNvSpPr/>
          <p:nvPr/>
        </p:nvSpPr>
        <p:spPr>
          <a:xfrm>
            <a:off x="777240" y="4251960"/>
            <a:ext cx="3154680" cy="1188720"/>
          </a:xfrm>
          <a:prstGeom prst="rect">
            <a:avLst/>
          </a:prstGeom>
          <a:noFill/>
          <a:ln/>
        </p:spPr>
        <p:txBody>
          <a:bodyPr wrap="square" lIns="0" tIns="0" rIns="0" bIns="0" rtlCol="0" anchor="ctr"/>
          <a:lstStyle/>
          <a:p>
            <a:pPr indent="0" marL="0">
              <a:lnSpc>
                <a:spcPct val="125000"/>
              </a:lnSpc>
              <a:buNone/>
            </a:pPr>
            <a:r>
              <a:rPr lang="en-US" sz="1350" dirty="0">
                <a:solidFill>
                  <a:srgbClr val="FFFFFF"/>
                </a:solidFill>
                <a:latin typeface="Arial" pitchFamily="34" charset="0"/>
                <a:ea typeface="Arial" pitchFamily="34" charset="-122"/>
                <a:cs typeface="Arial" pitchFamily="34" charset="-120"/>
              </a:rPr>
              <a:t>무관한 이미지가 답의 21%를 뒤집고(대조군 0%),</a:t>
            </a:r>
            <a:endParaRPr lang="en-US" sz="1350" dirty="0"/>
          </a:p>
          <a:p>
            <a:pPr indent="0" marL="0">
              <a:lnSpc>
                <a:spcPct val="125000"/>
              </a:lnSpc>
              <a:buNone/>
            </a:pPr>
            <a:r>
              <a:rPr lang="en-US" sz="1350" dirty="0">
                <a:solidFill>
                  <a:srgbClr val="FFFFFF"/>
                </a:solidFill>
                <a:latin typeface="Arial" pitchFamily="34" charset="0"/>
                <a:ea typeface="Arial" pitchFamily="34" charset="-122"/>
                <a:cs typeface="Arial" pitchFamily="34" charset="-120"/>
              </a:rPr>
              <a:t>차단으로 81%가 회복되며, 반대로 정답 이미지를</a:t>
            </a:r>
            <a:endParaRPr lang="en-US" sz="1350" dirty="0"/>
          </a:p>
          <a:p>
            <a:pPr indent="0" marL="0">
              <a:lnSpc>
                <a:spcPct val="125000"/>
              </a:lnSpc>
              <a:buNone/>
            </a:pPr>
            <a:r>
              <a:rPr lang="en-US" sz="1350" dirty="0">
                <a:solidFill>
                  <a:srgbClr val="FFFFFF"/>
                </a:solidFill>
                <a:latin typeface="Arial" pitchFamily="34" charset="0"/>
                <a:ea typeface="Arial" pitchFamily="34" charset="-122"/>
                <a:cs typeface="Arial" pitchFamily="34" charset="-120"/>
              </a:rPr>
              <a:t>자르면 0.79→0.50으로 붕괴한다</a:t>
            </a:r>
            <a:endParaRPr lang="en-US" sz="1350" dirty="0"/>
          </a:p>
        </p:txBody>
      </p:sp>
      <p:sp>
        <p:nvSpPr>
          <p:cNvPr id="8" name="Text 6"/>
          <p:cNvSpPr/>
          <p:nvPr/>
        </p:nvSpPr>
        <p:spPr>
          <a:xfrm>
            <a:off x="777240" y="5532120"/>
            <a:ext cx="3154680" cy="457200"/>
          </a:xfrm>
          <a:prstGeom prst="rect">
            <a:avLst/>
          </a:prstGeom>
          <a:noFill/>
          <a:ln/>
        </p:spPr>
        <p:txBody>
          <a:bodyPr wrap="square" lIns="0" tIns="0" rIns="0" bIns="0" rtlCol="0" anchor="ctr"/>
          <a:lstStyle/>
          <a:p>
            <a:pPr indent="0" marL="0">
              <a:buNone/>
            </a:pPr>
            <a:r>
              <a:rPr lang="en-US" sz="1100" dirty="0">
                <a:solidFill>
                  <a:srgbClr val="9FB8CE"/>
                </a:solidFill>
                <a:latin typeface="Arial" pitchFamily="34" charset="0"/>
                <a:ea typeface="Arial" pitchFamily="34" charset="-122"/>
                <a:cs typeface="Arial" pitchFamily="34" charset="-120"/>
              </a:rPr>
              <a:t>인과까지 확인 · 3B</a:t>
            </a:r>
            <a:endParaRPr lang="en-US" sz="1100" dirty="0"/>
          </a:p>
        </p:txBody>
      </p:sp>
      <p:sp>
        <p:nvSpPr>
          <p:cNvPr id="9" name="Shape 7"/>
          <p:cNvSpPr/>
          <p:nvPr/>
        </p:nvSpPr>
        <p:spPr>
          <a:xfrm>
            <a:off x="4343400" y="3520440"/>
            <a:ext cx="3611880" cy="2606040"/>
          </a:xfrm>
          <a:prstGeom prst="roundRect">
            <a:avLst>
              <a:gd name="adj" fmla="val 3509"/>
            </a:avLst>
          </a:prstGeom>
          <a:solidFill>
            <a:srgbClr val="1D3850"/>
          </a:solidFill>
          <a:ln w="12700">
            <a:solidFill>
              <a:srgbClr val="2E4E6B"/>
            </a:solidFill>
            <a:prstDash val="solid"/>
          </a:ln>
        </p:spPr>
      </p:sp>
      <p:sp>
        <p:nvSpPr>
          <p:cNvPr id="10" name="Text 8"/>
          <p:cNvSpPr/>
          <p:nvPr/>
        </p:nvSpPr>
        <p:spPr>
          <a:xfrm>
            <a:off x="4572000" y="3721608"/>
            <a:ext cx="3154680" cy="411480"/>
          </a:xfrm>
          <a:prstGeom prst="rect">
            <a:avLst/>
          </a:prstGeom>
          <a:noFill/>
          <a:ln/>
        </p:spPr>
        <p:txBody>
          <a:bodyPr wrap="square" lIns="0" tIns="0" rIns="0" bIns="0" rtlCol="0" anchor="ctr"/>
          <a:lstStyle/>
          <a:p>
            <a:pPr indent="0" marL="0">
              <a:buNone/>
            </a:pPr>
            <a:r>
              <a:rPr lang="en-US" sz="1550" b="1" dirty="0">
                <a:solidFill>
                  <a:srgbClr val="7EC8F5"/>
                </a:solidFill>
                <a:latin typeface="Arial" pitchFamily="34" charset="0"/>
                <a:ea typeface="Arial" pitchFamily="34" charset="-122"/>
                <a:cs typeface="Arial" pitchFamily="34" charset="-120"/>
              </a:rPr>
              <a:t>뒷부분은 제 손으로 반증했다</a:t>
            </a:r>
            <a:endParaRPr lang="en-US" sz="1550" dirty="0"/>
          </a:p>
        </p:txBody>
      </p:sp>
      <p:sp>
        <p:nvSpPr>
          <p:cNvPr id="11" name="Text 9"/>
          <p:cNvSpPr/>
          <p:nvPr/>
        </p:nvSpPr>
        <p:spPr>
          <a:xfrm>
            <a:off x="4572000" y="4251960"/>
            <a:ext cx="3154680" cy="1188720"/>
          </a:xfrm>
          <a:prstGeom prst="rect">
            <a:avLst/>
          </a:prstGeom>
          <a:noFill/>
          <a:ln/>
        </p:spPr>
        <p:txBody>
          <a:bodyPr wrap="square" lIns="0" tIns="0" rIns="0" bIns="0" rtlCol="0" anchor="ctr"/>
          <a:lstStyle/>
          <a:p>
            <a:pPr indent="0" marL="0">
              <a:lnSpc>
                <a:spcPct val="125000"/>
              </a:lnSpc>
              <a:buNone/>
            </a:pPr>
            <a:r>
              <a:rPr lang="en-US" sz="1350" dirty="0">
                <a:solidFill>
                  <a:srgbClr val="FFFFFF"/>
                </a:solidFill>
                <a:latin typeface="Arial" pitchFamily="34" charset="0"/>
                <a:ea typeface="Arial" pitchFamily="34" charset="-122"/>
                <a:cs typeface="Arial" pitchFamily="34" charset="-120"/>
              </a:rPr>
              <a:t>"이미지마다 다르게"의 이득 상한은 +2.7%p였고,</a:t>
            </a:r>
            <a:endParaRPr lang="en-US" sz="1350" dirty="0"/>
          </a:p>
          <a:p>
            <a:pPr indent="0" marL="0">
              <a:lnSpc>
                <a:spcPct val="125000"/>
              </a:lnSpc>
              <a:buNone/>
            </a:pPr>
            <a:r>
              <a:rPr lang="en-US" sz="1350" dirty="0">
                <a:solidFill>
                  <a:srgbClr val="FFFFFF"/>
                </a:solidFill>
                <a:latin typeface="Arial" pitchFamily="34" charset="0"/>
                <a:ea typeface="Arial" pitchFamily="34" charset="-122"/>
                <a:cs typeface="Arial" pitchFamily="34" charset="-120"/>
              </a:rPr>
              <a:t>관련 이미지를 스스로 판정하는 시점이</a:t>
            </a:r>
            <a:endParaRPr lang="en-US" sz="1350" dirty="0"/>
          </a:p>
          <a:p>
            <a:pPr indent="0" marL="0">
              <a:lnSpc>
                <a:spcPct val="125000"/>
              </a:lnSpc>
              <a:buNone/>
            </a:pPr>
            <a:r>
              <a:rPr lang="en-US" sz="1350" dirty="0">
                <a:solidFill>
                  <a:srgbClr val="FFFFFF"/>
                </a:solidFill>
                <a:latin typeface="Arial" pitchFamily="34" charset="0"/>
                <a:ea typeface="Arial" pitchFamily="34" charset="-122"/>
                <a:cs typeface="Arial" pitchFamily="34" charset="-120"/>
              </a:rPr>
              <a:t>개입해야 하는 시점보다 늦다</a:t>
            </a:r>
            <a:endParaRPr lang="en-US" sz="1350" dirty="0"/>
          </a:p>
        </p:txBody>
      </p:sp>
      <p:sp>
        <p:nvSpPr>
          <p:cNvPr id="12" name="Text 10"/>
          <p:cNvSpPr/>
          <p:nvPr/>
        </p:nvSpPr>
        <p:spPr>
          <a:xfrm>
            <a:off x="4572000" y="5532120"/>
            <a:ext cx="3154680" cy="457200"/>
          </a:xfrm>
          <a:prstGeom prst="rect">
            <a:avLst/>
          </a:prstGeom>
          <a:noFill/>
          <a:ln/>
        </p:spPr>
        <p:txBody>
          <a:bodyPr wrap="square" lIns="0" tIns="0" rIns="0" bIns="0" rtlCol="0" anchor="ctr"/>
          <a:lstStyle/>
          <a:p>
            <a:pPr indent="0" marL="0">
              <a:buNone/>
            </a:pPr>
            <a:r>
              <a:rPr lang="en-US" sz="1100" dirty="0">
                <a:solidFill>
                  <a:srgbClr val="9FB8CE"/>
                </a:solidFill>
                <a:latin typeface="Arial" pitchFamily="34" charset="0"/>
                <a:ea typeface="Arial" pitchFamily="34" charset="-122"/>
                <a:cs typeface="Arial" pitchFamily="34" charset="-120"/>
              </a:rPr>
              <a:t>단, 좁은 조건에서의 결론</a:t>
            </a:r>
            <a:endParaRPr lang="en-US" sz="1100" dirty="0"/>
          </a:p>
        </p:txBody>
      </p:sp>
      <p:sp>
        <p:nvSpPr>
          <p:cNvPr id="13" name="Shape 11"/>
          <p:cNvSpPr/>
          <p:nvPr/>
        </p:nvSpPr>
        <p:spPr>
          <a:xfrm>
            <a:off x="8138160" y="3520440"/>
            <a:ext cx="3611880" cy="2606040"/>
          </a:xfrm>
          <a:prstGeom prst="roundRect">
            <a:avLst>
              <a:gd name="adj" fmla="val 3509"/>
            </a:avLst>
          </a:prstGeom>
          <a:solidFill>
            <a:srgbClr val="1D3850"/>
          </a:solidFill>
          <a:ln w="12700">
            <a:solidFill>
              <a:srgbClr val="2E4E6B"/>
            </a:solidFill>
            <a:prstDash val="solid"/>
          </a:ln>
        </p:spPr>
      </p:sp>
      <p:sp>
        <p:nvSpPr>
          <p:cNvPr id="14" name="Text 12"/>
          <p:cNvSpPr/>
          <p:nvPr/>
        </p:nvSpPr>
        <p:spPr>
          <a:xfrm>
            <a:off x="8366760" y="3721608"/>
            <a:ext cx="3154680" cy="411480"/>
          </a:xfrm>
          <a:prstGeom prst="rect">
            <a:avLst/>
          </a:prstGeom>
          <a:noFill/>
          <a:ln/>
        </p:spPr>
        <p:txBody>
          <a:bodyPr wrap="square" lIns="0" tIns="0" rIns="0" bIns="0" rtlCol="0" anchor="ctr"/>
          <a:lstStyle/>
          <a:p>
            <a:pPr indent="0" marL="0">
              <a:buNone/>
            </a:pPr>
            <a:r>
              <a:rPr lang="en-US" sz="1550" b="1" dirty="0">
                <a:solidFill>
                  <a:srgbClr val="7EC8F5"/>
                </a:solidFill>
                <a:latin typeface="Arial" pitchFamily="34" charset="0"/>
                <a:ea typeface="Arial" pitchFamily="34" charset="-122"/>
                <a:cs typeface="Arial" pitchFamily="34" charset="-120"/>
              </a:rPr>
              <a:t>그런데 자리는 비어 있다</a:t>
            </a:r>
            <a:endParaRPr lang="en-US" sz="1550" dirty="0"/>
          </a:p>
        </p:txBody>
      </p:sp>
      <p:sp>
        <p:nvSpPr>
          <p:cNvPr id="15" name="Text 13"/>
          <p:cNvSpPr/>
          <p:nvPr/>
        </p:nvSpPr>
        <p:spPr>
          <a:xfrm>
            <a:off x="8366760" y="4251960"/>
            <a:ext cx="3154680" cy="1188720"/>
          </a:xfrm>
          <a:prstGeom prst="rect">
            <a:avLst/>
          </a:prstGeom>
          <a:noFill/>
          <a:ln/>
        </p:spPr>
        <p:txBody>
          <a:bodyPr wrap="square" lIns="0" tIns="0" rIns="0" bIns="0" rtlCol="0" anchor="ctr"/>
          <a:lstStyle/>
          <a:p>
            <a:pPr indent="0" marL="0">
              <a:lnSpc>
                <a:spcPct val="125000"/>
              </a:lnSpc>
              <a:buNone/>
            </a:pPr>
            <a:r>
              <a:rPr lang="en-US" sz="1350" dirty="0">
                <a:solidFill>
                  <a:srgbClr val="FFFFFF"/>
                </a:solidFill>
                <a:latin typeface="Arial" pitchFamily="34" charset="0"/>
                <a:ea typeface="Arial" pitchFamily="34" charset="-122"/>
                <a:cs typeface="Arial" pitchFamily="34" charset="-120"/>
              </a:rPr>
              <a:t>가장 가까운 최근 연구를 원문 대조해 보니</a:t>
            </a:r>
            <a:endParaRPr lang="en-US" sz="1350" dirty="0"/>
          </a:p>
          <a:p>
            <a:pPr indent="0" marL="0">
              <a:lnSpc>
                <a:spcPct val="125000"/>
              </a:lnSpc>
              <a:buNone/>
            </a:pPr>
            <a:r>
              <a:rPr lang="en-US" sz="1350" dirty="0">
                <a:solidFill>
                  <a:srgbClr val="FFFFFF"/>
                </a:solidFill>
                <a:latin typeface="Arial" pitchFamily="34" charset="0"/>
                <a:ea typeface="Arial" pitchFamily="34" charset="-122"/>
                <a:cs typeface="Arial" pitchFamily="34" charset="-120"/>
              </a:rPr>
              <a:t>training-free 추론시 개입 · 환각 평가는</a:t>
            </a:r>
            <a:endParaRPr lang="en-US" sz="1350" dirty="0"/>
          </a:p>
          <a:p>
            <a:pPr indent="0" marL="0">
              <a:lnSpc>
                <a:spcPct val="125000"/>
              </a:lnSpc>
              <a:buNone/>
            </a:pPr>
            <a:r>
              <a:rPr lang="en-US" sz="1350" dirty="0">
                <a:solidFill>
                  <a:srgbClr val="FFFFFF"/>
                </a:solidFill>
                <a:latin typeface="Arial" pitchFamily="34" charset="0"/>
                <a:ea typeface="Arial" pitchFamily="34" charset="-122"/>
                <a:cs typeface="Arial" pitchFamily="34" charset="-120"/>
              </a:rPr>
              <a:t>다루지 않았고, 열린 질문을 남겼다</a:t>
            </a:r>
            <a:endParaRPr lang="en-US" sz="1350" dirty="0"/>
          </a:p>
        </p:txBody>
      </p:sp>
      <p:sp>
        <p:nvSpPr>
          <p:cNvPr id="16" name="Text 14"/>
          <p:cNvSpPr/>
          <p:nvPr/>
        </p:nvSpPr>
        <p:spPr>
          <a:xfrm>
            <a:off x="8366760" y="5532120"/>
            <a:ext cx="3154680" cy="457200"/>
          </a:xfrm>
          <a:prstGeom prst="rect">
            <a:avLst/>
          </a:prstGeom>
          <a:noFill/>
          <a:ln/>
        </p:spPr>
        <p:txBody>
          <a:bodyPr wrap="square" lIns="0" tIns="0" rIns="0" bIns="0" rtlCol="0" anchor="ctr"/>
          <a:lstStyle/>
          <a:p>
            <a:pPr indent="0" marL="0">
              <a:buNone/>
            </a:pPr>
            <a:r>
              <a:rPr lang="en-US" sz="1100" dirty="0">
                <a:solidFill>
                  <a:srgbClr val="9FB8CE"/>
                </a:solidFill>
                <a:latin typeface="Arial" pitchFamily="34" charset="0"/>
                <a:ea typeface="Arial" pitchFamily="34" charset="-122"/>
                <a:cs typeface="Arial" pitchFamily="34" charset="-120"/>
              </a:rPr>
              <a:t>→ 1주일만 더 검증하고 싶습니다</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37744"/>
            <a:ext cx="9601200" cy="292608"/>
          </a:xfrm>
          <a:prstGeom prst="rect">
            <a:avLst/>
          </a:prstGeom>
          <a:noFill/>
          <a:ln/>
        </p:spPr>
        <p:txBody>
          <a:bodyPr wrap="square" lIns="0" tIns="0" rIns="0" bIns="0" rtlCol="0" anchor="ctr"/>
          <a:lstStyle/>
          <a:p>
            <a:pPr indent="0" marL="0">
              <a:buNone/>
            </a:pPr>
            <a:r>
              <a:rPr lang="en-US" sz="1150" b="1" spc="100" kern="0" dirty="0">
                <a:solidFill>
                  <a:srgbClr val="1F77B4"/>
                </a:solidFill>
                <a:latin typeface="Arial" pitchFamily="34" charset="0"/>
                <a:ea typeface="Arial" pitchFamily="34" charset="-122"/>
                <a:cs typeface="Arial" pitchFamily="34" charset="-120"/>
              </a:rPr>
              <a:t>오늘 보고 순서</a:t>
            </a:r>
            <a:endParaRPr lang="en-US" sz="1150" dirty="0"/>
          </a:p>
        </p:txBody>
      </p:sp>
      <p:sp>
        <p:nvSpPr>
          <p:cNvPr id="3" name="Text 1"/>
          <p:cNvSpPr/>
          <p:nvPr/>
        </p:nvSpPr>
        <p:spPr>
          <a:xfrm>
            <a:off x="502920" y="512064"/>
            <a:ext cx="11155680" cy="731520"/>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실험 결과 → 해석 → 남은 질문 → 1주일 계획</a:t>
            </a:r>
            <a:endParaRPr lang="en-US" sz="2200" dirty="0"/>
          </a:p>
        </p:txBody>
      </p:sp>
      <p:sp>
        <p:nvSpPr>
          <p:cNvPr id="4" name="Shape 2"/>
          <p:cNvSpPr/>
          <p:nvPr/>
        </p:nvSpPr>
        <p:spPr>
          <a:xfrm>
            <a:off x="502920" y="1691640"/>
            <a:ext cx="2697480" cy="3566160"/>
          </a:xfrm>
          <a:prstGeom prst="roundRect">
            <a:avLst>
              <a:gd name="adj" fmla="val 3390"/>
            </a:avLst>
          </a:prstGeom>
          <a:solidFill>
            <a:srgbClr val="EFF4F9"/>
          </a:solidFill>
          <a:ln w="15875">
            <a:solidFill>
              <a:srgbClr val="6B7280"/>
            </a:solidFill>
            <a:prstDash val="solid"/>
          </a:ln>
        </p:spPr>
      </p:sp>
      <p:sp>
        <p:nvSpPr>
          <p:cNvPr id="5" name="Shape 3"/>
          <p:cNvSpPr/>
          <p:nvPr/>
        </p:nvSpPr>
        <p:spPr>
          <a:xfrm>
            <a:off x="685800" y="1874520"/>
            <a:ext cx="457200" cy="457200"/>
          </a:xfrm>
          <a:prstGeom prst="ellipse">
            <a:avLst/>
          </a:prstGeom>
          <a:solidFill>
            <a:srgbClr val="6B7280"/>
          </a:solidFill>
          <a:ln/>
        </p:spPr>
      </p:sp>
      <p:sp>
        <p:nvSpPr>
          <p:cNvPr id="6" name="Text 4"/>
          <p:cNvSpPr/>
          <p:nvPr/>
        </p:nvSpPr>
        <p:spPr>
          <a:xfrm>
            <a:off x="685800" y="1874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685800" y="2468880"/>
            <a:ext cx="2331720" cy="731520"/>
          </a:xfrm>
          <a:prstGeom prst="rect">
            <a:avLst/>
          </a:prstGeom>
          <a:noFill/>
          <a:ln/>
        </p:spPr>
        <p:txBody>
          <a:bodyPr wrap="square" lIns="0" tIns="0" rIns="0" bIns="0" rtlCol="0" anchor="ctr"/>
          <a:lstStyle/>
          <a:p>
            <a:pPr indent="0" marL="0">
              <a:buNone/>
            </a:pPr>
            <a:r>
              <a:rPr lang="en-US" sz="1350" b="1" dirty="0">
                <a:solidFill>
                  <a:srgbClr val="1F3B57"/>
                </a:solidFill>
                <a:latin typeface="Arial" pitchFamily="34" charset="0"/>
                <a:ea typeface="Arial" pitchFamily="34" charset="-122"/>
                <a:cs typeface="Arial" pitchFamily="34" charset="-120"/>
              </a:rPr>
              <a:t>무엇을 검증하려 했나</a:t>
            </a:r>
            <a:endParaRPr lang="en-US" sz="1350" dirty="0"/>
          </a:p>
        </p:txBody>
      </p:sp>
      <p:sp>
        <p:nvSpPr>
          <p:cNvPr id="8" name="Text 6"/>
          <p:cNvSpPr/>
          <p:nvPr/>
        </p:nvSpPr>
        <p:spPr>
          <a:xfrm>
            <a:off x="685800" y="3246120"/>
            <a:ext cx="2331720" cy="1737360"/>
          </a:xfrm>
          <a:prstGeom prst="rect">
            <a:avLst/>
          </a:prstGeom>
          <a:noFill/>
          <a:ln/>
        </p:spPr>
        <p:txBody>
          <a:bodyPr wrap="square" lIns="0" tIns="0" rIns="0" bIns="0" rtlCol="0" anchor="ctr"/>
          <a:lstStyle/>
          <a:p>
            <a:pPr indent="0" marL="0">
              <a:lnSpc>
                <a:spcPct val="120000"/>
              </a:lnSpc>
              <a:buNone/>
            </a:pPr>
            <a:r>
              <a:rPr lang="en-US" sz="1150" dirty="0">
                <a:solidFill>
                  <a:srgbClr val="6B7280"/>
                </a:solidFill>
                <a:latin typeface="Arial" pitchFamily="34" charset="0"/>
                <a:ea typeface="Arial" pitchFamily="34" charset="-122"/>
                <a:cs typeface="Arial" pitchFamily="34" charset="-120"/>
              </a:rPr>
              <a:t>이미지마다 계산 깊이를 다르게 주면</a:t>
            </a:r>
            <a:endParaRPr lang="en-US" sz="1150" dirty="0"/>
          </a:p>
          <a:p>
            <a:pPr indent="0" marL="0">
              <a:lnSpc>
                <a:spcPct val="120000"/>
              </a:lnSpc>
              <a:buNone/>
            </a:pPr>
            <a:r>
              <a:rPr lang="en-US" sz="1150" dirty="0">
                <a:solidFill>
                  <a:srgbClr val="6B7280"/>
                </a:solidFill>
                <a:latin typeface="Arial" pitchFamily="34" charset="0"/>
                <a:ea typeface="Arial" pitchFamily="34" charset="-122"/>
                <a:cs typeface="Arial" pitchFamily="34" charset="-120"/>
              </a:rPr>
              <a:t>환각이 줄고 계산도 준다는 가설</a:t>
            </a:r>
            <a:endParaRPr lang="en-US" sz="1150" dirty="0"/>
          </a:p>
        </p:txBody>
      </p:sp>
      <p:sp>
        <p:nvSpPr>
          <p:cNvPr id="9" name="Shape 7"/>
          <p:cNvSpPr/>
          <p:nvPr/>
        </p:nvSpPr>
        <p:spPr>
          <a:xfrm>
            <a:off x="3429000" y="1691640"/>
            <a:ext cx="2697480" cy="3566160"/>
          </a:xfrm>
          <a:prstGeom prst="roundRect">
            <a:avLst>
              <a:gd name="adj" fmla="val 3390"/>
            </a:avLst>
          </a:prstGeom>
          <a:solidFill>
            <a:srgbClr val="EFF4F9"/>
          </a:solidFill>
          <a:ln w="15875">
            <a:solidFill>
              <a:srgbClr val="2E8B57"/>
            </a:solidFill>
            <a:prstDash val="solid"/>
          </a:ln>
        </p:spPr>
      </p:sp>
      <p:sp>
        <p:nvSpPr>
          <p:cNvPr id="10" name="Shape 8"/>
          <p:cNvSpPr/>
          <p:nvPr/>
        </p:nvSpPr>
        <p:spPr>
          <a:xfrm>
            <a:off x="3611880" y="1874520"/>
            <a:ext cx="457200" cy="457200"/>
          </a:xfrm>
          <a:prstGeom prst="ellipse">
            <a:avLst/>
          </a:prstGeom>
          <a:solidFill>
            <a:srgbClr val="2E8B57"/>
          </a:solidFill>
          <a:ln/>
        </p:spPr>
      </p:sp>
      <p:sp>
        <p:nvSpPr>
          <p:cNvPr id="11" name="Text 9"/>
          <p:cNvSpPr/>
          <p:nvPr/>
        </p:nvSpPr>
        <p:spPr>
          <a:xfrm>
            <a:off x="3611880" y="1874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3611880" y="2468880"/>
            <a:ext cx="2331720" cy="731520"/>
          </a:xfrm>
          <a:prstGeom prst="rect">
            <a:avLst/>
          </a:prstGeom>
          <a:noFill/>
          <a:ln/>
        </p:spPr>
        <p:txBody>
          <a:bodyPr wrap="square" lIns="0" tIns="0" rIns="0" bIns="0" rtlCol="0" anchor="ctr"/>
          <a:lstStyle/>
          <a:p>
            <a:pPr indent="0" marL="0">
              <a:buNone/>
            </a:pPr>
            <a:r>
              <a:rPr lang="en-US" sz="1350" b="1" dirty="0">
                <a:solidFill>
                  <a:srgbClr val="1F3B57"/>
                </a:solidFill>
                <a:latin typeface="Arial" pitchFamily="34" charset="0"/>
                <a:ea typeface="Arial" pitchFamily="34" charset="-122"/>
                <a:cs typeface="Arial" pitchFamily="34" charset="-120"/>
              </a:rPr>
              <a:t>무엇이 확인됐나</a:t>
            </a:r>
            <a:endParaRPr lang="en-US" sz="1350" dirty="0"/>
          </a:p>
        </p:txBody>
      </p:sp>
      <p:sp>
        <p:nvSpPr>
          <p:cNvPr id="13" name="Text 11"/>
          <p:cNvSpPr/>
          <p:nvPr/>
        </p:nvSpPr>
        <p:spPr>
          <a:xfrm>
            <a:off x="3611880" y="3246120"/>
            <a:ext cx="2331720" cy="1737360"/>
          </a:xfrm>
          <a:prstGeom prst="rect">
            <a:avLst/>
          </a:prstGeom>
          <a:noFill/>
          <a:ln/>
        </p:spPr>
        <p:txBody>
          <a:bodyPr wrap="square" lIns="0" tIns="0" rIns="0" bIns="0" rtlCol="0" anchor="ctr"/>
          <a:lstStyle/>
          <a:p>
            <a:pPr indent="0" marL="0">
              <a:lnSpc>
                <a:spcPct val="120000"/>
              </a:lnSpc>
              <a:buNone/>
            </a:pPr>
            <a:r>
              <a:rPr lang="en-US" sz="1150" dirty="0">
                <a:solidFill>
                  <a:srgbClr val="6B7280"/>
                </a:solidFill>
                <a:latin typeface="Arial" pitchFamily="34" charset="0"/>
                <a:ea typeface="Arial" pitchFamily="34" charset="-122"/>
                <a:cs typeface="Arial" pitchFamily="34" charset="-120"/>
              </a:rPr>
              <a:t>문제 실재 · 개입 효과 · 인과</a:t>
            </a:r>
            <a:endParaRPr lang="en-US" sz="1150" dirty="0"/>
          </a:p>
          <a:p>
            <a:pPr indent="0" marL="0">
              <a:lnSpc>
                <a:spcPct val="120000"/>
              </a:lnSpc>
              <a:buNone/>
            </a:pPr>
            <a:r>
              <a:rPr lang="en-US" sz="1150" dirty="0">
                <a:solidFill>
                  <a:srgbClr val="6B7280"/>
                </a:solidFill>
                <a:latin typeface="Arial" pitchFamily="34" charset="0"/>
                <a:ea typeface="Arial" pitchFamily="34" charset="-122"/>
                <a:cs typeface="Arial" pitchFamily="34" charset="-120"/>
              </a:rPr>
              <a:t>(단, 정답 이미지를 아는 조건)</a:t>
            </a:r>
            <a:endParaRPr lang="en-US" sz="1150" dirty="0"/>
          </a:p>
        </p:txBody>
      </p:sp>
      <p:sp>
        <p:nvSpPr>
          <p:cNvPr id="14" name="Shape 12"/>
          <p:cNvSpPr/>
          <p:nvPr/>
        </p:nvSpPr>
        <p:spPr>
          <a:xfrm>
            <a:off x="6355080" y="1691640"/>
            <a:ext cx="2697480" cy="3566160"/>
          </a:xfrm>
          <a:prstGeom prst="roundRect">
            <a:avLst>
              <a:gd name="adj" fmla="val 3390"/>
            </a:avLst>
          </a:prstGeom>
          <a:solidFill>
            <a:srgbClr val="EFF4F9"/>
          </a:solidFill>
          <a:ln w="15875">
            <a:solidFill>
              <a:srgbClr val="D62728"/>
            </a:solidFill>
            <a:prstDash val="solid"/>
          </a:ln>
        </p:spPr>
      </p:sp>
      <p:sp>
        <p:nvSpPr>
          <p:cNvPr id="15" name="Shape 13"/>
          <p:cNvSpPr/>
          <p:nvPr/>
        </p:nvSpPr>
        <p:spPr>
          <a:xfrm>
            <a:off x="6537960" y="1874520"/>
            <a:ext cx="457200" cy="457200"/>
          </a:xfrm>
          <a:prstGeom prst="ellipse">
            <a:avLst/>
          </a:prstGeom>
          <a:solidFill>
            <a:srgbClr val="D62728"/>
          </a:solidFill>
          <a:ln/>
        </p:spPr>
      </p:sp>
      <p:sp>
        <p:nvSpPr>
          <p:cNvPr id="16" name="Text 14"/>
          <p:cNvSpPr/>
          <p:nvPr/>
        </p:nvSpPr>
        <p:spPr>
          <a:xfrm>
            <a:off x="6537960" y="1874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p:nvPr/>
        </p:nvSpPr>
        <p:spPr>
          <a:xfrm>
            <a:off x="6537960" y="2468880"/>
            <a:ext cx="2331720" cy="731520"/>
          </a:xfrm>
          <a:prstGeom prst="rect">
            <a:avLst/>
          </a:prstGeom>
          <a:noFill/>
          <a:ln/>
        </p:spPr>
        <p:txBody>
          <a:bodyPr wrap="square" lIns="0" tIns="0" rIns="0" bIns="0" rtlCol="0" anchor="ctr"/>
          <a:lstStyle/>
          <a:p>
            <a:pPr indent="0" marL="0">
              <a:buNone/>
            </a:pPr>
            <a:r>
              <a:rPr lang="en-US" sz="1350" b="1" dirty="0">
                <a:solidFill>
                  <a:srgbClr val="1F3B57"/>
                </a:solidFill>
                <a:latin typeface="Arial" pitchFamily="34" charset="0"/>
                <a:ea typeface="Arial" pitchFamily="34" charset="-122"/>
                <a:cs typeface="Arial" pitchFamily="34" charset="-120"/>
              </a:rPr>
              <a:t>무엇이 무너졌나</a:t>
            </a:r>
            <a:endParaRPr lang="en-US" sz="1350" dirty="0"/>
          </a:p>
        </p:txBody>
      </p:sp>
      <p:sp>
        <p:nvSpPr>
          <p:cNvPr id="18" name="Text 16"/>
          <p:cNvSpPr/>
          <p:nvPr/>
        </p:nvSpPr>
        <p:spPr>
          <a:xfrm>
            <a:off x="6537960" y="3246120"/>
            <a:ext cx="2331720" cy="1737360"/>
          </a:xfrm>
          <a:prstGeom prst="rect">
            <a:avLst/>
          </a:prstGeom>
          <a:noFill/>
          <a:ln/>
        </p:spPr>
        <p:txBody>
          <a:bodyPr wrap="square" lIns="0" tIns="0" rIns="0" bIns="0" rtlCol="0" anchor="ctr"/>
          <a:lstStyle/>
          <a:p>
            <a:pPr indent="0" marL="0">
              <a:lnSpc>
                <a:spcPct val="120000"/>
              </a:lnSpc>
              <a:buNone/>
            </a:pPr>
            <a:r>
              <a:rPr lang="en-US" sz="1150" dirty="0">
                <a:solidFill>
                  <a:srgbClr val="6B7280"/>
                </a:solidFill>
                <a:latin typeface="Arial" pitchFamily="34" charset="0"/>
                <a:ea typeface="Arial" pitchFamily="34" charset="-122"/>
                <a:cs typeface="Arial" pitchFamily="34" charset="-120"/>
              </a:rPr>
              <a:t>'이미지마다 다르게'의 이득 상한 +2.7%p</a:t>
            </a:r>
            <a:endParaRPr lang="en-US" sz="1150" dirty="0"/>
          </a:p>
          <a:p>
            <a:pPr indent="0" marL="0">
              <a:lnSpc>
                <a:spcPct val="120000"/>
              </a:lnSpc>
              <a:buNone/>
            </a:pPr>
            <a:r>
              <a:rPr lang="en-US" sz="1150" dirty="0">
                <a:solidFill>
                  <a:srgbClr val="6B7280"/>
                </a:solidFill>
                <a:latin typeface="Arial" pitchFamily="34" charset="0"/>
                <a:ea typeface="Arial" pitchFamily="34" charset="-122"/>
                <a:cs typeface="Arial" pitchFamily="34" charset="-120"/>
              </a:rPr>
              <a:t>판정 시점 &gt; 개입 시점</a:t>
            </a:r>
            <a:endParaRPr lang="en-US" sz="1150" dirty="0"/>
          </a:p>
        </p:txBody>
      </p:sp>
      <p:sp>
        <p:nvSpPr>
          <p:cNvPr id="19" name="Shape 17"/>
          <p:cNvSpPr/>
          <p:nvPr/>
        </p:nvSpPr>
        <p:spPr>
          <a:xfrm>
            <a:off x="9281160" y="1691640"/>
            <a:ext cx="2697480" cy="3566160"/>
          </a:xfrm>
          <a:prstGeom prst="roundRect">
            <a:avLst>
              <a:gd name="adj" fmla="val 3390"/>
            </a:avLst>
          </a:prstGeom>
          <a:solidFill>
            <a:srgbClr val="EFF4F9"/>
          </a:solidFill>
          <a:ln w="15875">
            <a:solidFill>
              <a:srgbClr val="1F77B4"/>
            </a:solidFill>
            <a:prstDash val="solid"/>
          </a:ln>
        </p:spPr>
      </p:sp>
      <p:sp>
        <p:nvSpPr>
          <p:cNvPr id="20" name="Shape 18"/>
          <p:cNvSpPr/>
          <p:nvPr/>
        </p:nvSpPr>
        <p:spPr>
          <a:xfrm>
            <a:off x="9464040" y="1874520"/>
            <a:ext cx="457200" cy="457200"/>
          </a:xfrm>
          <a:prstGeom prst="ellipse">
            <a:avLst/>
          </a:prstGeom>
          <a:solidFill>
            <a:srgbClr val="1F77B4"/>
          </a:solidFill>
          <a:ln/>
        </p:spPr>
      </p:sp>
      <p:sp>
        <p:nvSpPr>
          <p:cNvPr id="21" name="Text 19"/>
          <p:cNvSpPr/>
          <p:nvPr/>
        </p:nvSpPr>
        <p:spPr>
          <a:xfrm>
            <a:off x="9464040" y="1874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2" name="Text 20"/>
          <p:cNvSpPr/>
          <p:nvPr/>
        </p:nvSpPr>
        <p:spPr>
          <a:xfrm>
            <a:off x="9464040" y="2468880"/>
            <a:ext cx="2331720" cy="731520"/>
          </a:xfrm>
          <a:prstGeom prst="rect">
            <a:avLst/>
          </a:prstGeom>
          <a:noFill/>
          <a:ln/>
        </p:spPr>
        <p:txBody>
          <a:bodyPr wrap="square" lIns="0" tIns="0" rIns="0" bIns="0" rtlCol="0" anchor="ctr"/>
          <a:lstStyle/>
          <a:p>
            <a:pPr indent="0" marL="0">
              <a:buNone/>
            </a:pPr>
            <a:r>
              <a:rPr lang="en-US" sz="1350" b="1" dirty="0">
                <a:solidFill>
                  <a:srgbClr val="1F3B57"/>
                </a:solidFill>
                <a:latin typeface="Arial" pitchFamily="34" charset="0"/>
                <a:ea typeface="Arial" pitchFamily="34" charset="-122"/>
                <a:cs typeface="Arial" pitchFamily="34" charset="-120"/>
              </a:rPr>
              <a:t>그래서 무엇을 하려 하나</a:t>
            </a:r>
            <a:endParaRPr lang="en-US" sz="1350" dirty="0"/>
          </a:p>
        </p:txBody>
      </p:sp>
      <p:sp>
        <p:nvSpPr>
          <p:cNvPr id="23" name="Text 21"/>
          <p:cNvSpPr/>
          <p:nvPr/>
        </p:nvSpPr>
        <p:spPr>
          <a:xfrm>
            <a:off x="9464040" y="3246120"/>
            <a:ext cx="2331720" cy="1737360"/>
          </a:xfrm>
          <a:prstGeom prst="rect">
            <a:avLst/>
          </a:prstGeom>
          <a:noFill/>
          <a:ln/>
        </p:spPr>
        <p:txBody>
          <a:bodyPr wrap="square" lIns="0" tIns="0" rIns="0" bIns="0" rtlCol="0" anchor="ctr"/>
          <a:lstStyle/>
          <a:p>
            <a:pPr indent="0" marL="0">
              <a:lnSpc>
                <a:spcPct val="120000"/>
              </a:lnSpc>
              <a:buNone/>
            </a:pPr>
            <a:r>
              <a:rPr lang="en-US" sz="1150" dirty="0">
                <a:solidFill>
                  <a:srgbClr val="6B7280"/>
                </a:solidFill>
                <a:latin typeface="Arial" pitchFamily="34" charset="0"/>
                <a:ea typeface="Arial" pitchFamily="34" charset="-122"/>
                <a:cs typeface="Arial" pitchFamily="34" charset="-120"/>
              </a:rPr>
              <a:t>가장 가까운 연구가 비워둔 자리 확인</a:t>
            </a:r>
            <a:endParaRPr lang="en-US" sz="1150" dirty="0"/>
          </a:p>
          <a:p>
            <a:pPr indent="0" marL="0">
              <a:lnSpc>
                <a:spcPct val="120000"/>
              </a:lnSpc>
              <a:buNone/>
            </a:pPr>
            <a:r>
              <a:rPr lang="en-US" sz="1150" dirty="0">
                <a:solidFill>
                  <a:srgbClr val="6B7280"/>
                </a:solidFill>
                <a:latin typeface="Arial" pitchFamily="34" charset="0"/>
                <a:ea typeface="Arial" pitchFamily="34" charset="-122"/>
                <a:cs typeface="Arial" pitchFamily="34" charset="-120"/>
              </a:rPr>
              <a:t>1주일 검증 후 진행/중단 확정</a:t>
            </a:r>
            <a:endParaRPr lang="en-US" sz="1150" dirty="0"/>
          </a:p>
        </p:txBody>
      </p:sp>
      <p:sp>
        <p:nvSpPr>
          <p:cNvPr id="24" name="Shape 22"/>
          <p:cNvSpPr/>
          <p:nvPr/>
        </p:nvSpPr>
        <p:spPr>
          <a:xfrm>
            <a:off x="502920" y="6053328"/>
            <a:ext cx="11201400" cy="566928"/>
          </a:xfrm>
          <a:prstGeom prst="roundRect">
            <a:avLst>
              <a:gd name="adj" fmla="val 12903"/>
            </a:avLst>
          </a:prstGeom>
          <a:solidFill>
            <a:srgbClr val="1F3B57"/>
          </a:solidFill>
          <a:ln/>
        </p:spPr>
      </p:sp>
      <p:sp>
        <p:nvSpPr>
          <p:cNvPr id="25" name="Text 23"/>
          <p:cNvSpPr/>
          <p:nvPr/>
        </p:nvSpPr>
        <p:spPr>
          <a:xfrm>
            <a:off x="777240" y="6053328"/>
            <a:ext cx="10744200" cy="56692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 오늘 요청드리는 것: 진행/중단을 확정하기 위한 1주일 (게이트 5개, GPU 1장, 기존 자산 재사용)</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37744"/>
            <a:ext cx="9601200" cy="292608"/>
          </a:xfrm>
          <a:prstGeom prst="rect">
            <a:avLst/>
          </a:prstGeom>
          <a:noFill/>
          <a:ln/>
        </p:spPr>
        <p:txBody>
          <a:bodyPr wrap="square" lIns="0" tIns="0" rIns="0" bIns="0" rtlCol="0" anchor="ctr"/>
          <a:lstStyle/>
          <a:p>
            <a:pPr indent="0" marL="0">
              <a:buNone/>
            </a:pPr>
            <a:r>
              <a:rPr lang="en-US" sz="1150" b="1" spc="100" kern="0" dirty="0">
                <a:solidFill>
                  <a:srgbClr val="1F77B4"/>
                </a:solidFill>
                <a:latin typeface="Arial" pitchFamily="34" charset="0"/>
                <a:ea typeface="Arial" pitchFamily="34" charset="-122"/>
                <a:cs typeface="Arial" pitchFamily="34" charset="-120"/>
              </a:rPr>
              <a:t>배경 — 무엇이 문제인가</a:t>
            </a:r>
            <a:endParaRPr lang="en-US" sz="1150" dirty="0"/>
          </a:p>
        </p:txBody>
      </p:sp>
      <p:sp>
        <p:nvSpPr>
          <p:cNvPr id="3" name="Text 1"/>
          <p:cNvSpPr/>
          <p:nvPr/>
        </p:nvSpPr>
        <p:spPr>
          <a:xfrm>
            <a:off x="502920" y="512064"/>
            <a:ext cx="11155680" cy="731520"/>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이미지를 한 장 더 넣었을 뿐인데, 모델은 답의 '출처'를 섞기 시작한다</a:t>
            </a:r>
            <a:endParaRPr lang="en-US" sz="2200" dirty="0"/>
          </a:p>
        </p:txBody>
      </p:sp>
      <p:sp>
        <p:nvSpPr>
          <p:cNvPr id="4" name="Shape 2"/>
          <p:cNvSpPr/>
          <p:nvPr/>
        </p:nvSpPr>
        <p:spPr>
          <a:xfrm>
            <a:off x="502920" y="1481328"/>
            <a:ext cx="2286000" cy="1280160"/>
          </a:xfrm>
          <a:prstGeom prst="roundRect">
            <a:avLst>
              <a:gd name="adj" fmla="val 5714"/>
            </a:avLst>
          </a:prstGeom>
          <a:solidFill>
            <a:srgbClr val="EFF4F9"/>
          </a:solidFill>
          <a:ln w="25400">
            <a:solidFill>
              <a:srgbClr val="1F77B4"/>
            </a:solidFill>
            <a:prstDash val="solid"/>
          </a:ln>
        </p:spPr>
      </p:sp>
      <p:sp>
        <p:nvSpPr>
          <p:cNvPr id="5" name="Text 3"/>
          <p:cNvSpPr/>
          <p:nvPr/>
        </p:nvSpPr>
        <p:spPr>
          <a:xfrm>
            <a:off x="502920" y="1737360"/>
            <a:ext cx="2286000" cy="777240"/>
          </a:xfrm>
          <a:prstGeom prst="rect">
            <a:avLst/>
          </a:prstGeom>
          <a:noFill/>
          <a:ln/>
        </p:spPr>
        <p:txBody>
          <a:bodyPr wrap="square" lIns="0" tIns="0" rIns="0" bIns="0" rtlCol="0" anchor="ctr"/>
          <a:lstStyle/>
          <a:p>
            <a:pPr algn="ctr" indent="0" marL="0">
              <a:buNone/>
            </a:pPr>
            <a:r>
              <a:rPr lang="en-US" sz="1200" b="1" dirty="0">
                <a:solidFill>
                  <a:srgbClr val="1F3B57"/>
                </a:solidFill>
                <a:latin typeface="Arial" pitchFamily="34" charset="0"/>
                <a:ea typeface="Arial" pitchFamily="34" charset="-122"/>
                <a:cs typeface="Arial" pitchFamily="34" charset="-120"/>
              </a:rPr>
              <a:t>이미지 1 (질문 대상)</a:t>
            </a:r>
            <a:endParaRPr lang="en-US" sz="1200" dirty="0"/>
          </a:p>
          <a:p>
            <a:pPr algn="ctr" indent="0" marL="0">
              <a:buNone/>
            </a:pPr>
            <a:r>
              <a:rPr lang="en-US" sz="1500" b="1" dirty="0">
                <a:solidFill>
                  <a:srgbClr val="1F77B4"/>
                </a:solidFill>
                <a:latin typeface="Arial" pitchFamily="34" charset="0"/>
                <a:ea typeface="Arial" pitchFamily="34" charset="-122"/>
                <a:cs typeface="Arial" pitchFamily="34" charset="-120"/>
              </a:rPr>
              <a:t>파란 모자</a:t>
            </a:r>
            <a:endParaRPr lang="en-US" sz="1200" dirty="0"/>
          </a:p>
        </p:txBody>
      </p:sp>
      <p:sp>
        <p:nvSpPr>
          <p:cNvPr id="6" name="Shape 4"/>
          <p:cNvSpPr/>
          <p:nvPr/>
        </p:nvSpPr>
        <p:spPr>
          <a:xfrm>
            <a:off x="3063240" y="1481328"/>
            <a:ext cx="2286000" cy="1280160"/>
          </a:xfrm>
          <a:prstGeom prst="roundRect">
            <a:avLst>
              <a:gd name="adj" fmla="val 5714"/>
            </a:avLst>
          </a:prstGeom>
          <a:solidFill>
            <a:srgbClr val="EFF4F9"/>
          </a:solidFill>
          <a:ln w="25400">
            <a:solidFill>
              <a:srgbClr val="D62728"/>
            </a:solidFill>
            <a:prstDash val="solid"/>
          </a:ln>
        </p:spPr>
      </p:sp>
      <p:sp>
        <p:nvSpPr>
          <p:cNvPr id="7" name="Text 5"/>
          <p:cNvSpPr/>
          <p:nvPr/>
        </p:nvSpPr>
        <p:spPr>
          <a:xfrm>
            <a:off x="3063240" y="1737360"/>
            <a:ext cx="2286000" cy="777240"/>
          </a:xfrm>
          <a:prstGeom prst="rect">
            <a:avLst/>
          </a:prstGeom>
          <a:noFill/>
          <a:ln/>
        </p:spPr>
        <p:txBody>
          <a:bodyPr wrap="square" lIns="0" tIns="0" rIns="0" bIns="0" rtlCol="0" anchor="ctr"/>
          <a:lstStyle/>
          <a:p>
            <a:pPr algn="ctr" indent="0" marL="0">
              <a:buNone/>
            </a:pPr>
            <a:r>
              <a:rPr lang="en-US" sz="1200" b="1" dirty="0">
                <a:solidFill>
                  <a:srgbClr val="D62728"/>
                </a:solidFill>
                <a:latin typeface="Arial" pitchFamily="34" charset="0"/>
                <a:ea typeface="Arial" pitchFamily="34" charset="-122"/>
                <a:cs typeface="Arial" pitchFamily="34" charset="-120"/>
              </a:rPr>
              <a:t>이미지 2 — "방해 이미지"</a:t>
            </a:r>
            <a:endParaRPr lang="en-US" sz="1200" dirty="0"/>
          </a:p>
          <a:p>
            <a:pPr algn="ctr" indent="0" marL="0">
              <a:buNone/>
            </a:pPr>
            <a:r>
              <a:rPr lang="en-US" sz="1500" b="1" dirty="0">
                <a:solidFill>
                  <a:srgbClr val="D62728"/>
                </a:solidFill>
                <a:latin typeface="Arial" pitchFamily="34" charset="0"/>
                <a:ea typeface="Arial" pitchFamily="34" charset="-122"/>
                <a:cs typeface="Arial" pitchFamily="34" charset="-120"/>
              </a:rPr>
              <a:t>빨간 모자</a:t>
            </a:r>
            <a:endParaRPr lang="en-US" sz="1200" dirty="0"/>
          </a:p>
        </p:txBody>
      </p:sp>
      <p:sp>
        <p:nvSpPr>
          <p:cNvPr id="8" name="Text 6"/>
          <p:cNvSpPr/>
          <p:nvPr/>
        </p:nvSpPr>
        <p:spPr>
          <a:xfrm>
            <a:off x="502920" y="2944368"/>
            <a:ext cx="4846320" cy="347472"/>
          </a:xfrm>
          <a:prstGeom prst="rect">
            <a:avLst/>
          </a:prstGeom>
          <a:noFill/>
          <a:ln/>
        </p:spPr>
        <p:txBody>
          <a:bodyPr wrap="square" lIns="0" tIns="0" rIns="0" bIns="0" rtlCol="0" anchor="ctr"/>
          <a:lstStyle/>
          <a:p>
            <a:pPr algn="ctr" indent="0" marL="0">
              <a:buNone/>
            </a:pPr>
            <a:r>
              <a:rPr lang="en-US" sz="1300" b="1" dirty="0">
                <a:solidFill>
                  <a:srgbClr val="1F3B57"/>
                </a:solidFill>
                <a:latin typeface="Arial" pitchFamily="34" charset="0"/>
                <a:ea typeface="Arial" pitchFamily="34" charset="-122"/>
                <a:cs typeface="Arial" pitchFamily="34" charset="-120"/>
              </a:rPr>
              <a:t>질문: "1번 이미지 사람의 모자는 무슨 색?"</a:t>
            </a:r>
            <a:endParaRPr lang="en-US" sz="1300" dirty="0"/>
          </a:p>
        </p:txBody>
      </p:sp>
      <p:sp>
        <p:nvSpPr>
          <p:cNvPr id="9" name="Shape 7"/>
          <p:cNvSpPr/>
          <p:nvPr/>
        </p:nvSpPr>
        <p:spPr>
          <a:xfrm>
            <a:off x="2743200" y="3328416"/>
            <a:ext cx="365760" cy="384048"/>
          </a:xfrm>
          <a:prstGeom prst="downArrow">
            <a:avLst/>
          </a:prstGeom>
          <a:solidFill>
            <a:srgbClr val="6B7280"/>
          </a:solidFill>
          <a:ln/>
        </p:spPr>
      </p:sp>
      <p:sp>
        <p:nvSpPr>
          <p:cNvPr id="10" name="Shape 8"/>
          <p:cNvSpPr/>
          <p:nvPr/>
        </p:nvSpPr>
        <p:spPr>
          <a:xfrm>
            <a:off x="1417320" y="3813048"/>
            <a:ext cx="3017520" cy="868680"/>
          </a:xfrm>
          <a:prstGeom prst="roundRect">
            <a:avLst>
              <a:gd name="adj" fmla="val 10526"/>
            </a:avLst>
          </a:prstGeom>
          <a:solidFill>
            <a:srgbClr val="FBEAEA"/>
          </a:solidFill>
          <a:ln w="19050">
            <a:solidFill>
              <a:srgbClr val="D62728"/>
            </a:solidFill>
            <a:prstDash val="solid"/>
          </a:ln>
        </p:spPr>
      </p:sp>
      <p:sp>
        <p:nvSpPr>
          <p:cNvPr id="11" name="Text 9"/>
          <p:cNvSpPr/>
          <p:nvPr/>
        </p:nvSpPr>
        <p:spPr>
          <a:xfrm>
            <a:off x="1417320" y="3886200"/>
            <a:ext cx="3017520" cy="777240"/>
          </a:xfrm>
          <a:prstGeom prst="rect">
            <a:avLst/>
          </a:prstGeom>
          <a:noFill/>
          <a:ln/>
        </p:spPr>
        <p:txBody>
          <a:bodyPr wrap="square" lIns="0" tIns="0" rIns="0" bIns="0" rtlCol="0" anchor="ctr"/>
          <a:lstStyle/>
          <a:p>
            <a:pPr algn="ctr" indent="0" marL="0">
              <a:buNone/>
            </a:pPr>
            <a:r>
              <a:rPr lang="en-US" sz="1500" b="1" dirty="0">
                <a:solidFill>
                  <a:srgbClr val="D62728"/>
                </a:solidFill>
                <a:latin typeface="Arial" pitchFamily="34" charset="0"/>
                <a:ea typeface="Arial" pitchFamily="34" charset="-122"/>
                <a:cs typeface="Arial" pitchFamily="34" charset="-120"/>
              </a:rPr>
              <a:t>모델의 답: "빨간색"  ✗</a:t>
            </a:r>
            <a:endParaRPr lang="en-US" sz="1500" dirty="0"/>
          </a:p>
          <a:p>
            <a:pPr algn="ctr" indent="0" marL="0">
              <a:buNone/>
            </a:pPr>
            <a:r>
              <a:rPr lang="en-US" sz="1050" dirty="0">
                <a:solidFill>
                  <a:srgbClr val="6B7280"/>
                </a:solidFill>
                <a:latin typeface="Arial" pitchFamily="34" charset="0"/>
                <a:ea typeface="Arial" pitchFamily="34" charset="-122"/>
                <a:cs typeface="Arial" pitchFamily="34" charset="-120"/>
              </a:rPr>
              <a:t>→ 옆 이미지의 정보를 가져다 답함</a:t>
            </a:r>
            <a:endParaRPr lang="en-US" sz="1500" dirty="0"/>
          </a:p>
        </p:txBody>
      </p:sp>
      <p:sp>
        <p:nvSpPr>
          <p:cNvPr id="12" name="Shape 10"/>
          <p:cNvSpPr/>
          <p:nvPr/>
        </p:nvSpPr>
        <p:spPr>
          <a:xfrm>
            <a:off x="502920" y="4983480"/>
            <a:ext cx="5349240" cy="868680"/>
          </a:xfrm>
          <a:prstGeom prst="roundRect">
            <a:avLst>
              <a:gd name="adj" fmla="val 8421"/>
            </a:avLst>
          </a:prstGeom>
          <a:solidFill>
            <a:srgbClr val="F3F4F6"/>
          </a:solidFill>
          <a:ln/>
        </p:spPr>
      </p:sp>
      <p:sp>
        <p:nvSpPr>
          <p:cNvPr id="13" name="Text 11"/>
          <p:cNvSpPr/>
          <p:nvPr/>
        </p:nvSpPr>
        <p:spPr>
          <a:xfrm>
            <a:off x="704088" y="5056632"/>
            <a:ext cx="5029200" cy="731520"/>
          </a:xfrm>
          <a:prstGeom prst="rect">
            <a:avLst/>
          </a:prstGeom>
          <a:noFill/>
          <a:ln/>
        </p:spPr>
        <p:txBody>
          <a:bodyPr wrap="square" lIns="0" tIns="0" rIns="0" bIns="0" rtlCol="0" anchor="ctr"/>
          <a:lstStyle/>
          <a:p>
            <a:pPr indent="0" marL="0">
              <a:spcAft>
                <a:spcPts val="300"/>
              </a:spcAft>
              <a:buNone/>
            </a:pPr>
            <a:r>
              <a:rPr lang="en-US" sz="1100" b="1" dirty="0">
                <a:solidFill>
                  <a:srgbClr val="1F3B57"/>
                </a:solidFill>
                <a:latin typeface="Arial" pitchFamily="34" charset="0"/>
                <a:ea typeface="Arial" pitchFamily="34" charset="-122"/>
                <a:cs typeface="Arial" pitchFamily="34" charset="-120"/>
              </a:rPr>
              <a:t>이 발표의 용어 두 개</a:t>
            </a:r>
            <a:endParaRPr lang="en-US" sz="1100" dirty="0"/>
          </a:p>
          <a:p>
            <a:pPr indent="0" marL="0">
              <a:spcAft>
                <a:spcPts val="300"/>
              </a:spcAft>
              <a:buNone/>
            </a:pPr>
            <a:r>
              <a:rPr lang="en-US" sz="1050" dirty="0">
                <a:solidFill>
                  <a:srgbClr val="6B7280"/>
                </a:solidFill>
                <a:latin typeface="Arial" pitchFamily="34" charset="0"/>
                <a:ea typeface="Arial" pitchFamily="34" charset="-122"/>
                <a:cs typeface="Arial" pitchFamily="34" charset="-120"/>
              </a:rPr>
              <a:t>방해 이미지 = 질문과 무관한 이미지  ·  차단 = 특정 층부터 모델이 그 이미지를 참조하지 못하게 막는 것</a:t>
            </a:r>
            <a:endParaRPr lang="en-US" sz="1100" dirty="0"/>
          </a:p>
        </p:txBody>
      </p:sp>
      <p:sp>
        <p:nvSpPr>
          <p:cNvPr id="14" name="Shape 12"/>
          <p:cNvSpPr/>
          <p:nvPr/>
        </p:nvSpPr>
        <p:spPr>
          <a:xfrm>
            <a:off x="6172200" y="1481328"/>
            <a:ext cx="5532120" cy="4370832"/>
          </a:xfrm>
          <a:prstGeom prst="roundRect">
            <a:avLst>
              <a:gd name="adj" fmla="val 2092"/>
            </a:avLst>
          </a:prstGeom>
          <a:solidFill>
            <a:srgbClr val="EFF4F9"/>
          </a:solidFill>
          <a:ln w="12700">
            <a:solidFill>
              <a:srgbClr val="D5DEE8"/>
            </a:solidFill>
            <a:prstDash val="solid"/>
          </a:ln>
        </p:spPr>
      </p:sp>
      <p:sp>
        <p:nvSpPr>
          <p:cNvPr id="15" name="Text 13"/>
          <p:cNvSpPr/>
          <p:nvPr/>
        </p:nvSpPr>
        <p:spPr>
          <a:xfrm>
            <a:off x="6446520" y="1691640"/>
            <a:ext cx="5029200" cy="320040"/>
          </a:xfrm>
          <a:prstGeom prst="rect">
            <a:avLst/>
          </a:prstGeom>
          <a:noFill/>
          <a:ln/>
        </p:spPr>
        <p:txBody>
          <a:bodyPr wrap="square" lIns="0" tIns="0" rIns="0" bIns="0" rtlCol="0" anchor="ctr"/>
          <a:lstStyle/>
          <a:p>
            <a:pPr indent="0" marL="0">
              <a:buNone/>
            </a:pPr>
            <a:r>
              <a:rPr lang="en-US" sz="1300" b="1" dirty="0">
                <a:solidFill>
                  <a:srgbClr val="6B7280"/>
                </a:solidFill>
                <a:latin typeface="Arial" pitchFamily="34" charset="0"/>
                <a:ea typeface="Arial" pitchFamily="34" charset="-122"/>
                <a:cs typeface="Arial" pitchFamily="34" charset="-120"/>
              </a:rPr>
              <a:t>이 현상을 저희 실험으로 재보면 —</a:t>
            </a:r>
            <a:endParaRPr lang="en-US" sz="1300" dirty="0"/>
          </a:p>
        </p:txBody>
      </p:sp>
      <p:sp>
        <p:nvSpPr>
          <p:cNvPr id="16" name="Text 14"/>
          <p:cNvSpPr/>
          <p:nvPr/>
        </p:nvSpPr>
        <p:spPr>
          <a:xfrm>
            <a:off x="6446520" y="2057400"/>
            <a:ext cx="5029200" cy="320040"/>
          </a:xfrm>
          <a:prstGeom prst="rect">
            <a:avLst/>
          </a:prstGeom>
          <a:noFill/>
          <a:ln/>
        </p:spPr>
        <p:txBody>
          <a:bodyPr wrap="square" lIns="0" tIns="0" rIns="0" bIns="0" rtlCol="0" anchor="ctr"/>
          <a:lstStyle/>
          <a:p>
            <a:pPr indent="0" marL="0">
              <a:buNone/>
            </a:pPr>
            <a:r>
              <a:rPr lang="en-US" sz="1250" dirty="0">
                <a:solidFill>
                  <a:srgbClr val="1F3B57"/>
                </a:solidFill>
                <a:latin typeface="Arial" pitchFamily="34" charset="0"/>
                <a:ea typeface="Arial" pitchFamily="34" charset="-122"/>
                <a:cs typeface="Arial" pitchFamily="34" charset="-120"/>
              </a:rPr>
              <a:t>같은 질문 · 같은 정답. 방해 이미지 1장만 추가</a:t>
            </a:r>
            <a:endParaRPr lang="en-US" sz="1250" dirty="0"/>
          </a:p>
        </p:txBody>
      </p:sp>
      <p:sp>
        <p:nvSpPr>
          <p:cNvPr id="17" name="Text 15"/>
          <p:cNvSpPr/>
          <p:nvPr/>
        </p:nvSpPr>
        <p:spPr>
          <a:xfrm>
            <a:off x="6446520" y="2514600"/>
            <a:ext cx="5029200" cy="914400"/>
          </a:xfrm>
          <a:prstGeom prst="rect">
            <a:avLst/>
          </a:prstGeom>
          <a:noFill/>
          <a:ln/>
        </p:spPr>
        <p:txBody>
          <a:bodyPr wrap="square" lIns="0" tIns="0" rIns="0" bIns="0" rtlCol="0" anchor="ctr"/>
          <a:lstStyle/>
          <a:p>
            <a:pPr indent="0" marL="0">
              <a:buNone/>
            </a:pPr>
            <a:r>
              <a:rPr lang="en-US" sz="4400" b="1" dirty="0">
                <a:solidFill>
                  <a:srgbClr val="1F77B4"/>
                </a:solidFill>
                <a:latin typeface="Arial" pitchFamily="34" charset="0"/>
                <a:ea typeface="Arial" pitchFamily="34" charset="-122"/>
                <a:cs typeface="Arial" pitchFamily="34" charset="-120"/>
              </a:rPr>
              <a:t>89.3%</a:t>
            </a:r>
            <a:pPr indent="0" marL="0">
              <a:buNone/>
            </a:pPr>
            <a:r>
              <a:rPr lang="en-US" sz="3000" dirty="0">
                <a:solidFill>
                  <a:srgbClr val="6B7280"/>
                </a:solidFill>
                <a:latin typeface="Arial" pitchFamily="34" charset="0"/>
                <a:ea typeface="Arial" pitchFamily="34" charset="-122"/>
                <a:cs typeface="Arial" pitchFamily="34" charset="-120"/>
              </a:rPr>
              <a:t>  →  </a:t>
            </a:r>
            <a:pPr indent="0" marL="0">
              <a:buNone/>
            </a:pPr>
            <a:r>
              <a:rPr lang="en-US" sz="4400" b="1" dirty="0">
                <a:solidFill>
                  <a:srgbClr val="D62728"/>
                </a:solidFill>
                <a:latin typeface="Arial" pitchFamily="34" charset="0"/>
                <a:ea typeface="Arial" pitchFamily="34" charset="-122"/>
                <a:cs typeface="Arial" pitchFamily="34" charset="-120"/>
              </a:rPr>
              <a:t>72.0%</a:t>
            </a:r>
            <a:endParaRPr lang="en-US" sz="4400" dirty="0"/>
          </a:p>
        </p:txBody>
      </p:sp>
      <p:sp>
        <p:nvSpPr>
          <p:cNvPr id="18" name="Text 16"/>
          <p:cNvSpPr/>
          <p:nvPr/>
        </p:nvSpPr>
        <p:spPr>
          <a:xfrm>
            <a:off x="6446520" y="3520440"/>
            <a:ext cx="5029200" cy="365760"/>
          </a:xfrm>
          <a:prstGeom prst="rect">
            <a:avLst/>
          </a:prstGeom>
          <a:noFill/>
          <a:ln/>
        </p:spPr>
        <p:txBody>
          <a:bodyPr wrap="square" lIns="0" tIns="0" rIns="0" bIns="0" rtlCol="0" anchor="ctr"/>
          <a:lstStyle/>
          <a:p>
            <a:pPr indent="0" marL="0">
              <a:buNone/>
            </a:pPr>
            <a:r>
              <a:rPr lang="en-US" sz="1400" b="1" dirty="0">
                <a:solidFill>
                  <a:srgbClr val="D62728"/>
                </a:solidFill>
                <a:latin typeface="Arial" pitchFamily="34" charset="0"/>
                <a:ea typeface="Arial" pitchFamily="34" charset="-122"/>
                <a:cs typeface="Arial" pitchFamily="34" charset="-120"/>
              </a:rPr>
              <a:t>정답률 17.3%p 하락 — 이미지 600문항 실측</a:t>
            </a:r>
            <a:endParaRPr lang="en-US" sz="1400" dirty="0"/>
          </a:p>
        </p:txBody>
      </p:sp>
      <p:sp>
        <p:nvSpPr>
          <p:cNvPr id="19" name="Text 17"/>
          <p:cNvSpPr/>
          <p:nvPr/>
        </p:nvSpPr>
        <p:spPr>
          <a:xfrm>
            <a:off x="6446520" y="4023360"/>
            <a:ext cx="5074920" cy="164592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1F3B57"/>
                </a:solidFill>
                <a:latin typeface="Arial" pitchFamily="34" charset="0"/>
                <a:ea typeface="Arial" pitchFamily="34" charset="-122"/>
                <a:cs typeface="Arial" pitchFamily="34" charset="-120"/>
              </a:rPr>
              <a:t>이미 학계가 이름 붙인 문제입니다 (cross-image leakage, FOCUS 2025 등)</a:t>
            </a:r>
            <a:endParaRPr lang="en-US" sz="1200" dirty="0"/>
          </a:p>
          <a:p>
            <a:pPr marL="342900" indent="-342900">
              <a:spcAft>
                <a:spcPts val="800"/>
              </a:spcAft>
              <a:buSzPct val="100000"/>
              <a:buChar char="•"/>
            </a:pPr>
            <a:r>
              <a:rPr lang="en-US" sz="1200" dirty="0">
                <a:solidFill>
                  <a:srgbClr val="1F3B57"/>
                </a:solidFill>
                <a:latin typeface="Arial" pitchFamily="34" charset="0"/>
                <a:ea typeface="Arial" pitchFamily="34" charset="-122"/>
                <a:cs typeface="Arial" pitchFamily="34" charset="-120"/>
              </a:rPr>
              <a:t>기존 해법들은 계산을 '더' 써서 고칩니다 — 예: 이미지 N장이면 forward를 N+1번</a:t>
            </a:r>
            <a:endParaRPr lang="en-US" sz="1200" dirty="0"/>
          </a:p>
        </p:txBody>
      </p:sp>
      <p:sp>
        <p:nvSpPr>
          <p:cNvPr id="20" name="Shape 18"/>
          <p:cNvSpPr/>
          <p:nvPr/>
        </p:nvSpPr>
        <p:spPr>
          <a:xfrm>
            <a:off x="502920" y="6053328"/>
            <a:ext cx="11201400" cy="566928"/>
          </a:xfrm>
          <a:prstGeom prst="roundRect">
            <a:avLst>
              <a:gd name="adj" fmla="val 12903"/>
            </a:avLst>
          </a:prstGeom>
          <a:solidFill>
            <a:srgbClr val="1F3B57"/>
          </a:solidFill>
          <a:ln/>
        </p:spPr>
      </p:sp>
      <p:sp>
        <p:nvSpPr>
          <p:cNvPr id="21" name="Text 19"/>
          <p:cNvSpPr/>
          <p:nvPr/>
        </p:nvSpPr>
        <p:spPr>
          <a:xfrm>
            <a:off x="777240" y="6053328"/>
            <a:ext cx="10744200" cy="56692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 이미지가 늘면 출처가 섞여 정답률이 떨어진다 (단, 7B·이 벤치에서는 미관측 — 슬라이드 7) — 그리고 기존 해법은 전부 '계산을 더 쓰는' 방향이다</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37744"/>
            <a:ext cx="9601200" cy="292608"/>
          </a:xfrm>
          <a:prstGeom prst="rect">
            <a:avLst/>
          </a:prstGeom>
          <a:noFill/>
          <a:ln/>
        </p:spPr>
        <p:txBody>
          <a:bodyPr wrap="square" lIns="0" tIns="0" rIns="0" bIns="0" rtlCol="0" anchor="ctr"/>
          <a:lstStyle/>
          <a:p>
            <a:pPr indent="0" marL="0">
              <a:buNone/>
            </a:pPr>
            <a:r>
              <a:rPr lang="en-US" sz="1150" b="1" spc="100" kern="0" dirty="0">
                <a:solidFill>
                  <a:srgbClr val="1F77B4"/>
                </a:solidFill>
                <a:latin typeface="Arial" pitchFamily="34" charset="0"/>
                <a:ea typeface="Arial" pitchFamily="34" charset="-122"/>
                <a:cs typeface="Arial" pitchFamily="34" charset="-120"/>
              </a:rPr>
              <a:t>아이디어</a:t>
            </a:r>
            <a:endParaRPr lang="en-US" sz="1150" dirty="0"/>
          </a:p>
        </p:txBody>
      </p:sp>
      <p:sp>
        <p:nvSpPr>
          <p:cNvPr id="3" name="Text 1"/>
          <p:cNvSpPr/>
          <p:nvPr/>
        </p:nvSpPr>
        <p:spPr>
          <a:xfrm>
            <a:off x="502920" y="512064"/>
            <a:ext cx="11155680" cy="731520"/>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이미지들이 섞이는 통로는 층마다 한 번의 attention뿐 — 그 통로를 중간부터 닫아보자</a:t>
            </a:r>
            <a:endParaRPr lang="en-US" sz="2200" dirty="0"/>
          </a:p>
        </p:txBody>
      </p:sp>
      <p:sp>
        <p:nvSpPr>
          <p:cNvPr id="4" name="Text 2"/>
          <p:cNvSpPr/>
          <p:nvPr/>
        </p:nvSpPr>
        <p:spPr>
          <a:xfrm>
            <a:off x="914400" y="1444752"/>
            <a:ext cx="4663440" cy="320040"/>
          </a:xfrm>
          <a:prstGeom prst="rect">
            <a:avLst/>
          </a:prstGeom>
          <a:noFill/>
          <a:ln/>
        </p:spPr>
        <p:txBody>
          <a:bodyPr wrap="square" lIns="0" tIns="0" rIns="0" bIns="0" rtlCol="0" anchor="ctr"/>
          <a:lstStyle/>
          <a:p>
            <a:pPr algn="ctr" indent="0" marL="0">
              <a:buNone/>
            </a:pPr>
            <a:r>
              <a:rPr lang="en-US" sz="1350" b="1" dirty="0">
                <a:solidFill>
                  <a:srgbClr val="1F3B57"/>
                </a:solidFill>
                <a:latin typeface="Arial" pitchFamily="34" charset="0"/>
                <a:ea typeface="Arial" pitchFamily="34" charset="-122"/>
                <a:cs typeface="Arial" pitchFamily="34" charset="-120"/>
              </a:rPr>
              <a:t>지금의 모델: 끝까지 계속 섞임</a:t>
            </a:r>
            <a:endParaRPr lang="en-US" sz="1350" dirty="0"/>
          </a:p>
        </p:txBody>
      </p:sp>
      <p:sp>
        <p:nvSpPr>
          <p:cNvPr id="5" name="Shape 3"/>
          <p:cNvSpPr/>
          <p:nvPr/>
        </p:nvSpPr>
        <p:spPr>
          <a:xfrm>
            <a:off x="914400" y="1810512"/>
            <a:ext cx="4663440" cy="438912"/>
          </a:xfrm>
          <a:prstGeom prst="roundRect">
            <a:avLst>
              <a:gd name="adj" fmla="val 12500"/>
            </a:avLst>
          </a:prstGeom>
          <a:solidFill>
            <a:srgbClr val="EFF4F9"/>
          </a:solidFill>
          <a:ln w="9525">
            <a:solidFill>
              <a:srgbClr val="D5DEE8"/>
            </a:solidFill>
            <a:prstDash val="solid"/>
          </a:ln>
        </p:spPr>
      </p:sp>
      <p:sp>
        <p:nvSpPr>
          <p:cNvPr id="6" name="Text 4"/>
          <p:cNvSpPr/>
          <p:nvPr/>
        </p:nvSpPr>
        <p:spPr>
          <a:xfrm>
            <a:off x="1024128" y="1810512"/>
            <a:ext cx="685800" cy="438912"/>
          </a:xfrm>
          <a:prstGeom prst="rect">
            <a:avLst/>
          </a:prstGeom>
          <a:noFill/>
          <a:ln/>
        </p:spPr>
        <p:txBody>
          <a:bodyPr wrap="square" lIns="0" tIns="0" rIns="0" bIns="0" rtlCol="0" anchor="ctr"/>
          <a:lstStyle/>
          <a:p>
            <a:pPr indent="0" marL="0">
              <a:buNone/>
            </a:pPr>
            <a:r>
              <a:rPr lang="en-US" sz="1100" b="1" dirty="0">
                <a:solidFill>
                  <a:srgbClr val="6B7280"/>
                </a:solidFill>
                <a:latin typeface="Arial" pitchFamily="34" charset="0"/>
                <a:ea typeface="Arial" pitchFamily="34" charset="-122"/>
                <a:cs typeface="Arial" pitchFamily="34" charset="-120"/>
              </a:rPr>
              <a:t>1층</a:t>
            </a:r>
            <a:endParaRPr lang="en-US" sz="1100" dirty="0"/>
          </a:p>
        </p:txBody>
      </p:sp>
      <p:sp>
        <p:nvSpPr>
          <p:cNvPr id="7" name="Text 5"/>
          <p:cNvSpPr/>
          <p:nvPr/>
        </p:nvSpPr>
        <p:spPr>
          <a:xfrm>
            <a:off x="1783080" y="1810512"/>
            <a:ext cx="1554480" cy="438912"/>
          </a:xfrm>
          <a:prstGeom prst="rect">
            <a:avLst/>
          </a:prstGeom>
          <a:noFill/>
          <a:ln/>
        </p:spPr>
        <p:txBody>
          <a:bodyPr wrap="square" lIns="0" tIns="0" rIns="0" bIns="0" rtlCol="0" anchor="ctr"/>
          <a:lstStyle/>
          <a:p>
            <a:pPr indent="0" marL="0">
              <a:buNone/>
            </a:pPr>
            <a:r>
              <a:rPr lang="en-US" sz="1150" b="1" dirty="0">
                <a:solidFill>
                  <a:srgbClr val="1F77B4"/>
                </a:solidFill>
                <a:latin typeface="Arial" pitchFamily="34" charset="0"/>
                <a:ea typeface="Arial" pitchFamily="34" charset="-122"/>
                <a:cs typeface="Arial" pitchFamily="34" charset="-120"/>
              </a:rPr>
              <a:t>질문 대상 ●</a:t>
            </a:r>
            <a:endParaRPr lang="en-US" sz="1150" dirty="0"/>
          </a:p>
        </p:txBody>
      </p:sp>
      <p:sp>
        <p:nvSpPr>
          <p:cNvPr id="8" name="Text 6"/>
          <p:cNvSpPr/>
          <p:nvPr/>
        </p:nvSpPr>
        <p:spPr>
          <a:xfrm>
            <a:off x="3291840" y="1810512"/>
            <a:ext cx="914400" cy="438912"/>
          </a:xfrm>
          <a:prstGeom prst="rect">
            <a:avLst/>
          </a:prstGeom>
          <a:noFill/>
          <a:ln/>
        </p:spPr>
        <p:txBody>
          <a:bodyPr wrap="square" lIns="0" tIns="0" rIns="0" bIns="0" rtlCol="0" anchor="ctr"/>
          <a:lstStyle/>
          <a:p>
            <a:pPr algn="ctr" indent="0" marL="0">
              <a:buNone/>
            </a:pPr>
            <a:r>
              <a:rPr lang="en-US" sz="1150" b="1" dirty="0">
                <a:solidFill>
                  <a:srgbClr val="D62728"/>
                </a:solidFill>
                <a:latin typeface="Arial" pitchFamily="34" charset="0"/>
                <a:ea typeface="Arial" pitchFamily="34" charset="-122"/>
                <a:cs typeface="Arial" pitchFamily="34" charset="-120"/>
              </a:rPr>
              <a:t>⇄ 섞임</a:t>
            </a:r>
            <a:endParaRPr lang="en-US" sz="1150" dirty="0"/>
          </a:p>
        </p:txBody>
      </p:sp>
      <p:sp>
        <p:nvSpPr>
          <p:cNvPr id="9" name="Text 7"/>
          <p:cNvSpPr/>
          <p:nvPr/>
        </p:nvSpPr>
        <p:spPr>
          <a:xfrm>
            <a:off x="4206240" y="1810512"/>
            <a:ext cx="1371600" cy="438912"/>
          </a:xfrm>
          <a:prstGeom prst="rect">
            <a:avLst/>
          </a:prstGeom>
          <a:noFill/>
          <a:ln/>
        </p:spPr>
        <p:txBody>
          <a:bodyPr wrap="square" lIns="0" tIns="0" rIns="0" bIns="0" rtlCol="0" anchor="ctr"/>
          <a:lstStyle/>
          <a:p>
            <a:pPr indent="0" marL="0">
              <a:buNone/>
            </a:pPr>
            <a:r>
              <a:rPr lang="en-US" sz="1050" b="1" dirty="0">
                <a:solidFill>
                  <a:srgbClr val="D62728"/>
                </a:solidFill>
                <a:latin typeface="Arial" pitchFamily="34" charset="0"/>
                <a:ea typeface="Arial" pitchFamily="34" charset="-122"/>
                <a:cs typeface="Arial" pitchFamily="34" charset="-120"/>
              </a:rPr>
              <a:t>방해 ●</a:t>
            </a:r>
            <a:endParaRPr lang="en-US" sz="1050" dirty="0"/>
          </a:p>
        </p:txBody>
      </p:sp>
      <p:sp>
        <p:nvSpPr>
          <p:cNvPr id="10" name="Shape 8"/>
          <p:cNvSpPr/>
          <p:nvPr/>
        </p:nvSpPr>
        <p:spPr>
          <a:xfrm>
            <a:off x="914400" y="2340864"/>
            <a:ext cx="4663440" cy="438912"/>
          </a:xfrm>
          <a:prstGeom prst="roundRect">
            <a:avLst>
              <a:gd name="adj" fmla="val 12500"/>
            </a:avLst>
          </a:prstGeom>
          <a:solidFill>
            <a:srgbClr val="EFF4F9"/>
          </a:solidFill>
          <a:ln w="9525">
            <a:solidFill>
              <a:srgbClr val="D5DEE8"/>
            </a:solidFill>
            <a:prstDash val="solid"/>
          </a:ln>
        </p:spPr>
      </p:sp>
      <p:sp>
        <p:nvSpPr>
          <p:cNvPr id="11" name="Text 9"/>
          <p:cNvSpPr/>
          <p:nvPr/>
        </p:nvSpPr>
        <p:spPr>
          <a:xfrm>
            <a:off x="1024128" y="2340864"/>
            <a:ext cx="685800" cy="438912"/>
          </a:xfrm>
          <a:prstGeom prst="rect">
            <a:avLst/>
          </a:prstGeom>
          <a:noFill/>
          <a:ln/>
        </p:spPr>
        <p:txBody>
          <a:bodyPr wrap="square" lIns="0" tIns="0" rIns="0" bIns="0" rtlCol="0" anchor="ctr"/>
          <a:lstStyle/>
          <a:p>
            <a:pPr indent="0" marL="0">
              <a:buNone/>
            </a:pPr>
            <a:r>
              <a:rPr lang="en-US" sz="1100" b="1" dirty="0">
                <a:solidFill>
                  <a:srgbClr val="6B7280"/>
                </a:solidFill>
                <a:latin typeface="Arial" pitchFamily="34" charset="0"/>
                <a:ea typeface="Arial" pitchFamily="34" charset="-122"/>
                <a:cs typeface="Arial" pitchFamily="34" charset="-120"/>
              </a:rPr>
              <a:t>2층</a:t>
            </a:r>
            <a:endParaRPr lang="en-US" sz="1100" dirty="0"/>
          </a:p>
        </p:txBody>
      </p:sp>
      <p:sp>
        <p:nvSpPr>
          <p:cNvPr id="12" name="Text 10"/>
          <p:cNvSpPr/>
          <p:nvPr/>
        </p:nvSpPr>
        <p:spPr>
          <a:xfrm>
            <a:off x="1783080" y="2340864"/>
            <a:ext cx="1554480" cy="438912"/>
          </a:xfrm>
          <a:prstGeom prst="rect">
            <a:avLst/>
          </a:prstGeom>
          <a:noFill/>
          <a:ln/>
        </p:spPr>
        <p:txBody>
          <a:bodyPr wrap="square" lIns="0" tIns="0" rIns="0" bIns="0" rtlCol="0" anchor="ctr"/>
          <a:lstStyle/>
          <a:p>
            <a:pPr indent="0" marL="0">
              <a:buNone/>
            </a:pPr>
            <a:r>
              <a:rPr lang="en-US" sz="1150" b="1" dirty="0">
                <a:solidFill>
                  <a:srgbClr val="1F77B4"/>
                </a:solidFill>
                <a:latin typeface="Arial" pitchFamily="34" charset="0"/>
                <a:ea typeface="Arial" pitchFamily="34" charset="-122"/>
                <a:cs typeface="Arial" pitchFamily="34" charset="-120"/>
              </a:rPr>
              <a:t>질문 대상 ●</a:t>
            </a:r>
            <a:endParaRPr lang="en-US" sz="1150" dirty="0"/>
          </a:p>
        </p:txBody>
      </p:sp>
      <p:sp>
        <p:nvSpPr>
          <p:cNvPr id="13" name="Text 11"/>
          <p:cNvSpPr/>
          <p:nvPr/>
        </p:nvSpPr>
        <p:spPr>
          <a:xfrm>
            <a:off x="3291840" y="2340864"/>
            <a:ext cx="914400" cy="438912"/>
          </a:xfrm>
          <a:prstGeom prst="rect">
            <a:avLst/>
          </a:prstGeom>
          <a:noFill/>
          <a:ln/>
        </p:spPr>
        <p:txBody>
          <a:bodyPr wrap="square" lIns="0" tIns="0" rIns="0" bIns="0" rtlCol="0" anchor="ctr"/>
          <a:lstStyle/>
          <a:p>
            <a:pPr algn="ctr" indent="0" marL="0">
              <a:buNone/>
            </a:pPr>
            <a:r>
              <a:rPr lang="en-US" sz="1150" b="1" dirty="0">
                <a:solidFill>
                  <a:srgbClr val="D62728"/>
                </a:solidFill>
                <a:latin typeface="Arial" pitchFamily="34" charset="0"/>
                <a:ea typeface="Arial" pitchFamily="34" charset="-122"/>
                <a:cs typeface="Arial" pitchFamily="34" charset="-120"/>
              </a:rPr>
              <a:t>⇄ 섞임</a:t>
            </a:r>
            <a:endParaRPr lang="en-US" sz="1150" dirty="0"/>
          </a:p>
        </p:txBody>
      </p:sp>
      <p:sp>
        <p:nvSpPr>
          <p:cNvPr id="14" name="Text 12"/>
          <p:cNvSpPr/>
          <p:nvPr/>
        </p:nvSpPr>
        <p:spPr>
          <a:xfrm>
            <a:off x="4206240" y="2340864"/>
            <a:ext cx="1371600" cy="438912"/>
          </a:xfrm>
          <a:prstGeom prst="rect">
            <a:avLst/>
          </a:prstGeom>
          <a:noFill/>
          <a:ln/>
        </p:spPr>
        <p:txBody>
          <a:bodyPr wrap="square" lIns="0" tIns="0" rIns="0" bIns="0" rtlCol="0" anchor="ctr"/>
          <a:lstStyle/>
          <a:p>
            <a:pPr indent="0" marL="0">
              <a:buNone/>
            </a:pPr>
            <a:r>
              <a:rPr lang="en-US" sz="1050" b="1" dirty="0">
                <a:solidFill>
                  <a:srgbClr val="D62728"/>
                </a:solidFill>
                <a:latin typeface="Arial" pitchFamily="34" charset="0"/>
                <a:ea typeface="Arial" pitchFamily="34" charset="-122"/>
                <a:cs typeface="Arial" pitchFamily="34" charset="-120"/>
              </a:rPr>
              <a:t>방해 ●</a:t>
            </a:r>
            <a:endParaRPr lang="en-US" sz="1050" dirty="0"/>
          </a:p>
        </p:txBody>
      </p:sp>
      <p:sp>
        <p:nvSpPr>
          <p:cNvPr id="15" name="Shape 13"/>
          <p:cNvSpPr/>
          <p:nvPr/>
        </p:nvSpPr>
        <p:spPr>
          <a:xfrm>
            <a:off x="914400" y="2871216"/>
            <a:ext cx="4663440" cy="438912"/>
          </a:xfrm>
          <a:prstGeom prst="roundRect">
            <a:avLst>
              <a:gd name="adj" fmla="val 12500"/>
            </a:avLst>
          </a:prstGeom>
          <a:solidFill>
            <a:srgbClr val="EFF4F9"/>
          </a:solidFill>
          <a:ln w="9525">
            <a:solidFill>
              <a:srgbClr val="D5DEE8"/>
            </a:solidFill>
            <a:prstDash val="solid"/>
          </a:ln>
        </p:spPr>
      </p:sp>
      <p:sp>
        <p:nvSpPr>
          <p:cNvPr id="16" name="Text 14"/>
          <p:cNvSpPr/>
          <p:nvPr/>
        </p:nvSpPr>
        <p:spPr>
          <a:xfrm>
            <a:off x="1024128" y="2871216"/>
            <a:ext cx="685800" cy="438912"/>
          </a:xfrm>
          <a:prstGeom prst="rect">
            <a:avLst/>
          </a:prstGeom>
          <a:noFill/>
          <a:ln/>
        </p:spPr>
        <p:txBody>
          <a:bodyPr wrap="square" lIns="0" tIns="0" rIns="0" bIns="0" rtlCol="0" anchor="ctr"/>
          <a:lstStyle/>
          <a:p>
            <a:pPr indent="0" marL="0">
              <a:buNone/>
            </a:pPr>
            <a:r>
              <a:rPr lang="en-US" sz="1100" b="1" dirty="0">
                <a:solidFill>
                  <a:srgbClr val="6B7280"/>
                </a:solidFill>
                <a:latin typeface="Arial" pitchFamily="34" charset="0"/>
                <a:ea typeface="Arial" pitchFamily="34" charset="-122"/>
                <a:cs typeface="Arial" pitchFamily="34" charset="-120"/>
              </a:rPr>
              <a:t>3층</a:t>
            </a:r>
            <a:endParaRPr lang="en-US" sz="1100" dirty="0"/>
          </a:p>
        </p:txBody>
      </p:sp>
      <p:sp>
        <p:nvSpPr>
          <p:cNvPr id="17" name="Text 15"/>
          <p:cNvSpPr/>
          <p:nvPr/>
        </p:nvSpPr>
        <p:spPr>
          <a:xfrm>
            <a:off x="1783080" y="2871216"/>
            <a:ext cx="1554480" cy="438912"/>
          </a:xfrm>
          <a:prstGeom prst="rect">
            <a:avLst/>
          </a:prstGeom>
          <a:noFill/>
          <a:ln/>
        </p:spPr>
        <p:txBody>
          <a:bodyPr wrap="square" lIns="0" tIns="0" rIns="0" bIns="0" rtlCol="0" anchor="ctr"/>
          <a:lstStyle/>
          <a:p>
            <a:pPr indent="0" marL="0">
              <a:buNone/>
            </a:pPr>
            <a:r>
              <a:rPr lang="en-US" sz="1150" b="1" dirty="0">
                <a:solidFill>
                  <a:srgbClr val="1F77B4"/>
                </a:solidFill>
                <a:latin typeface="Arial" pitchFamily="34" charset="0"/>
                <a:ea typeface="Arial" pitchFamily="34" charset="-122"/>
                <a:cs typeface="Arial" pitchFamily="34" charset="-120"/>
              </a:rPr>
              <a:t>질문 대상 ●</a:t>
            </a:r>
            <a:endParaRPr lang="en-US" sz="1150" dirty="0"/>
          </a:p>
        </p:txBody>
      </p:sp>
      <p:sp>
        <p:nvSpPr>
          <p:cNvPr id="18" name="Text 16"/>
          <p:cNvSpPr/>
          <p:nvPr/>
        </p:nvSpPr>
        <p:spPr>
          <a:xfrm>
            <a:off x="3291840" y="2871216"/>
            <a:ext cx="914400" cy="438912"/>
          </a:xfrm>
          <a:prstGeom prst="rect">
            <a:avLst/>
          </a:prstGeom>
          <a:noFill/>
          <a:ln/>
        </p:spPr>
        <p:txBody>
          <a:bodyPr wrap="square" lIns="0" tIns="0" rIns="0" bIns="0" rtlCol="0" anchor="ctr"/>
          <a:lstStyle/>
          <a:p>
            <a:pPr algn="ctr" indent="0" marL="0">
              <a:buNone/>
            </a:pPr>
            <a:r>
              <a:rPr lang="en-US" sz="1150" b="1" dirty="0">
                <a:solidFill>
                  <a:srgbClr val="D62728"/>
                </a:solidFill>
                <a:latin typeface="Arial" pitchFamily="34" charset="0"/>
                <a:ea typeface="Arial" pitchFamily="34" charset="-122"/>
                <a:cs typeface="Arial" pitchFamily="34" charset="-120"/>
              </a:rPr>
              <a:t>⇄ 섞임</a:t>
            </a:r>
            <a:endParaRPr lang="en-US" sz="1150" dirty="0"/>
          </a:p>
        </p:txBody>
      </p:sp>
      <p:sp>
        <p:nvSpPr>
          <p:cNvPr id="19" name="Text 17"/>
          <p:cNvSpPr/>
          <p:nvPr/>
        </p:nvSpPr>
        <p:spPr>
          <a:xfrm>
            <a:off x="4206240" y="2871216"/>
            <a:ext cx="1371600" cy="438912"/>
          </a:xfrm>
          <a:prstGeom prst="rect">
            <a:avLst/>
          </a:prstGeom>
          <a:noFill/>
          <a:ln/>
        </p:spPr>
        <p:txBody>
          <a:bodyPr wrap="square" lIns="0" tIns="0" rIns="0" bIns="0" rtlCol="0" anchor="ctr"/>
          <a:lstStyle/>
          <a:p>
            <a:pPr indent="0" marL="0">
              <a:buNone/>
            </a:pPr>
            <a:r>
              <a:rPr lang="en-US" sz="1050" b="1" dirty="0">
                <a:solidFill>
                  <a:srgbClr val="D62728"/>
                </a:solidFill>
                <a:latin typeface="Arial" pitchFamily="34" charset="0"/>
                <a:ea typeface="Arial" pitchFamily="34" charset="-122"/>
                <a:cs typeface="Arial" pitchFamily="34" charset="-120"/>
              </a:rPr>
              <a:t>방해 ●</a:t>
            </a:r>
            <a:endParaRPr lang="en-US" sz="1050" dirty="0"/>
          </a:p>
        </p:txBody>
      </p:sp>
      <p:sp>
        <p:nvSpPr>
          <p:cNvPr id="20" name="Shape 18"/>
          <p:cNvSpPr/>
          <p:nvPr/>
        </p:nvSpPr>
        <p:spPr>
          <a:xfrm>
            <a:off x="914400" y="3401568"/>
            <a:ext cx="4663440" cy="438912"/>
          </a:xfrm>
          <a:prstGeom prst="roundRect">
            <a:avLst>
              <a:gd name="adj" fmla="val 12500"/>
            </a:avLst>
          </a:prstGeom>
          <a:solidFill>
            <a:srgbClr val="EFF4F9"/>
          </a:solidFill>
          <a:ln w="9525">
            <a:solidFill>
              <a:srgbClr val="D5DEE8"/>
            </a:solidFill>
            <a:prstDash val="solid"/>
          </a:ln>
        </p:spPr>
      </p:sp>
      <p:sp>
        <p:nvSpPr>
          <p:cNvPr id="21" name="Text 19"/>
          <p:cNvSpPr/>
          <p:nvPr/>
        </p:nvSpPr>
        <p:spPr>
          <a:xfrm>
            <a:off x="1024128" y="3401568"/>
            <a:ext cx="685800" cy="438912"/>
          </a:xfrm>
          <a:prstGeom prst="rect">
            <a:avLst/>
          </a:prstGeom>
          <a:noFill/>
          <a:ln/>
        </p:spPr>
        <p:txBody>
          <a:bodyPr wrap="square" lIns="0" tIns="0" rIns="0" bIns="0" rtlCol="0" anchor="ctr"/>
          <a:lstStyle/>
          <a:p>
            <a:pPr indent="0" marL="0">
              <a:buNone/>
            </a:pPr>
            <a:r>
              <a:rPr lang="en-US" sz="1100" b="1" dirty="0">
                <a:solidFill>
                  <a:srgbClr val="6B7280"/>
                </a:solidFill>
                <a:latin typeface="Arial" pitchFamily="34" charset="0"/>
                <a:ea typeface="Arial" pitchFamily="34" charset="-122"/>
                <a:cs typeface="Arial" pitchFamily="34" charset="-120"/>
              </a:rPr>
              <a:t>4층</a:t>
            </a:r>
            <a:endParaRPr lang="en-US" sz="1100" dirty="0"/>
          </a:p>
        </p:txBody>
      </p:sp>
      <p:sp>
        <p:nvSpPr>
          <p:cNvPr id="22" name="Text 20"/>
          <p:cNvSpPr/>
          <p:nvPr/>
        </p:nvSpPr>
        <p:spPr>
          <a:xfrm>
            <a:off x="1783080" y="3401568"/>
            <a:ext cx="1554480" cy="438912"/>
          </a:xfrm>
          <a:prstGeom prst="rect">
            <a:avLst/>
          </a:prstGeom>
          <a:noFill/>
          <a:ln/>
        </p:spPr>
        <p:txBody>
          <a:bodyPr wrap="square" lIns="0" tIns="0" rIns="0" bIns="0" rtlCol="0" anchor="ctr"/>
          <a:lstStyle/>
          <a:p>
            <a:pPr indent="0" marL="0">
              <a:buNone/>
            </a:pPr>
            <a:r>
              <a:rPr lang="en-US" sz="1150" b="1" dirty="0">
                <a:solidFill>
                  <a:srgbClr val="1F77B4"/>
                </a:solidFill>
                <a:latin typeface="Arial" pitchFamily="34" charset="0"/>
                <a:ea typeface="Arial" pitchFamily="34" charset="-122"/>
                <a:cs typeface="Arial" pitchFamily="34" charset="-120"/>
              </a:rPr>
              <a:t>질문 대상 ●</a:t>
            </a:r>
            <a:endParaRPr lang="en-US" sz="1150" dirty="0"/>
          </a:p>
        </p:txBody>
      </p:sp>
      <p:sp>
        <p:nvSpPr>
          <p:cNvPr id="23" name="Text 21"/>
          <p:cNvSpPr/>
          <p:nvPr/>
        </p:nvSpPr>
        <p:spPr>
          <a:xfrm>
            <a:off x="3291840" y="3401568"/>
            <a:ext cx="914400" cy="438912"/>
          </a:xfrm>
          <a:prstGeom prst="rect">
            <a:avLst/>
          </a:prstGeom>
          <a:noFill/>
          <a:ln/>
        </p:spPr>
        <p:txBody>
          <a:bodyPr wrap="square" lIns="0" tIns="0" rIns="0" bIns="0" rtlCol="0" anchor="ctr"/>
          <a:lstStyle/>
          <a:p>
            <a:pPr algn="ctr" indent="0" marL="0">
              <a:buNone/>
            </a:pPr>
            <a:r>
              <a:rPr lang="en-US" sz="1150" b="1" dirty="0">
                <a:solidFill>
                  <a:srgbClr val="D62728"/>
                </a:solidFill>
                <a:latin typeface="Arial" pitchFamily="34" charset="0"/>
                <a:ea typeface="Arial" pitchFamily="34" charset="-122"/>
                <a:cs typeface="Arial" pitchFamily="34" charset="-120"/>
              </a:rPr>
              <a:t>⇄ 섞임</a:t>
            </a:r>
            <a:endParaRPr lang="en-US" sz="1150" dirty="0"/>
          </a:p>
        </p:txBody>
      </p:sp>
      <p:sp>
        <p:nvSpPr>
          <p:cNvPr id="24" name="Text 22"/>
          <p:cNvSpPr/>
          <p:nvPr/>
        </p:nvSpPr>
        <p:spPr>
          <a:xfrm>
            <a:off x="4206240" y="3401568"/>
            <a:ext cx="1371600" cy="438912"/>
          </a:xfrm>
          <a:prstGeom prst="rect">
            <a:avLst/>
          </a:prstGeom>
          <a:noFill/>
          <a:ln/>
        </p:spPr>
        <p:txBody>
          <a:bodyPr wrap="square" lIns="0" tIns="0" rIns="0" bIns="0" rtlCol="0" anchor="ctr"/>
          <a:lstStyle/>
          <a:p>
            <a:pPr indent="0" marL="0">
              <a:buNone/>
            </a:pPr>
            <a:r>
              <a:rPr lang="en-US" sz="1050" b="1" dirty="0">
                <a:solidFill>
                  <a:srgbClr val="D62728"/>
                </a:solidFill>
                <a:latin typeface="Arial" pitchFamily="34" charset="0"/>
                <a:ea typeface="Arial" pitchFamily="34" charset="-122"/>
                <a:cs typeface="Arial" pitchFamily="34" charset="-120"/>
              </a:rPr>
              <a:t>방해 ●</a:t>
            </a:r>
            <a:endParaRPr lang="en-US" sz="1050" dirty="0"/>
          </a:p>
        </p:txBody>
      </p:sp>
      <p:sp>
        <p:nvSpPr>
          <p:cNvPr id="25" name="Shape 23"/>
          <p:cNvSpPr/>
          <p:nvPr/>
        </p:nvSpPr>
        <p:spPr>
          <a:xfrm>
            <a:off x="914400" y="3931920"/>
            <a:ext cx="4663440" cy="438912"/>
          </a:xfrm>
          <a:prstGeom prst="roundRect">
            <a:avLst>
              <a:gd name="adj" fmla="val 12500"/>
            </a:avLst>
          </a:prstGeom>
          <a:solidFill>
            <a:srgbClr val="EFF4F9"/>
          </a:solidFill>
          <a:ln w="9525">
            <a:solidFill>
              <a:srgbClr val="D5DEE8"/>
            </a:solidFill>
            <a:prstDash val="solid"/>
          </a:ln>
        </p:spPr>
      </p:sp>
      <p:sp>
        <p:nvSpPr>
          <p:cNvPr id="26" name="Text 24"/>
          <p:cNvSpPr/>
          <p:nvPr/>
        </p:nvSpPr>
        <p:spPr>
          <a:xfrm>
            <a:off x="1024128" y="3931920"/>
            <a:ext cx="685800" cy="438912"/>
          </a:xfrm>
          <a:prstGeom prst="rect">
            <a:avLst/>
          </a:prstGeom>
          <a:noFill/>
          <a:ln/>
        </p:spPr>
        <p:txBody>
          <a:bodyPr wrap="square" lIns="0" tIns="0" rIns="0" bIns="0" rtlCol="0" anchor="ctr"/>
          <a:lstStyle/>
          <a:p>
            <a:pPr indent="0" marL="0">
              <a:buNone/>
            </a:pPr>
            <a:r>
              <a:rPr lang="en-US" sz="1100" b="1" dirty="0">
                <a:solidFill>
                  <a:srgbClr val="6B7280"/>
                </a:solidFill>
                <a:latin typeface="Arial" pitchFamily="34" charset="0"/>
                <a:ea typeface="Arial" pitchFamily="34" charset="-122"/>
                <a:cs typeface="Arial" pitchFamily="34" charset="-120"/>
              </a:rPr>
              <a:t>5층</a:t>
            </a:r>
            <a:endParaRPr lang="en-US" sz="1100" dirty="0"/>
          </a:p>
        </p:txBody>
      </p:sp>
      <p:sp>
        <p:nvSpPr>
          <p:cNvPr id="27" name="Text 25"/>
          <p:cNvSpPr/>
          <p:nvPr/>
        </p:nvSpPr>
        <p:spPr>
          <a:xfrm>
            <a:off x="1783080" y="3931920"/>
            <a:ext cx="1554480" cy="438912"/>
          </a:xfrm>
          <a:prstGeom prst="rect">
            <a:avLst/>
          </a:prstGeom>
          <a:noFill/>
          <a:ln/>
        </p:spPr>
        <p:txBody>
          <a:bodyPr wrap="square" lIns="0" tIns="0" rIns="0" bIns="0" rtlCol="0" anchor="ctr"/>
          <a:lstStyle/>
          <a:p>
            <a:pPr indent="0" marL="0">
              <a:buNone/>
            </a:pPr>
            <a:r>
              <a:rPr lang="en-US" sz="1150" b="1" dirty="0">
                <a:solidFill>
                  <a:srgbClr val="1F77B4"/>
                </a:solidFill>
                <a:latin typeface="Arial" pitchFamily="34" charset="0"/>
                <a:ea typeface="Arial" pitchFamily="34" charset="-122"/>
                <a:cs typeface="Arial" pitchFamily="34" charset="-120"/>
              </a:rPr>
              <a:t>질문 대상 ●</a:t>
            </a:r>
            <a:endParaRPr lang="en-US" sz="1150" dirty="0"/>
          </a:p>
        </p:txBody>
      </p:sp>
      <p:sp>
        <p:nvSpPr>
          <p:cNvPr id="28" name="Text 26"/>
          <p:cNvSpPr/>
          <p:nvPr/>
        </p:nvSpPr>
        <p:spPr>
          <a:xfrm>
            <a:off x="3291840" y="3931920"/>
            <a:ext cx="914400" cy="438912"/>
          </a:xfrm>
          <a:prstGeom prst="rect">
            <a:avLst/>
          </a:prstGeom>
          <a:noFill/>
          <a:ln/>
        </p:spPr>
        <p:txBody>
          <a:bodyPr wrap="square" lIns="0" tIns="0" rIns="0" bIns="0" rtlCol="0" anchor="ctr"/>
          <a:lstStyle/>
          <a:p>
            <a:pPr algn="ctr" indent="0" marL="0">
              <a:buNone/>
            </a:pPr>
            <a:r>
              <a:rPr lang="en-US" sz="1150" b="1" dirty="0">
                <a:solidFill>
                  <a:srgbClr val="D62728"/>
                </a:solidFill>
                <a:latin typeface="Arial" pitchFamily="34" charset="0"/>
                <a:ea typeface="Arial" pitchFamily="34" charset="-122"/>
                <a:cs typeface="Arial" pitchFamily="34" charset="-120"/>
              </a:rPr>
              <a:t>⇄ 섞임</a:t>
            </a:r>
            <a:endParaRPr lang="en-US" sz="1150" dirty="0"/>
          </a:p>
        </p:txBody>
      </p:sp>
      <p:sp>
        <p:nvSpPr>
          <p:cNvPr id="29" name="Text 27"/>
          <p:cNvSpPr/>
          <p:nvPr/>
        </p:nvSpPr>
        <p:spPr>
          <a:xfrm>
            <a:off x="4206240" y="3931920"/>
            <a:ext cx="1371600" cy="438912"/>
          </a:xfrm>
          <a:prstGeom prst="rect">
            <a:avLst/>
          </a:prstGeom>
          <a:noFill/>
          <a:ln/>
        </p:spPr>
        <p:txBody>
          <a:bodyPr wrap="square" lIns="0" tIns="0" rIns="0" bIns="0" rtlCol="0" anchor="ctr"/>
          <a:lstStyle/>
          <a:p>
            <a:pPr indent="0" marL="0">
              <a:buNone/>
            </a:pPr>
            <a:r>
              <a:rPr lang="en-US" sz="1050" b="1" dirty="0">
                <a:solidFill>
                  <a:srgbClr val="D62728"/>
                </a:solidFill>
                <a:latin typeface="Arial" pitchFamily="34" charset="0"/>
                <a:ea typeface="Arial" pitchFamily="34" charset="-122"/>
                <a:cs typeface="Arial" pitchFamily="34" charset="-120"/>
              </a:rPr>
              <a:t>방해 ●</a:t>
            </a:r>
            <a:endParaRPr lang="en-US" sz="1050" dirty="0"/>
          </a:p>
        </p:txBody>
      </p:sp>
      <p:sp>
        <p:nvSpPr>
          <p:cNvPr id="30" name="Text 28"/>
          <p:cNvSpPr/>
          <p:nvPr/>
        </p:nvSpPr>
        <p:spPr>
          <a:xfrm>
            <a:off x="914400" y="4526280"/>
            <a:ext cx="4663440" cy="566928"/>
          </a:xfrm>
          <a:prstGeom prst="rect">
            <a:avLst/>
          </a:prstGeom>
          <a:noFill/>
          <a:ln/>
        </p:spPr>
        <p:txBody>
          <a:bodyPr wrap="square" lIns="0" tIns="0" rIns="0" bIns="0" rtlCol="0" anchor="ctr"/>
          <a:lstStyle/>
          <a:p>
            <a:pPr algn="ctr" indent="0" marL="0">
              <a:buNone/>
            </a:pPr>
            <a:r>
              <a:rPr lang="en-US" sz="1150" b="1" dirty="0">
                <a:solidFill>
                  <a:srgbClr val="D62728"/>
                </a:solidFill>
                <a:latin typeface="Arial" pitchFamily="34" charset="0"/>
                <a:ea typeface="Arial" pitchFamily="34" charset="-122"/>
                <a:cs typeface="Arial" pitchFamily="34" charset="-120"/>
              </a:rPr>
              <a:t>층이 깊어질수록 출처 오염이 누적된다</a:t>
            </a:r>
            <a:endParaRPr lang="en-US" sz="1150" dirty="0"/>
          </a:p>
        </p:txBody>
      </p:sp>
      <p:sp>
        <p:nvSpPr>
          <p:cNvPr id="31" name="Text 29"/>
          <p:cNvSpPr/>
          <p:nvPr/>
        </p:nvSpPr>
        <p:spPr>
          <a:xfrm>
            <a:off x="6583680" y="1444752"/>
            <a:ext cx="4663440" cy="320040"/>
          </a:xfrm>
          <a:prstGeom prst="rect">
            <a:avLst/>
          </a:prstGeom>
          <a:noFill/>
          <a:ln/>
        </p:spPr>
        <p:txBody>
          <a:bodyPr wrap="square" lIns="0" tIns="0" rIns="0" bIns="0" rtlCol="0" anchor="ctr"/>
          <a:lstStyle/>
          <a:p>
            <a:pPr algn="ctr" indent="0" marL="0">
              <a:buNone/>
            </a:pPr>
            <a:r>
              <a:rPr lang="en-US" sz="1350" b="1" dirty="0">
                <a:solidFill>
                  <a:srgbClr val="1F3B57"/>
                </a:solidFill>
                <a:latin typeface="Arial" pitchFamily="34" charset="0"/>
                <a:ea typeface="Arial" pitchFamily="34" charset="-122"/>
                <a:cs typeface="Arial" pitchFamily="34" charset="-120"/>
              </a:rPr>
              <a:t>제안: L층부터 방해 이미지 차단</a:t>
            </a:r>
            <a:endParaRPr lang="en-US" sz="1350" dirty="0"/>
          </a:p>
        </p:txBody>
      </p:sp>
      <p:sp>
        <p:nvSpPr>
          <p:cNvPr id="32" name="Shape 30"/>
          <p:cNvSpPr/>
          <p:nvPr/>
        </p:nvSpPr>
        <p:spPr>
          <a:xfrm>
            <a:off x="6583680" y="1810512"/>
            <a:ext cx="4663440" cy="438912"/>
          </a:xfrm>
          <a:prstGeom prst="roundRect">
            <a:avLst>
              <a:gd name="adj" fmla="val 12500"/>
            </a:avLst>
          </a:prstGeom>
          <a:solidFill>
            <a:srgbClr val="EFF4F9"/>
          </a:solidFill>
          <a:ln w="9525">
            <a:solidFill>
              <a:srgbClr val="D5DEE8"/>
            </a:solidFill>
            <a:prstDash val="solid"/>
          </a:ln>
        </p:spPr>
      </p:sp>
      <p:sp>
        <p:nvSpPr>
          <p:cNvPr id="33" name="Text 31"/>
          <p:cNvSpPr/>
          <p:nvPr/>
        </p:nvSpPr>
        <p:spPr>
          <a:xfrm>
            <a:off x="6693408" y="1810512"/>
            <a:ext cx="685800" cy="438912"/>
          </a:xfrm>
          <a:prstGeom prst="rect">
            <a:avLst/>
          </a:prstGeom>
          <a:noFill/>
          <a:ln/>
        </p:spPr>
        <p:txBody>
          <a:bodyPr wrap="square" lIns="0" tIns="0" rIns="0" bIns="0" rtlCol="0" anchor="ctr"/>
          <a:lstStyle/>
          <a:p>
            <a:pPr indent="0" marL="0">
              <a:buNone/>
            </a:pPr>
            <a:r>
              <a:rPr lang="en-US" sz="1100" b="1" dirty="0">
                <a:solidFill>
                  <a:srgbClr val="6B7280"/>
                </a:solidFill>
                <a:latin typeface="Arial" pitchFamily="34" charset="0"/>
                <a:ea typeface="Arial" pitchFamily="34" charset="-122"/>
                <a:cs typeface="Arial" pitchFamily="34" charset="-120"/>
              </a:rPr>
              <a:t>1층</a:t>
            </a:r>
            <a:endParaRPr lang="en-US" sz="1100" dirty="0"/>
          </a:p>
        </p:txBody>
      </p:sp>
      <p:sp>
        <p:nvSpPr>
          <p:cNvPr id="34" name="Text 32"/>
          <p:cNvSpPr/>
          <p:nvPr/>
        </p:nvSpPr>
        <p:spPr>
          <a:xfrm>
            <a:off x="7452360" y="1810512"/>
            <a:ext cx="1554480" cy="438912"/>
          </a:xfrm>
          <a:prstGeom prst="rect">
            <a:avLst/>
          </a:prstGeom>
          <a:noFill/>
          <a:ln/>
        </p:spPr>
        <p:txBody>
          <a:bodyPr wrap="square" lIns="0" tIns="0" rIns="0" bIns="0" rtlCol="0" anchor="ctr"/>
          <a:lstStyle/>
          <a:p>
            <a:pPr indent="0" marL="0">
              <a:buNone/>
            </a:pPr>
            <a:r>
              <a:rPr lang="en-US" sz="1150" b="1" dirty="0">
                <a:solidFill>
                  <a:srgbClr val="1F77B4"/>
                </a:solidFill>
                <a:latin typeface="Arial" pitchFamily="34" charset="0"/>
                <a:ea typeface="Arial" pitchFamily="34" charset="-122"/>
                <a:cs typeface="Arial" pitchFamily="34" charset="-120"/>
              </a:rPr>
              <a:t>질문 대상 ●</a:t>
            </a:r>
            <a:endParaRPr lang="en-US" sz="1150" dirty="0"/>
          </a:p>
        </p:txBody>
      </p:sp>
      <p:sp>
        <p:nvSpPr>
          <p:cNvPr id="35" name="Text 33"/>
          <p:cNvSpPr/>
          <p:nvPr/>
        </p:nvSpPr>
        <p:spPr>
          <a:xfrm>
            <a:off x="8961120" y="1810512"/>
            <a:ext cx="914400" cy="438912"/>
          </a:xfrm>
          <a:prstGeom prst="rect">
            <a:avLst/>
          </a:prstGeom>
          <a:noFill/>
          <a:ln/>
        </p:spPr>
        <p:txBody>
          <a:bodyPr wrap="square" lIns="0" tIns="0" rIns="0" bIns="0" rtlCol="0" anchor="ctr"/>
          <a:lstStyle/>
          <a:p>
            <a:pPr algn="ctr" indent="0" marL="0">
              <a:buNone/>
            </a:pPr>
            <a:r>
              <a:rPr lang="en-US" sz="1150" b="1" dirty="0">
                <a:solidFill>
                  <a:srgbClr val="D62728"/>
                </a:solidFill>
                <a:latin typeface="Arial" pitchFamily="34" charset="0"/>
                <a:ea typeface="Arial" pitchFamily="34" charset="-122"/>
                <a:cs typeface="Arial" pitchFamily="34" charset="-120"/>
              </a:rPr>
              <a:t>⇄ 섞임</a:t>
            </a:r>
            <a:endParaRPr lang="en-US" sz="1150" dirty="0"/>
          </a:p>
        </p:txBody>
      </p:sp>
      <p:sp>
        <p:nvSpPr>
          <p:cNvPr id="36" name="Text 34"/>
          <p:cNvSpPr/>
          <p:nvPr/>
        </p:nvSpPr>
        <p:spPr>
          <a:xfrm>
            <a:off x="9875520" y="1810512"/>
            <a:ext cx="1371600" cy="438912"/>
          </a:xfrm>
          <a:prstGeom prst="rect">
            <a:avLst/>
          </a:prstGeom>
          <a:noFill/>
          <a:ln/>
        </p:spPr>
        <p:txBody>
          <a:bodyPr wrap="square" lIns="0" tIns="0" rIns="0" bIns="0" rtlCol="0" anchor="ctr"/>
          <a:lstStyle/>
          <a:p>
            <a:pPr indent="0" marL="0">
              <a:buNone/>
            </a:pPr>
            <a:r>
              <a:rPr lang="en-US" sz="1050" b="1" dirty="0">
                <a:solidFill>
                  <a:srgbClr val="D62728"/>
                </a:solidFill>
                <a:latin typeface="Arial" pitchFamily="34" charset="0"/>
                <a:ea typeface="Arial" pitchFamily="34" charset="-122"/>
                <a:cs typeface="Arial" pitchFamily="34" charset="-120"/>
              </a:rPr>
              <a:t>방해 ●</a:t>
            </a:r>
            <a:endParaRPr lang="en-US" sz="1050" dirty="0"/>
          </a:p>
        </p:txBody>
      </p:sp>
      <p:sp>
        <p:nvSpPr>
          <p:cNvPr id="37" name="Shape 35"/>
          <p:cNvSpPr/>
          <p:nvPr/>
        </p:nvSpPr>
        <p:spPr>
          <a:xfrm>
            <a:off x="6583680" y="2340864"/>
            <a:ext cx="4663440" cy="438912"/>
          </a:xfrm>
          <a:prstGeom prst="roundRect">
            <a:avLst>
              <a:gd name="adj" fmla="val 12500"/>
            </a:avLst>
          </a:prstGeom>
          <a:solidFill>
            <a:srgbClr val="EFF4F9"/>
          </a:solidFill>
          <a:ln w="9525">
            <a:solidFill>
              <a:srgbClr val="D5DEE8"/>
            </a:solidFill>
            <a:prstDash val="solid"/>
          </a:ln>
        </p:spPr>
      </p:sp>
      <p:sp>
        <p:nvSpPr>
          <p:cNvPr id="38" name="Text 36"/>
          <p:cNvSpPr/>
          <p:nvPr/>
        </p:nvSpPr>
        <p:spPr>
          <a:xfrm>
            <a:off x="6693408" y="2340864"/>
            <a:ext cx="685800" cy="438912"/>
          </a:xfrm>
          <a:prstGeom prst="rect">
            <a:avLst/>
          </a:prstGeom>
          <a:noFill/>
          <a:ln/>
        </p:spPr>
        <p:txBody>
          <a:bodyPr wrap="square" lIns="0" tIns="0" rIns="0" bIns="0" rtlCol="0" anchor="ctr"/>
          <a:lstStyle/>
          <a:p>
            <a:pPr indent="0" marL="0">
              <a:buNone/>
            </a:pPr>
            <a:r>
              <a:rPr lang="en-US" sz="1100" b="1" dirty="0">
                <a:solidFill>
                  <a:srgbClr val="6B7280"/>
                </a:solidFill>
                <a:latin typeface="Arial" pitchFamily="34" charset="0"/>
                <a:ea typeface="Arial" pitchFamily="34" charset="-122"/>
                <a:cs typeface="Arial" pitchFamily="34" charset="-120"/>
              </a:rPr>
              <a:t>2층</a:t>
            </a:r>
            <a:endParaRPr lang="en-US" sz="1100" dirty="0"/>
          </a:p>
        </p:txBody>
      </p:sp>
      <p:sp>
        <p:nvSpPr>
          <p:cNvPr id="39" name="Text 37"/>
          <p:cNvSpPr/>
          <p:nvPr/>
        </p:nvSpPr>
        <p:spPr>
          <a:xfrm>
            <a:off x="7452360" y="2340864"/>
            <a:ext cx="1554480" cy="438912"/>
          </a:xfrm>
          <a:prstGeom prst="rect">
            <a:avLst/>
          </a:prstGeom>
          <a:noFill/>
          <a:ln/>
        </p:spPr>
        <p:txBody>
          <a:bodyPr wrap="square" lIns="0" tIns="0" rIns="0" bIns="0" rtlCol="0" anchor="ctr"/>
          <a:lstStyle/>
          <a:p>
            <a:pPr indent="0" marL="0">
              <a:buNone/>
            </a:pPr>
            <a:r>
              <a:rPr lang="en-US" sz="1150" b="1" dirty="0">
                <a:solidFill>
                  <a:srgbClr val="1F77B4"/>
                </a:solidFill>
                <a:latin typeface="Arial" pitchFamily="34" charset="0"/>
                <a:ea typeface="Arial" pitchFamily="34" charset="-122"/>
                <a:cs typeface="Arial" pitchFamily="34" charset="-120"/>
              </a:rPr>
              <a:t>질문 대상 ●</a:t>
            </a:r>
            <a:endParaRPr lang="en-US" sz="1150" dirty="0"/>
          </a:p>
        </p:txBody>
      </p:sp>
      <p:sp>
        <p:nvSpPr>
          <p:cNvPr id="40" name="Text 38"/>
          <p:cNvSpPr/>
          <p:nvPr/>
        </p:nvSpPr>
        <p:spPr>
          <a:xfrm>
            <a:off x="8961120" y="2340864"/>
            <a:ext cx="914400" cy="438912"/>
          </a:xfrm>
          <a:prstGeom prst="rect">
            <a:avLst/>
          </a:prstGeom>
          <a:noFill/>
          <a:ln/>
        </p:spPr>
        <p:txBody>
          <a:bodyPr wrap="square" lIns="0" tIns="0" rIns="0" bIns="0" rtlCol="0" anchor="ctr"/>
          <a:lstStyle/>
          <a:p>
            <a:pPr algn="ctr" indent="0" marL="0">
              <a:buNone/>
            </a:pPr>
            <a:r>
              <a:rPr lang="en-US" sz="1150" b="1" dirty="0">
                <a:solidFill>
                  <a:srgbClr val="D62728"/>
                </a:solidFill>
                <a:latin typeface="Arial" pitchFamily="34" charset="0"/>
                <a:ea typeface="Arial" pitchFamily="34" charset="-122"/>
                <a:cs typeface="Arial" pitchFamily="34" charset="-120"/>
              </a:rPr>
              <a:t>⇄ 섞임</a:t>
            </a:r>
            <a:endParaRPr lang="en-US" sz="1150" dirty="0"/>
          </a:p>
        </p:txBody>
      </p:sp>
      <p:sp>
        <p:nvSpPr>
          <p:cNvPr id="41" name="Text 39"/>
          <p:cNvSpPr/>
          <p:nvPr/>
        </p:nvSpPr>
        <p:spPr>
          <a:xfrm>
            <a:off x="9875520" y="2340864"/>
            <a:ext cx="1371600" cy="438912"/>
          </a:xfrm>
          <a:prstGeom prst="rect">
            <a:avLst/>
          </a:prstGeom>
          <a:noFill/>
          <a:ln/>
        </p:spPr>
        <p:txBody>
          <a:bodyPr wrap="square" lIns="0" tIns="0" rIns="0" bIns="0" rtlCol="0" anchor="ctr"/>
          <a:lstStyle/>
          <a:p>
            <a:pPr indent="0" marL="0">
              <a:buNone/>
            </a:pPr>
            <a:r>
              <a:rPr lang="en-US" sz="1050" b="1" dirty="0">
                <a:solidFill>
                  <a:srgbClr val="D62728"/>
                </a:solidFill>
                <a:latin typeface="Arial" pitchFamily="34" charset="0"/>
                <a:ea typeface="Arial" pitchFamily="34" charset="-122"/>
                <a:cs typeface="Arial" pitchFamily="34" charset="-120"/>
              </a:rPr>
              <a:t>방해 ●</a:t>
            </a:r>
            <a:endParaRPr lang="en-US" sz="1050" dirty="0"/>
          </a:p>
        </p:txBody>
      </p:sp>
      <p:sp>
        <p:nvSpPr>
          <p:cNvPr id="42" name="Shape 40"/>
          <p:cNvSpPr/>
          <p:nvPr/>
        </p:nvSpPr>
        <p:spPr>
          <a:xfrm>
            <a:off x="6583680" y="2871216"/>
            <a:ext cx="4663440" cy="438912"/>
          </a:xfrm>
          <a:prstGeom prst="roundRect">
            <a:avLst>
              <a:gd name="adj" fmla="val 12500"/>
            </a:avLst>
          </a:prstGeom>
          <a:solidFill>
            <a:srgbClr val="F3F4F6"/>
          </a:solidFill>
          <a:ln w="9525">
            <a:solidFill>
              <a:srgbClr val="D5DEE8"/>
            </a:solidFill>
            <a:prstDash val="solid"/>
          </a:ln>
        </p:spPr>
      </p:sp>
      <p:sp>
        <p:nvSpPr>
          <p:cNvPr id="43" name="Text 41"/>
          <p:cNvSpPr/>
          <p:nvPr/>
        </p:nvSpPr>
        <p:spPr>
          <a:xfrm>
            <a:off x="6693408" y="2871216"/>
            <a:ext cx="685800" cy="438912"/>
          </a:xfrm>
          <a:prstGeom prst="rect">
            <a:avLst/>
          </a:prstGeom>
          <a:noFill/>
          <a:ln/>
        </p:spPr>
        <p:txBody>
          <a:bodyPr wrap="square" lIns="0" tIns="0" rIns="0" bIns="0" rtlCol="0" anchor="ctr"/>
          <a:lstStyle/>
          <a:p>
            <a:pPr indent="0" marL="0">
              <a:buNone/>
            </a:pPr>
            <a:r>
              <a:rPr lang="en-US" sz="1100" b="1" dirty="0">
                <a:solidFill>
                  <a:srgbClr val="6B7280"/>
                </a:solidFill>
                <a:latin typeface="Arial" pitchFamily="34" charset="0"/>
                <a:ea typeface="Arial" pitchFamily="34" charset="-122"/>
                <a:cs typeface="Arial" pitchFamily="34" charset="-120"/>
              </a:rPr>
              <a:t>3층</a:t>
            </a:r>
            <a:endParaRPr lang="en-US" sz="1100" dirty="0"/>
          </a:p>
        </p:txBody>
      </p:sp>
      <p:sp>
        <p:nvSpPr>
          <p:cNvPr id="44" name="Text 42"/>
          <p:cNvSpPr/>
          <p:nvPr/>
        </p:nvSpPr>
        <p:spPr>
          <a:xfrm>
            <a:off x="7452360" y="2871216"/>
            <a:ext cx="1554480" cy="438912"/>
          </a:xfrm>
          <a:prstGeom prst="rect">
            <a:avLst/>
          </a:prstGeom>
          <a:noFill/>
          <a:ln/>
        </p:spPr>
        <p:txBody>
          <a:bodyPr wrap="square" lIns="0" tIns="0" rIns="0" bIns="0" rtlCol="0" anchor="ctr"/>
          <a:lstStyle/>
          <a:p>
            <a:pPr indent="0" marL="0">
              <a:buNone/>
            </a:pPr>
            <a:r>
              <a:rPr lang="en-US" sz="1150" b="1" dirty="0">
                <a:solidFill>
                  <a:srgbClr val="1F77B4"/>
                </a:solidFill>
                <a:latin typeface="Arial" pitchFamily="34" charset="0"/>
                <a:ea typeface="Arial" pitchFamily="34" charset="-122"/>
                <a:cs typeface="Arial" pitchFamily="34" charset="-120"/>
              </a:rPr>
              <a:t>질문 대상 ●</a:t>
            </a:r>
            <a:endParaRPr lang="en-US" sz="1150" dirty="0"/>
          </a:p>
        </p:txBody>
      </p:sp>
      <p:sp>
        <p:nvSpPr>
          <p:cNvPr id="45" name="Text 43"/>
          <p:cNvSpPr/>
          <p:nvPr/>
        </p:nvSpPr>
        <p:spPr>
          <a:xfrm>
            <a:off x="8961120" y="2871216"/>
            <a:ext cx="914400" cy="438912"/>
          </a:xfrm>
          <a:prstGeom prst="rect">
            <a:avLst/>
          </a:prstGeom>
          <a:noFill/>
          <a:ln/>
        </p:spPr>
        <p:txBody>
          <a:bodyPr wrap="square" lIns="0" tIns="0" rIns="0" bIns="0" rtlCol="0" anchor="ctr"/>
          <a:lstStyle/>
          <a:p>
            <a:pPr algn="ctr" indent="0" marL="0">
              <a:buNone/>
            </a:pPr>
            <a:r>
              <a:rPr lang="en-US" sz="1150" b="1" dirty="0">
                <a:solidFill>
                  <a:srgbClr val="2E8B57"/>
                </a:solidFill>
                <a:latin typeface="Arial" pitchFamily="34" charset="0"/>
                <a:ea typeface="Arial" pitchFamily="34" charset="-122"/>
                <a:cs typeface="Arial" pitchFamily="34" charset="-120"/>
              </a:rPr>
              <a:t>차단</a:t>
            </a:r>
            <a:endParaRPr lang="en-US" sz="1150" dirty="0"/>
          </a:p>
        </p:txBody>
      </p:sp>
      <p:sp>
        <p:nvSpPr>
          <p:cNvPr id="46" name="Text 44"/>
          <p:cNvSpPr/>
          <p:nvPr/>
        </p:nvSpPr>
        <p:spPr>
          <a:xfrm>
            <a:off x="9875520" y="2871216"/>
            <a:ext cx="1371600" cy="438912"/>
          </a:xfrm>
          <a:prstGeom prst="rect">
            <a:avLst/>
          </a:prstGeom>
          <a:noFill/>
          <a:ln/>
        </p:spPr>
        <p:txBody>
          <a:bodyPr wrap="square" lIns="0" tIns="0" rIns="0" bIns="0" rtlCol="0" anchor="ctr"/>
          <a:lstStyle/>
          <a:p>
            <a:pPr indent="0" marL="0">
              <a:buNone/>
            </a:pPr>
            <a:r>
              <a:rPr lang="en-US" sz="1050" b="1" dirty="0">
                <a:solidFill>
                  <a:srgbClr val="6B7280"/>
                </a:solidFill>
                <a:latin typeface="Arial" pitchFamily="34" charset="0"/>
                <a:ea typeface="Arial" pitchFamily="34" charset="-122"/>
                <a:cs typeface="Arial" pitchFamily="34" charset="-120"/>
              </a:rPr>
              <a:t>방해 ✕ (계산 생략)</a:t>
            </a:r>
            <a:endParaRPr lang="en-US" sz="1050" dirty="0"/>
          </a:p>
        </p:txBody>
      </p:sp>
      <p:sp>
        <p:nvSpPr>
          <p:cNvPr id="47" name="Shape 45"/>
          <p:cNvSpPr/>
          <p:nvPr/>
        </p:nvSpPr>
        <p:spPr>
          <a:xfrm>
            <a:off x="6583680" y="3401568"/>
            <a:ext cx="4663440" cy="438912"/>
          </a:xfrm>
          <a:prstGeom prst="roundRect">
            <a:avLst>
              <a:gd name="adj" fmla="val 12500"/>
            </a:avLst>
          </a:prstGeom>
          <a:solidFill>
            <a:srgbClr val="F3F4F6"/>
          </a:solidFill>
          <a:ln w="9525">
            <a:solidFill>
              <a:srgbClr val="D5DEE8"/>
            </a:solidFill>
            <a:prstDash val="solid"/>
          </a:ln>
        </p:spPr>
      </p:sp>
      <p:sp>
        <p:nvSpPr>
          <p:cNvPr id="48" name="Text 46"/>
          <p:cNvSpPr/>
          <p:nvPr/>
        </p:nvSpPr>
        <p:spPr>
          <a:xfrm>
            <a:off x="6693408" y="3401568"/>
            <a:ext cx="685800" cy="438912"/>
          </a:xfrm>
          <a:prstGeom prst="rect">
            <a:avLst/>
          </a:prstGeom>
          <a:noFill/>
          <a:ln/>
        </p:spPr>
        <p:txBody>
          <a:bodyPr wrap="square" lIns="0" tIns="0" rIns="0" bIns="0" rtlCol="0" anchor="ctr"/>
          <a:lstStyle/>
          <a:p>
            <a:pPr indent="0" marL="0">
              <a:buNone/>
            </a:pPr>
            <a:r>
              <a:rPr lang="en-US" sz="1100" b="1" dirty="0">
                <a:solidFill>
                  <a:srgbClr val="6B7280"/>
                </a:solidFill>
                <a:latin typeface="Arial" pitchFamily="34" charset="0"/>
                <a:ea typeface="Arial" pitchFamily="34" charset="-122"/>
                <a:cs typeface="Arial" pitchFamily="34" charset="-120"/>
              </a:rPr>
              <a:t>4층</a:t>
            </a:r>
            <a:endParaRPr lang="en-US" sz="1100" dirty="0"/>
          </a:p>
        </p:txBody>
      </p:sp>
      <p:sp>
        <p:nvSpPr>
          <p:cNvPr id="49" name="Text 47"/>
          <p:cNvSpPr/>
          <p:nvPr/>
        </p:nvSpPr>
        <p:spPr>
          <a:xfrm>
            <a:off x="7452360" y="3401568"/>
            <a:ext cx="1554480" cy="438912"/>
          </a:xfrm>
          <a:prstGeom prst="rect">
            <a:avLst/>
          </a:prstGeom>
          <a:noFill/>
          <a:ln/>
        </p:spPr>
        <p:txBody>
          <a:bodyPr wrap="square" lIns="0" tIns="0" rIns="0" bIns="0" rtlCol="0" anchor="ctr"/>
          <a:lstStyle/>
          <a:p>
            <a:pPr indent="0" marL="0">
              <a:buNone/>
            </a:pPr>
            <a:r>
              <a:rPr lang="en-US" sz="1150" b="1" dirty="0">
                <a:solidFill>
                  <a:srgbClr val="1F77B4"/>
                </a:solidFill>
                <a:latin typeface="Arial" pitchFamily="34" charset="0"/>
                <a:ea typeface="Arial" pitchFamily="34" charset="-122"/>
                <a:cs typeface="Arial" pitchFamily="34" charset="-120"/>
              </a:rPr>
              <a:t>질문 대상 ●</a:t>
            </a:r>
            <a:endParaRPr lang="en-US" sz="1150" dirty="0"/>
          </a:p>
        </p:txBody>
      </p:sp>
      <p:sp>
        <p:nvSpPr>
          <p:cNvPr id="50" name="Text 48"/>
          <p:cNvSpPr/>
          <p:nvPr/>
        </p:nvSpPr>
        <p:spPr>
          <a:xfrm>
            <a:off x="8961120" y="3401568"/>
            <a:ext cx="914400" cy="438912"/>
          </a:xfrm>
          <a:prstGeom prst="rect">
            <a:avLst/>
          </a:prstGeom>
          <a:noFill/>
          <a:ln/>
        </p:spPr>
        <p:txBody>
          <a:bodyPr wrap="square" lIns="0" tIns="0" rIns="0" bIns="0" rtlCol="0" anchor="ctr"/>
          <a:lstStyle/>
          <a:p>
            <a:pPr algn="ctr" indent="0" marL="0">
              <a:buNone/>
            </a:pPr>
            <a:r>
              <a:rPr lang="en-US" sz="1150" b="1" dirty="0">
                <a:solidFill>
                  <a:srgbClr val="2E8B57"/>
                </a:solidFill>
                <a:latin typeface="Arial" pitchFamily="34" charset="0"/>
                <a:ea typeface="Arial" pitchFamily="34" charset="-122"/>
                <a:cs typeface="Arial" pitchFamily="34" charset="-120"/>
              </a:rPr>
              <a:t>차단</a:t>
            </a:r>
            <a:endParaRPr lang="en-US" sz="1150" dirty="0"/>
          </a:p>
        </p:txBody>
      </p:sp>
      <p:sp>
        <p:nvSpPr>
          <p:cNvPr id="51" name="Text 49"/>
          <p:cNvSpPr/>
          <p:nvPr/>
        </p:nvSpPr>
        <p:spPr>
          <a:xfrm>
            <a:off x="9875520" y="3401568"/>
            <a:ext cx="1371600" cy="438912"/>
          </a:xfrm>
          <a:prstGeom prst="rect">
            <a:avLst/>
          </a:prstGeom>
          <a:noFill/>
          <a:ln/>
        </p:spPr>
        <p:txBody>
          <a:bodyPr wrap="square" lIns="0" tIns="0" rIns="0" bIns="0" rtlCol="0" anchor="ctr"/>
          <a:lstStyle/>
          <a:p>
            <a:pPr indent="0" marL="0">
              <a:buNone/>
            </a:pPr>
            <a:r>
              <a:rPr lang="en-US" sz="1050" b="1" dirty="0">
                <a:solidFill>
                  <a:srgbClr val="6B7280"/>
                </a:solidFill>
                <a:latin typeface="Arial" pitchFamily="34" charset="0"/>
                <a:ea typeface="Arial" pitchFamily="34" charset="-122"/>
                <a:cs typeface="Arial" pitchFamily="34" charset="-120"/>
              </a:rPr>
              <a:t>방해 ✕ (계산 생략)</a:t>
            </a:r>
            <a:endParaRPr lang="en-US" sz="1050" dirty="0"/>
          </a:p>
        </p:txBody>
      </p:sp>
      <p:sp>
        <p:nvSpPr>
          <p:cNvPr id="52" name="Shape 50"/>
          <p:cNvSpPr/>
          <p:nvPr/>
        </p:nvSpPr>
        <p:spPr>
          <a:xfrm>
            <a:off x="6583680" y="3931920"/>
            <a:ext cx="4663440" cy="438912"/>
          </a:xfrm>
          <a:prstGeom prst="roundRect">
            <a:avLst>
              <a:gd name="adj" fmla="val 12500"/>
            </a:avLst>
          </a:prstGeom>
          <a:solidFill>
            <a:srgbClr val="F3F4F6"/>
          </a:solidFill>
          <a:ln w="9525">
            <a:solidFill>
              <a:srgbClr val="D5DEE8"/>
            </a:solidFill>
            <a:prstDash val="solid"/>
          </a:ln>
        </p:spPr>
      </p:sp>
      <p:sp>
        <p:nvSpPr>
          <p:cNvPr id="53" name="Text 51"/>
          <p:cNvSpPr/>
          <p:nvPr/>
        </p:nvSpPr>
        <p:spPr>
          <a:xfrm>
            <a:off x="6693408" y="3931920"/>
            <a:ext cx="685800" cy="438912"/>
          </a:xfrm>
          <a:prstGeom prst="rect">
            <a:avLst/>
          </a:prstGeom>
          <a:noFill/>
          <a:ln/>
        </p:spPr>
        <p:txBody>
          <a:bodyPr wrap="square" lIns="0" tIns="0" rIns="0" bIns="0" rtlCol="0" anchor="ctr"/>
          <a:lstStyle/>
          <a:p>
            <a:pPr indent="0" marL="0">
              <a:buNone/>
            </a:pPr>
            <a:r>
              <a:rPr lang="en-US" sz="1100" b="1" dirty="0">
                <a:solidFill>
                  <a:srgbClr val="6B7280"/>
                </a:solidFill>
                <a:latin typeface="Arial" pitchFamily="34" charset="0"/>
                <a:ea typeface="Arial" pitchFamily="34" charset="-122"/>
                <a:cs typeface="Arial" pitchFamily="34" charset="-120"/>
              </a:rPr>
              <a:t>5층</a:t>
            </a:r>
            <a:endParaRPr lang="en-US" sz="1100" dirty="0"/>
          </a:p>
        </p:txBody>
      </p:sp>
      <p:sp>
        <p:nvSpPr>
          <p:cNvPr id="54" name="Text 52"/>
          <p:cNvSpPr/>
          <p:nvPr/>
        </p:nvSpPr>
        <p:spPr>
          <a:xfrm>
            <a:off x="7452360" y="3931920"/>
            <a:ext cx="1554480" cy="438912"/>
          </a:xfrm>
          <a:prstGeom prst="rect">
            <a:avLst/>
          </a:prstGeom>
          <a:noFill/>
          <a:ln/>
        </p:spPr>
        <p:txBody>
          <a:bodyPr wrap="square" lIns="0" tIns="0" rIns="0" bIns="0" rtlCol="0" anchor="ctr"/>
          <a:lstStyle/>
          <a:p>
            <a:pPr indent="0" marL="0">
              <a:buNone/>
            </a:pPr>
            <a:r>
              <a:rPr lang="en-US" sz="1150" b="1" dirty="0">
                <a:solidFill>
                  <a:srgbClr val="1F77B4"/>
                </a:solidFill>
                <a:latin typeface="Arial" pitchFamily="34" charset="0"/>
                <a:ea typeface="Arial" pitchFamily="34" charset="-122"/>
                <a:cs typeface="Arial" pitchFamily="34" charset="-120"/>
              </a:rPr>
              <a:t>질문 대상 ●</a:t>
            </a:r>
            <a:endParaRPr lang="en-US" sz="1150" dirty="0"/>
          </a:p>
        </p:txBody>
      </p:sp>
      <p:sp>
        <p:nvSpPr>
          <p:cNvPr id="55" name="Text 53"/>
          <p:cNvSpPr/>
          <p:nvPr/>
        </p:nvSpPr>
        <p:spPr>
          <a:xfrm>
            <a:off x="8961120" y="3931920"/>
            <a:ext cx="914400" cy="438912"/>
          </a:xfrm>
          <a:prstGeom prst="rect">
            <a:avLst/>
          </a:prstGeom>
          <a:noFill/>
          <a:ln/>
        </p:spPr>
        <p:txBody>
          <a:bodyPr wrap="square" lIns="0" tIns="0" rIns="0" bIns="0" rtlCol="0" anchor="ctr"/>
          <a:lstStyle/>
          <a:p>
            <a:pPr algn="ctr" indent="0" marL="0">
              <a:buNone/>
            </a:pPr>
            <a:r>
              <a:rPr lang="en-US" sz="1150" b="1" dirty="0">
                <a:solidFill>
                  <a:srgbClr val="2E8B57"/>
                </a:solidFill>
                <a:latin typeface="Arial" pitchFamily="34" charset="0"/>
                <a:ea typeface="Arial" pitchFamily="34" charset="-122"/>
                <a:cs typeface="Arial" pitchFamily="34" charset="-120"/>
              </a:rPr>
              <a:t>차단</a:t>
            </a:r>
            <a:endParaRPr lang="en-US" sz="1150" dirty="0"/>
          </a:p>
        </p:txBody>
      </p:sp>
      <p:sp>
        <p:nvSpPr>
          <p:cNvPr id="56" name="Text 54"/>
          <p:cNvSpPr/>
          <p:nvPr/>
        </p:nvSpPr>
        <p:spPr>
          <a:xfrm>
            <a:off x="9875520" y="3931920"/>
            <a:ext cx="1371600" cy="438912"/>
          </a:xfrm>
          <a:prstGeom prst="rect">
            <a:avLst/>
          </a:prstGeom>
          <a:noFill/>
          <a:ln/>
        </p:spPr>
        <p:txBody>
          <a:bodyPr wrap="square" lIns="0" tIns="0" rIns="0" bIns="0" rtlCol="0" anchor="ctr"/>
          <a:lstStyle/>
          <a:p>
            <a:pPr indent="0" marL="0">
              <a:buNone/>
            </a:pPr>
            <a:r>
              <a:rPr lang="en-US" sz="1050" b="1" dirty="0">
                <a:solidFill>
                  <a:srgbClr val="6B7280"/>
                </a:solidFill>
                <a:latin typeface="Arial" pitchFamily="34" charset="0"/>
                <a:ea typeface="Arial" pitchFamily="34" charset="-122"/>
                <a:cs typeface="Arial" pitchFamily="34" charset="-120"/>
              </a:rPr>
              <a:t>방해 ✕ (계산 생략)</a:t>
            </a:r>
            <a:endParaRPr lang="en-US" sz="1050" dirty="0"/>
          </a:p>
        </p:txBody>
      </p:sp>
      <p:sp>
        <p:nvSpPr>
          <p:cNvPr id="57" name="Text 55"/>
          <p:cNvSpPr/>
          <p:nvPr/>
        </p:nvSpPr>
        <p:spPr>
          <a:xfrm>
            <a:off x="6583680" y="4526280"/>
            <a:ext cx="4663440" cy="566928"/>
          </a:xfrm>
          <a:prstGeom prst="rect">
            <a:avLst/>
          </a:prstGeom>
          <a:noFill/>
          <a:ln/>
        </p:spPr>
        <p:txBody>
          <a:bodyPr wrap="square" lIns="0" tIns="0" rIns="0" bIns="0" rtlCol="0" anchor="ctr"/>
          <a:lstStyle/>
          <a:p>
            <a:pPr algn="ctr" indent="0" marL="0">
              <a:buNone/>
            </a:pPr>
            <a:r>
              <a:rPr lang="en-US" sz="1150" b="1" dirty="0">
                <a:solidFill>
                  <a:srgbClr val="2E8B57"/>
                </a:solidFill>
                <a:latin typeface="Arial" pitchFamily="34" charset="0"/>
                <a:ea typeface="Arial" pitchFamily="34" charset="-122"/>
                <a:cs typeface="Arial" pitchFamily="34" charset="-120"/>
              </a:rPr>
              <a:t>오염 통로를 닫고, 그 이미지의 남은 계산도 아낀다</a:t>
            </a:r>
            <a:endParaRPr lang="en-US" sz="1150" dirty="0"/>
          </a:p>
        </p:txBody>
      </p:sp>
      <p:sp>
        <p:nvSpPr>
          <p:cNvPr id="58" name="Shape 56"/>
          <p:cNvSpPr/>
          <p:nvPr/>
        </p:nvSpPr>
        <p:spPr>
          <a:xfrm>
            <a:off x="502920" y="5166360"/>
            <a:ext cx="11201400" cy="777240"/>
          </a:xfrm>
          <a:prstGeom prst="roundRect">
            <a:avLst>
              <a:gd name="adj" fmla="val 9412"/>
            </a:avLst>
          </a:prstGeom>
          <a:solidFill>
            <a:srgbClr val="EFF4F9"/>
          </a:solidFill>
          <a:ln w="12700">
            <a:solidFill>
              <a:srgbClr val="D5DEE8"/>
            </a:solidFill>
            <a:prstDash val="solid"/>
          </a:ln>
        </p:spPr>
      </p:sp>
      <p:sp>
        <p:nvSpPr>
          <p:cNvPr id="59" name="Text 57"/>
          <p:cNvSpPr/>
          <p:nvPr/>
        </p:nvSpPr>
        <p:spPr>
          <a:xfrm>
            <a:off x="777240" y="5166360"/>
            <a:ext cx="10698480" cy="777240"/>
          </a:xfrm>
          <a:prstGeom prst="rect">
            <a:avLst/>
          </a:prstGeom>
          <a:noFill/>
          <a:ln/>
        </p:spPr>
        <p:txBody>
          <a:bodyPr wrap="square" lIns="0" tIns="0" rIns="0" bIns="0" rtlCol="0" anchor="ctr"/>
          <a:lstStyle/>
          <a:p>
            <a:pPr indent="0" marL="0">
              <a:buNone/>
            </a:pPr>
            <a:r>
              <a:rPr lang="en-US" sz="1200" b="1" dirty="0">
                <a:solidFill>
                  <a:srgbClr val="1F3B57"/>
                </a:solidFill>
                <a:latin typeface="Arial" pitchFamily="34" charset="0"/>
                <a:ea typeface="Arial" pitchFamily="34" charset="-122"/>
                <a:cs typeface="Arial" pitchFamily="34" charset="-120"/>
              </a:rPr>
              <a:t>차단된 층에서는 그 이미지를 전혀 참조할 수 없습니다 (근사 억제가 아님).  </a:t>
            </a:r>
            <a:pPr indent="0" marL="0">
              <a:buNone/>
            </a:pPr>
            <a:r>
              <a:rPr lang="en-US" sz="1200" dirty="0">
                <a:solidFill>
                  <a:srgbClr val="6B7280"/>
                </a:solidFill>
                <a:latin typeface="Arial" pitchFamily="34" charset="0"/>
                <a:ea typeface="Arial" pitchFamily="34" charset="-122"/>
                <a:cs typeface="Arial" pitchFamily="34" charset="-120"/>
              </a:rPr>
              <a:t>L 이전에 새어나간 정보는 막지 못합니다 (실측 잔여분: 오답의 19% 이하).</a:t>
            </a:r>
            <a:endParaRPr lang="en-US" sz="1200" dirty="0"/>
          </a:p>
        </p:txBody>
      </p:sp>
      <p:sp>
        <p:nvSpPr>
          <p:cNvPr id="60" name="Shape 58"/>
          <p:cNvSpPr/>
          <p:nvPr/>
        </p:nvSpPr>
        <p:spPr>
          <a:xfrm>
            <a:off x="502920" y="6053328"/>
            <a:ext cx="11201400" cy="566928"/>
          </a:xfrm>
          <a:prstGeom prst="roundRect">
            <a:avLst>
              <a:gd name="adj" fmla="val 12903"/>
            </a:avLst>
          </a:prstGeom>
          <a:solidFill>
            <a:srgbClr val="1F3B57"/>
          </a:solidFill>
          <a:ln/>
        </p:spPr>
      </p:sp>
      <p:sp>
        <p:nvSpPr>
          <p:cNvPr id="61" name="Text 59"/>
          <p:cNvSpPr/>
          <p:nvPr/>
        </p:nvSpPr>
        <p:spPr>
          <a:xfrm>
            <a:off x="777240" y="6053328"/>
            <a:ext cx="10744200" cy="56692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 가설: 무관한 이미지는 얕게, 필요한 이미지는 깊게 — "이미지별로 다른 깊이"가 정확도와 효율을 동시에 잡는다</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37744"/>
            <a:ext cx="9601200" cy="292608"/>
          </a:xfrm>
          <a:prstGeom prst="rect">
            <a:avLst/>
          </a:prstGeom>
          <a:noFill/>
          <a:ln/>
        </p:spPr>
        <p:txBody>
          <a:bodyPr wrap="square" lIns="0" tIns="0" rIns="0" bIns="0" rtlCol="0" anchor="ctr"/>
          <a:lstStyle/>
          <a:p>
            <a:pPr indent="0" marL="0">
              <a:buNone/>
            </a:pPr>
            <a:r>
              <a:rPr lang="en-US" sz="1150" b="1" spc="100" kern="0" dirty="0">
                <a:solidFill>
                  <a:srgbClr val="1F77B4"/>
                </a:solidFill>
                <a:latin typeface="Arial" pitchFamily="34" charset="0"/>
                <a:ea typeface="Arial" pitchFamily="34" charset="-122"/>
                <a:cs typeface="Arial" pitchFamily="34" charset="-120"/>
              </a:rPr>
              <a:t>검증 방법 — 실험을 어떻게 짰는가</a:t>
            </a:r>
            <a:endParaRPr lang="en-US" sz="1150" dirty="0"/>
          </a:p>
        </p:txBody>
      </p:sp>
      <p:sp>
        <p:nvSpPr>
          <p:cNvPr id="3" name="Text 1"/>
          <p:cNvSpPr/>
          <p:nvPr/>
        </p:nvSpPr>
        <p:spPr>
          <a:xfrm>
            <a:off x="502920" y="512064"/>
            <a:ext cx="11155680" cy="731520"/>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오염이 '생길 수밖에 없는' 문항과 '안 생기는' 문항을 나란히 놓고 비교했다</a:t>
            </a:r>
            <a:endParaRPr lang="en-US" sz="2200" dirty="0"/>
          </a:p>
        </p:txBody>
      </p:sp>
      <p:sp>
        <p:nvSpPr>
          <p:cNvPr id="4" name="Shape 2"/>
          <p:cNvSpPr/>
          <p:nvPr/>
        </p:nvSpPr>
        <p:spPr>
          <a:xfrm>
            <a:off x="502920" y="1572768"/>
            <a:ext cx="502920" cy="502920"/>
          </a:xfrm>
          <a:prstGeom prst="ellipse">
            <a:avLst/>
          </a:prstGeom>
          <a:solidFill>
            <a:srgbClr val="1F3B57"/>
          </a:solidFill>
          <a:ln/>
        </p:spPr>
      </p:sp>
      <p:sp>
        <p:nvSpPr>
          <p:cNvPr id="5" name="Text 3"/>
          <p:cNvSpPr/>
          <p:nvPr/>
        </p:nvSpPr>
        <p:spPr>
          <a:xfrm>
            <a:off x="502920" y="157276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①</a:t>
            </a:r>
            <a:endParaRPr lang="en-US" sz="1500" dirty="0"/>
          </a:p>
        </p:txBody>
      </p:sp>
      <p:sp>
        <p:nvSpPr>
          <p:cNvPr id="6" name="Text 4"/>
          <p:cNvSpPr/>
          <p:nvPr/>
        </p:nvSpPr>
        <p:spPr>
          <a:xfrm>
            <a:off x="1188720" y="1554480"/>
            <a:ext cx="4846320" cy="347472"/>
          </a:xfrm>
          <a:prstGeom prst="rect">
            <a:avLst/>
          </a:prstGeom>
          <a:noFill/>
          <a:ln/>
        </p:spPr>
        <p:txBody>
          <a:bodyPr wrap="square" lIns="0" tIns="0" rIns="0" bIns="0" rtlCol="0" anchor="ctr"/>
          <a:lstStyle/>
          <a:p>
            <a:pPr indent="0" marL="0">
              <a:buNone/>
            </a:pPr>
            <a:r>
              <a:rPr lang="en-US" sz="1350" b="1" dirty="0">
                <a:solidFill>
                  <a:srgbClr val="1F3B57"/>
                </a:solidFill>
                <a:latin typeface="Arial" pitchFamily="34" charset="0"/>
                <a:ea typeface="Arial" pitchFamily="34" charset="-122"/>
                <a:cs typeface="Arial" pitchFamily="34" charset="-120"/>
              </a:rPr>
              <a:t>이렇게 묻습니다</a:t>
            </a:r>
            <a:endParaRPr lang="en-US" sz="1350" dirty="0"/>
          </a:p>
        </p:txBody>
      </p:sp>
      <p:sp>
        <p:nvSpPr>
          <p:cNvPr id="7" name="Text 5"/>
          <p:cNvSpPr/>
          <p:nvPr/>
        </p:nvSpPr>
        <p:spPr>
          <a:xfrm>
            <a:off x="1188720" y="1920240"/>
            <a:ext cx="4846320" cy="822960"/>
          </a:xfrm>
          <a:prstGeom prst="rect">
            <a:avLst/>
          </a:prstGeom>
          <a:noFill/>
          <a:ln/>
        </p:spPr>
        <p:txBody>
          <a:bodyPr wrap="square" lIns="0" tIns="0" rIns="0" bIns="0" rtlCol="0" anchor="ctr"/>
          <a:lstStyle/>
          <a:p>
            <a:pPr indent="0" marL="0">
              <a:lnSpc>
                <a:spcPct val="115000"/>
              </a:lnSpc>
              <a:buNone/>
            </a:pPr>
            <a:r>
              <a:rPr lang="en-US" sz="1150" dirty="0">
                <a:solidFill>
                  <a:srgbClr val="6B7280"/>
                </a:solidFill>
                <a:latin typeface="Arial" pitchFamily="34" charset="0"/>
                <a:ea typeface="Arial" pitchFamily="34" charset="-122"/>
                <a:cs typeface="Arial" pitchFamily="34" charset="-120"/>
              </a:rPr>
              <a:t>"첫 번째 이미지에 ○○이 있나요?" (예/아니오)</a:t>
            </a:r>
            <a:endParaRPr lang="en-US" sz="1150" dirty="0"/>
          </a:p>
          <a:p>
            <a:pPr indent="0" marL="0">
              <a:lnSpc>
                <a:spcPct val="115000"/>
              </a:lnSpc>
              <a:buNone/>
            </a:pPr>
            <a:r>
              <a:rPr lang="en-US" sz="1150" dirty="0">
                <a:solidFill>
                  <a:srgbClr val="6B7280"/>
                </a:solidFill>
                <a:latin typeface="Arial" pitchFamily="34" charset="0"/>
                <a:ea typeface="Arial" pitchFamily="34" charset="-122"/>
                <a:cs typeface="Arial" pitchFamily="34" charset="-120"/>
              </a:rPr>
              <a:t>COCO 사진 + 공인 검증 문제(POPE) 600문항</a:t>
            </a:r>
            <a:endParaRPr lang="en-US" sz="1150" dirty="0"/>
          </a:p>
        </p:txBody>
      </p:sp>
      <p:sp>
        <p:nvSpPr>
          <p:cNvPr id="8" name="Shape 6"/>
          <p:cNvSpPr/>
          <p:nvPr/>
        </p:nvSpPr>
        <p:spPr>
          <a:xfrm>
            <a:off x="502920" y="2816352"/>
            <a:ext cx="502920" cy="502920"/>
          </a:xfrm>
          <a:prstGeom prst="ellipse">
            <a:avLst/>
          </a:prstGeom>
          <a:solidFill>
            <a:srgbClr val="1F3B57"/>
          </a:solidFill>
          <a:ln/>
        </p:spPr>
      </p:sp>
      <p:sp>
        <p:nvSpPr>
          <p:cNvPr id="9" name="Text 7"/>
          <p:cNvSpPr/>
          <p:nvPr/>
        </p:nvSpPr>
        <p:spPr>
          <a:xfrm>
            <a:off x="502920" y="281635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②</a:t>
            </a:r>
            <a:endParaRPr lang="en-US" sz="1500" dirty="0"/>
          </a:p>
        </p:txBody>
      </p:sp>
      <p:sp>
        <p:nvSpPr>
          <p:cNvPr id="10" name="Text 8"/>
          <p:cNvSpPr/>
          <p:nvPr/>
        </p:nvSpPr>
        <p:spPr>
          <a:xfrm>
            <a:off x="1188720" y="2798064"/>
            <a:ext cx="4846320" cy="347472"/>
          </a:xfrm>
          <a:prstGeom prst="rect">
            <a:avLst/>
          </a:prstGeom>
          <a:noFill/>
          <a:ln/>
        </p:spPr>
        <p:txBody>
          <a:bodyPr wrap="square" lIns="0" tIns="0" rIns="0" bIns="0" rtlCol="0" anchor="ctr"/>
          <a:lstStyle/>
          <a:p>
            <a:pPr indent="0" marL="0">
              <a:buNone/>
            </a:pPr>
            <a:r>
              <a:rPr lang="en-US" sz="1350" b="1" dirty="0">
                <a:solidFill>
                  <a:srgbClr val="1F3B57"/>
                </a:solidFill>
                <a:latin typeface="Arial" pitchFamily="34" charset="0"/>
                <a:ea typeface="Arial" pitchFamily="34" charset="-122"/>
                <a:cs typeface="Arial" pitchFamily="34" charset="-120"/>
              </a:rPr>
              <a:t>오염을 '유발'하는 조건</a:t>
            </a:r>
            <a:endParaRPr lang="en-US" sz="1350" dirty="0"/>
          </a:p>
        </p:txBody>
      </p:sp>
      <p:sp>
        <p:nvSpPr>
          <p:cNvPr id="11" name="Text 9"/>
          <p:cNvSpPr/>
          <p:nvPr/>
        </p:nvSpPr>
        <p:spPr>
          <a:xfrm>
            <a:off x="1188720" y="3163824"/>
            <a:ext cx="4846320" cy="822960"/>
          </a:xfrm>
          <a:prstGeom prst="rect">
            <a:avLst/>
          </a:prstGeom>
          <a:noFill/>
          <a:ln/>
        </p:spPr>
        <p:txBody>
          <a:bodyPr wrap="square" lIns="0" tIns="0" rIns="0" bIns="0" rtlCol="0" anchor="ctr"/>
          <a:lstStyle/>
          <a:p>
            <a:pPr indent="0" marL="0">
              <a:lnSpc>
                <a:spcPct val="115000"/>
              </a:lnSpc>
              <a:buNone/>
            </a:pPr>
            <a:r>
              <a:rPr lang="en-US" sz="1150" dirty="0">
                <a:solidFill>
                  <a:srgbClr val="6B7280"/>
                </a:solidFill>
                <a:latin typeface="Arial" pitchFamily="34" charset="0"/>
                <a:ea typeface="Arial" pitchFamily="34" charset="-122"/>
                <a:cs typeface="Arial" pitchFamily="34" charset="-120"/>
              </a:rPr>
              <a:t>방해 이미지에 바로 그 ○○이 들어있는 문항</a:t>
            </a:r>
            <a:endParaRPr lang="en-US" sz="1150" dirty="0"/>
          </a:p>
          <a:p>
            <a:pPr indent="0" marL="0">
              <a:lnSpc>
                <a:spcPct val="115000"/>
              </a:lnSpc>
              <a:buNone/>
            </a:pPr>
            <a:r>
              <a:rPr lang="en-US" sz="1150" dirty="0">
                <a:solidFill>
                  <a:srgbClr val="6B7280"/>
                </a:solidFill>
                <a:latin typeface="Arial" pitchFamily="34" charset="0"/>
                <a:ea typeface="Arial" pitchFamily="34" charset="-122"/>
                <a:cs typeface="Arial" pitchFamily="34" charset="-120"/>
              </a:rPr>
              <a:t>— 모델이 헷갈릴 재료를 일부러 제공</a:t>
            </a:r>
            <a:endParaRPr lang="en-US" sz="1150" dirty="0"/>
          </a:p>
        </p:txBody>
      </p:sp>
      <p:sp>
        <p:nvSpPr>
          <p:cNvPr id="12" name="Shape 10"/>
          <p:cNvSpPr/>
          <p:nvPr/>
        </p:nvSpPr>
        <p:spPr>
          <a:xfrm>
            <a:off x="502920" y="4059936"/>
            <a:ext cx="502920" cy="502920"/>
          </a:xfrm>
          <a:prstGeom prst="ellipse">
            <a:avLst/>
          </a:prstGeom>
          <a:solidFill>
            <a:srgbClr val="1F3B57"/>
          </a:solidFill>
          <a:ln/>
        </p:spPr>
      </p:sp>
      <p:sp>
        <p:nvSpPr>
          <p:cNvPr id="13" name="Text 11"/>
          <p:cNvSpPr/>
          <p:nvPr/>
        </p:nvSpPr>
        <p:spPr>
          <a:xfrm>
            <a:off x="502920" y="4059936"/>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③</a:t>
            </a:r>
            <a:endParaRPr lang="en-US" sz="1500" dirty="0"/>
          </a:p>
        </p:txBody>
      </p:sp>
      <p:sp>
        <p:nvSpPr>
          <p:cNvPr id="14" name="Text 12"/>
          <p:cNvSpPr/>
          <p:nvPr/>
        </p:nvSpPr>
        <p:spPr>
          <a:xfrm>
            <a:off x="1188720" y="4041648"/>
            <a:ext cx="4846320" cy="347472"/>
          </a:xfrm>
          <a:prstGeom prst="rect">
            <a:avLst/>
          </a:prstGeom>
          <a:noFill/>
          <a:ln/>
        </p:spPr>
        <p:txBody>
          <a:bodyPr wrap="square" lIns="0" tIns="0" rIns="0" bIns="0" rtlCol="0" anchor="ctr"/>
          <a:lstStyle/>
          <a:p>
            <a:pPr indent="0" marL="0">
              <a:buNone/>
            </a:pPr>
            <a:r>
              <a:rPr lang="en-US" sz="1350" b="1" dirty="0">
                <a:solidFill>
                  <a:srgbClr val="1F3B57"/>
                </a:solidFill>
                <a:latin typeface="Arial" pitchFamily="34" charset="0"/>
                <a:ea typeface="Arial" pitchFamily="34" charset="-122"/>
                <a:cs typeface="Arial" pitchFamily="34" charset="-120"/>
              </a:rPr>
              <a:t>대조군</a:t>
            </a:r>
            <a:endParaRPr lang="en-US" sz="1350" dirty="0"/>
          </a:p>
        </p:txBody>
      </p:sp>
      <p:sp>
        <p:nvSpPr>
          <p:cNvPr id="15" name="Text 13"/>
          <p:cNvSpPr/>
          <p:nvPr/>
        </p:nvSpPr>
        <p:spPr>
          <a:xfrm>
            <a:off x="1188720" y="4407408"/>
            <a:ext cx="4846320" cy="822960"/>
          </a:xfrm>
          <a:prstGeom prst="rect">
            <a:avLst/>
          </a:prstGeom>
          <a:noFill/>
          <a:ln/>
        </p:spPr>
        <p:txBody>
          <a:bodyPr wrap="square" lIns="0" tIns="0" rIns="0" bIns="0" rtlCol="0" anchor="ctr"/>
          <a:lstStyle/>
          <a:p>
            <a:pPr indent="0" marL="0">
              <a:lnSpc>
                <a:spcPct val="115000"/>
              </a:lnSpc>
              <a:buNone/>
            </a:pPr>
            <a:r>
              <a:rPr lang="en-US" sz="1150" dirty="0">
                <a:solidFill>
                  <a:srgbClr val="6B7280"/>
                </a:solidFill>
                <a:latin typeface="Arial" pitchFamily="34" charset="0"/>
                <a:ea typeface="Arial" pitchFamily="34" charset="-122"/>
                <a:cs typeface="Arial" pitchFamily="34" charset="-120"/>
              </a:rPr>
              <a:t>방해 이미지에 ○○이 없는 문항</a:t>
            </a:r>
            <a:endParaRPr lang="en-US" sz="1150" dirty="0"/>
          </a:p>
          <a:p>
            <a:pPr indent="0" marL="0">
              <a:lnSpc>
                <a:spcPct val="115000"/>
              </a:lnSpc>
              <a:buNone/>
            </a:pPr>
            <a:r>
              <a:rPr lang="en-US" sz="1150" dirty="0">
                <a:solidFill>
                  <a:srgbClr val="6B7280"/>
                </a:solidFill>
                <a:latin typeface="Arial" pitchFamily="34" charset="0"/>
                <a:ea typeface="Arial" pitchFamily="34" charset="-122"/>
                <a:cs typeface="Arial" pitchFamily="34" charset="-120"/>
              </a:rPr>
              <a:t>— 여기서도 답이 뒤집히면 오염이 아닌 다른 원인</a:t>
            </a:r>
            <a:endParaRPr lang="en-US" sz="1150" dirty="0"/>
          </a:p>
        </p:txBody>
      </p:sp>
      <p:sp>
        <p:nvSpPr>
          <p:cNvPr id="16" name="Text 14"/>
          <p:cNvSpPr/>
          <p:nvPr/>
        </p:nvSpPr>
        <p:spPr>
          <a:xfrm>
            <a:off x="6400800" y="1572768"/>
            <a:ext cx="5303520" cy="347472"/>
          </a:xfrm>
          <a:prstGeom prst="rect">
            <a:avLst/>
          </a:prstGeom>
          <a:noFill/>
          <a:ln/>
        </p:spPr>
        <p:txBody>
          <a:bodyPr wrap="square" lIns="0" tIns="0" rIns="0" bIns="0" rtlCol="0" anchor="ctr"/>
          <a:lstStyle/>
          <a:p>
            <a:pPr indent="0" marL="0">
              <a:buNone/>
            </a:pPr>
            <a:r>
              <a:rPr lang="en-US" sz="1350" b="1" dirty="0">
                <a:solidFill>
                  <a:srgbClr val="1F3B57"/>
                </a:solidFill>
                <a:latin typeface="Arial" pitchFamily="34" charset="0"/>
                <a:ea typeface="Arial" pitchFamily="34" charset="-122"/>
                <a:cs typeface="Arial" pitchFamily="34" charset="-120"/>
              </a:rPr>
              <a:t>그리고 문항마다 '차단 깊이'를 바꿔가며 10번씩 측정</a:t>
            </a:r>
            <a:endParaRPr lang="en-US" sz="1350" dirty="0"/>
          </a:p>
        </p:txBody>
      </p:sp>
      <p:sp>
        <p:nvSpPr>
          <p:cNvPr id="17" name="Shape 15"/>
          <p:cNvSpPr/>
          <p:nvPr/>
        </p:nvSpPr>
        <p:spPr>
          <a:xfrm>
            <a:off x="6400800" y="2011680"/>
            <a:ext cx="5303520" cy="731520"/>
          </a:xfrm>
          <a:prstGeom prst="roundRect">
            <a:avLst>
              <a:gd name="adj" fmla="val 10000"/>
            </a:avLst>
          </a:prstGeom>
          <a:solidFill>
            <a:srgbClr val="EFF4F9"/>
          </a:solidFill>
          <a:ln w="12700">
            <a:solidFill>
              <a:srgbClr val="6B7280"/>
            </a:solidFill>
            <a:prstDash val="solid"/>
          </a:ln>
        </p:spPr>
      </p:sp>
      <p:sp>
        <p:nvSpPr>
          <p:cNvPr id="18" name="Text 16"/>
          <p:cNvSpPr/>
          <p:nvPr/>
        </p:nvSpPr>
        <p:spPr>
          <a:xfrm>
            <a:off x="6629400" y="2011680"/>
            <a:ext cx="4892040" cy="731520"/>
          </a:xfrm>
          <a:prstGeom prst="rect">
            <a:avLst/>
          </a:prstGeom>
          <a:noFill/>
          <a:ln/>
        </p:spPr>
        <p:txBody>
          <a:bodyPr wrap="square" lIns="0" tIns="0" rIns="0" bIns="0" rtlCol="0" anchor="ctr"/>
          <a:lstStyle/>
          <a:p>
            <a:pPr indent="0" marL="0">
              <a:buNone/>
            </a:pPr>
            <a:r>
              <a:rPr lang="en-US" sz="1250" b="1" dirty="0">
                <a:solidFill>
                  <a:srgbClr val="1F3B57"/>
                </a:solidFill>
                <a:latin typeface="Arial" pitchFamily="34" charset="0"/>
                <a:ea typeface="Arial" pitchFamily="34" charset="-122"/>
                <a:cs typeface="Arial" pitchFamily="34" charset="-120"/>
              </a:rPr>
              <a:t>차단 없음   </a:t>
            </a:r>
            <a:pPr indent="0" marL="0">
              <a:buNone/>
            </a:pPr>
            <a:r>
              <a:rPr lang="en-US" sz="1100" dirty="0">
                <a:solidFill>
                  <a:srgbClr val="6B7280"/>
                </a:solidFill>
                <a:latin typeface="Arial" pitchFamily="34" charset="0"/>
                <a:ea typeface="Arial" pitchFamily="34" charset="-122"/>
                <a:cs typeface="Arial" pitchFamily="34" charset="-120"/>
              </a:rPr>
              <a:t>기준선 — 지금의 모델 그대로</a:t>
            </a:r>
            <a:endParaRPr lang="en-US" sz="1250" dirty="0"/>
          </a:p>
        </p:txBody>
      </p:sp>
      <p:sp>
        <p:nvSpPr>
          <p:cNvPr id="19" name="Shape 17"/>
          <p:cNvSpPr/>
          <p:nvPr/>
        </p:nvSpPr>
        <p:spPr>
          <a:xfrm>
            <a:off x="6400800" y="2852928"/>
            <a:ext cx="5303520" cy="731520"/>
          </a:xfrm>
          <a:prstGeom prst="roundRect">
            <a:avLst>
              <a:gd name="adj" fmla="val 10000"/>
            </a:avLst>
          </a:prstGeom>
          <a:solidFill>
            <a:srgbClr val="EFF4F9"/>
          </a:solidFill>
          <a:ln w="12700">
            <a:solidFill>
              <a:srgbClr val="1F77B4"/>
            </a:solidFill>
            <a:prstDash val="solid"/>
          </a:ln>
        </p:spPr>
      </p:sp>
      <p:sp>
        <p:nvSpPr>
          <p:cNvPr id="20" name="Text 18"/>
          <p:cNvSpPr/>
          <p:nvPr/>
        </p:nvSpPr>
        <p:spPr>
          <a:xfrm>
            <a:off x="6629400" y="2852928"/>
            <a:ext cx="4892040" cy="731520"/>
          </a:xfrm>
          <a:prstGeom prst="rect">
            <a:avLst/>
          </a:prstGeom>
          <a:noFill/>
          <a:ln/>
        </p:spPr>
        <p:txBody>
          <a:bodyPr wrap="square" lIns="0" tIns="0" rIns="0" bIns="0" rtlCol="0" anchor="ctr"/>
          <a:lstStyle/>
          <a:p>
            <a:pPr indent="0" marL="0">
              <a:buNone/>
            </a:pPr>
            <a:r>
              <a:rPr lang="en-US" sz="1250" b="1" dirty="0">
                <a:solidFill>
                  <a:srgbClr val="1F3B57"/>
                </a:solidFill>
                <a:latin typeface="Arial" pitchFamily="34" charset="0"/>
                <a:ea typeface="Arial" pitchFamily="34" charset="-122"/>
                <a:cs typeface="Arial" pitchFamily="34" charset="-120"/>
              </a:rPr>
              <a:t>4층부터 ~ 24층부터   </a:t>
            </a:r>
            <a:pPr indent="0" marL="0">
              <a:buNone/>
            </a:pPr>
            <a:r>
              <a:rPr lang="en-US" sz="1100" dirty="0">
                <a:solidFill>
                  <a:srgbClr val="6B7280"/>
                </a:solidFill>
                <a:latin typeface="Arial" pitchFamily="34" charset="0"/>
                <a:ea typeface="Arial" pitchFamily="34" charset="-122"/>
                <a:cs typeface="Arial" pitchFamily="34" charset="-120"/>
              </a:rPr>
              <a:t>차단 시작 층을 6단계로 변화</a:t>
            </a:r>
            <a:endParaRPr lang="en-US" sz="1250" dirty="0"/>
          </a:p>
        </p:txBody>
      </p:sp>
      <p:sp>
        <p:nvSpPr>
          <p:cNvPr id="21" name="Shape 19"/>
          <p:cNvSpPr/>
          <p:nvPr/>
        </p:nvSpPr>
        <p:spPr>
          <a:xfrm>
            <a:off x="6400800" y="3694176"/>
            <a:ext cx="5303520" cy="731520"/>
          </a:xfrm>
          <a:prstGeom prst="roundRect">
            <a:avLst>
              <a:gd name="adj" fmla="val 10000"/>
            </a:avLst>
          </a:prstGeom>
          <a:solidFill>
            <a:srgbClr val="EFF4F9"/>
          </a:solidFill>
          <a:ln w="12700">
            <a:solidFill>
              <a:srgbClr val="1F77B4"/>
            </a:solidFill>
            <a:prstDash val="solid"/>
          </a:ln>
        </p:spPr>
      </p:sp>
      <p:sp>
        <p:nvSpPr>
          <p:cNvPr id="22" name="Text 20"/>
          <p:cNvSpPr/>
          <p:nvPr/>
        </p:nvSpPr>
        <p:spPr>
          <a:xfrm>
            <a:off x="6629400" y="3694176"/>
            <a:ext cx="4892040" cy="731520"/>
          </a:xfrm>
          <a:prstGeom prst="rect">
            <a:avLst/>
          </a:prstGeom>
          <a:noFill/>
          <a:ln/>
        </p:spPr>
        <p:txBody>
          <a:bodyPr wrap="square" lIns="0" tIns="0" rIns="0" bIns="0" rtlCol="0" anchor="ctr"/>
          <a:lstStyle/>
          <a:p>
            <a:pPr indent="0" marL="0">
              <a:buNone/>
            </a:pPr>
            <a:r>
              <a:rPr lang="en-US" sz="1250" b="1" dirty="0">
                <a:solidFill>
                  <a:srgbClr val="1F3B57"/>
                </a:solidFill>
                <a:latin typeface="Arial" pitchFamily="34" charset="0"/>
                <a:ea typeface="Arial" pitchFamily="34" charset="-122"/>
                <a:cs typeface="Arial" pitchFamily="34" charset="-120"/>
              </a:rPr>
              <a:t>처음부터 완전 차단   </a:t>
            </a:r>
            <a:pPr indent="0" marL="0">
              <a:buNone/>
            </a:pPr>
            <a:r>
              <a:rPr lang="en-US" sz="1100" dirty="0">
                <a:solidFill>
                  <a:srgbClr val="6B7280"/>
                </a:solidFill>
                <a:latin typeface="Arial" pitchFamily="34" charset="0"/>
                <a:ea typeface="Arial" pitchFamily="34" charset="-122"/>
                <a:cs typeface="Arial" pitchFamily="34" charset="-120"/>
              </a:rPr>
              <a:t>이미지를 아예 안 준 것과 비교하는 상한</a:t>
            </a:r>
            <a:endParaRPr lang="en-US" sz="1250" dirty="0"/>
          </a:p>
        </p:txBody>
      </p:sp>
      <p:sp>
        <p:nvSpPr>
          <p:cNvPr id="23" name="Shape 21"/>
          <p:cNvSpPr/>
          <p:nvPr/>
        </p:nvSpPr>
        <p:spPr>
          <a:xfrm>
            <a:off x="6400800" y="4535424"/>
            <a:ext cx="5303520" cy="731520"/>
          </a:xfrm>
          <a:prstGeom prst="roundRect">
            <a:avLst>
              <a:gd name="adj" fmla="val 10000"/>
            </a:avLst>
          </a:prstGeom>
          <a:solidFill>
            <a:srgbClr val="FDF3E3"/>
          </a:solidFill>
          <a:ln w="12700">
            <a:solidFill>
              <a:srgbClr val="E8890C"/>
            </a:solidFill>
            <a:prstDash val="solid"/>
          </a:ln>
        </p:spPr>
      </p:sp>
      <p:sp>
        <p:nvSpPr>
          <p:cNvPr id="24" name="Text 22"/>
          <p:cNvSpPr/>
          <p:nvPr/>
        </p:nvSpPr>
        <p:spPr>
          <a:xfrm>
            <a:off x="6629400" y="4535424"/>
            <a:ext cx="4892040" cy="731520"/>
          </a:xfrm>
          <a:prstGeom prst="rect">
            <a:avLst/>
          </a:prstGeom>
          <a:noFill/>
          <a:ln/>
        </p:spPr>
        <p:txBody>
          <a:bodyPr wrap="square" lIns="0" tIns="0" rIns="0" bIns="0" rtlCol="0" anchor="ctr"/>
          <a:lstStyle/>
          <a:p>
            <a:pPr indent="0" marL="0">
              <a:buNone/>
            </a:pPr>
            <a:r>
              <a:rPr lang="en-US" sz="1250" b="1" dirty="0">
                <a:solidFill>
                  <a:srgbClr val="1F3B57"/>
                </a:solidFill>
                <a:latin typeface="Arial" pitchFamily="34" charset="0"/>
                <a:ea typeface="Arial" pitchFamily="34" charset="-122"/>
                <a:cs typeface="Arial" pitchFamily="34" charset="-120"/>
              </a:rPr>
              <a:t>반대로 '질문 대상'을 차단   </a:t>
            </a:r>
            <a:pPr indent="0" marL="0">
              <a:buNone/>
            </a:pPr>
            <a:r>
              <a:rPr lang="en-US" sz="1100" dirty="0">
                <a:solidFill>
                  <a:srgbClr val="6B7280"/>
                </a:solidFill>
                <a:latin typeface="Arial" pitchFamily="34" charset="0"/>
                <a:ea typeface="Arial" pitchFamily="34" charset="-122"/>
                <a:cs typeface="Arial" pitchFamily="34" charset="-120"/>
              </a:rPr>
              <a:t>검증용 — 이게 무너지지 않으면 가짜</a:t>
            </a:r>
            <a:endParaRPr lang="en-US" sz="1250" dirty="0"/>
          </a:p>
        </p:txBody>
      </p:sp>
      <p:sp>
        <p:nvSpPr>
          <p:cNvPr id="25" name="Text 23"/>
          <p:cNvSpPr/>
          <p:nvPr/>
        </p:nvSpPr>
        <p:spPr>
          <a:xfrm>
            <a:off x="502920" y="5486400"/>
            <a:ext cx="11155680" cy="365760"/>
          </a:xfrm>
          <a:prstGeom prst="rect">
            <a:avLst/>
          </a:prstGeom>
          <a:noFill/>
          <a:ln/>
        </p:spPr>
        <p:txBody>
          <a:bodyPr wrap="square" lIns="0" tIns="0" rIns="0" bIns="0" rtlCol="0" anchor="ctr"/>
          <a:lstStyle/>
          <a:p>
            <a:pPr indent="0" marL="0">
              <a:buNone/>
            </a:pPr>
            <a:r>
              <a:rPr lang="en-US" sz="1150" i="1" dirty="0">
                <a:solidFill>
                  <a:srgbClr val="6B7280"/>
                </a:solidFill>
                <a:latin typeface="Arial" pitchFamily="34" charset="0"/>
                <a:ea typeface="Arial" pitchFamily="34" charset="-122"/>
                <a:cs typeface="Arial" pitchFamily="34" charset="-120"/>
              </a:rPr>
              <a:t>+ 판정 기준(무엇이 나오면 성공/실패인지)은 실험 전에 문서로 못 박아 두었습니다 — 결과를 보고 바꾸지 않음</a:t>
            </a:r>
            <a:endParaRPr lang="en-US" sz="1150" dirty="0"/>
          </a:p>
        </p:txBody>
      </p:sp>
      <p:sp>
        <p:nvSpPr>
          <p:cNvPr id="26" name="Shape 24"/>
          <p:cNvSpPr/>
          <p:nvPr/>
        </p:nvSpPr>
        <p:spPr>
          <a:xfrm>
            <a:off x="502920" y="6053328"/>
            <a:ext cx="11201400" cy="566928"/>
          </a:xfrm>
          <a:prstGeom prst="roundRect">
            <a:avLst>
              <a:gd name="adj" fmla="val 12903"/>
            </a:avLst>
          </a:prstGeom>
          <a:solidFill>
            <a:srgbClr val="1F3B57"/>
          </a:solidFill>
          <a:ln/>
        </p:spPr>
      </p:sp>
      <p:sp>
        <p:nvSpPr>
          <p:cNvPr id="27" name="Text 25"/>
          <p:cNvSpPr/>
          <p:nvPr/>
        </p:nvSpPr>
        <p:spPr>
          <a:xfrm>
            <a:off x="777240" y="6053328"/>
            <a:ext cx="10744200" cy="56692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 이렇게 짜면 "답이 뒤집히는 것"이 우연인지, 방해 이미지 때문인지가 숫자로 구분된다</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37744"/>
            <a:ext cx="9601200" cy="292608"/>
          </a:xfrm>
          <a:prstGeom prst="rect">
            <a:avLst/>
          </a:prstGeom>
          <a:noFill/>
          <a:ln/>
        </p:spPr>
        <p:txBody>
          <a:bodyPr wrap="square" lIns="0" tIns="0" rIns="0" bIns="0" rtlCol="0" anchor="ctr"/>
          <a:lstStyle/>
          <a:p>
            <a:pPr indent="0" marL="0">
              <a:buNone/>
            </a:pPr>
            <a:r>
              <a:rPr lang="en-US" sz="1150" b="1" spc="100" kern="0" dirty="0">
                <a:solidFill>
                  <a:srgbClr val="1F77B4"/>
                </a:solidFill>
                <a:latin typeface="Arial" pitchFamily="34" charset="0"/>
                <a:ea typeface="Arial" pitchFamily="34" charset="-122"/>
                <a:cs typeface="Arial" pitchFamily="34" charset="-120"/>
              </a:rPr>
              <a:t>검증 방법 — 측정을 믿을 수 있는가</a:t>
            </a:r>
            <a:endParaRPr lang="en-US" sz="1150" dirty="0"/>
          </a:p>
        </p:txBody>
      </p:sp>
      <p:sp>
        <p:nvSpPr>
          <p:cNvPr id="3" name="Text 1"/>
          <p:cNvSpPr/>
          <p:nvPr/>
        </p:nvSpPr>
        <p:spPr>
          <a:xfrm>
            <a:off x="502920" y="512064"/>
            <a:ext cx="11155680" cy="731520"/>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본 실험 전에, 측정 장치가 멀쩡한지부터 3가지로 점검했다</a:t>
            </a:r>
            <a:endParaRPr lang="en-US" sz="2200" dirty="0"/>
          </a:p>
        </p:txBody>
      </p:sp>
      <p:sp>
        <p:nvSpPr>
          <p:cNvPr id="4" name="Shape 2"/>
          <p:cNvSpPr/>
          <p:nvPr/>
        </p:nvSpPr>
        <p:spPr>
          <a:xfrm>
            <a:off x="502920" y="1645920"/>
            <a:ext cx="3657600" cy="3246120"/>
          </a:xfrm>
          <a:prstGeom prst="roundRect">
            <a:avLst>
              <a:gd name="adj" fmla="val 2817"/>
            </a:avLst>
          </a:prstGeom>
          <a:solidFill>
            <a:srgbClr val="E9F4EE"/>
          </a:solidFill>
          <a:ln w="12700">
            <a:solidFill>
              <a:srgbClr val="2E8B57"/>
            </a:solidFill>
            <a:prstDash val="solid"/>
          </a:ln>
        </p:spPr>
      </p:sp>
      <p:sp>
        <p:nvSpPr>
          <p:cNvPr id="5" name="Shape 3"/>
          <p:cNvSpPr/>
          <p:nvPr/>
        </p:nvSpPr>
        <p:spPr>
          <a:xfrm>
            <a:off x="731520" y="1874520"/>
            <a:ext cx="457200" cy="457200"/>
          </a:xfrm>
          <a:prstGeom prst="ellipse">
            <a:avLst/>
          </a:prstGeom>
          <a:solidFill>
            <a:srgbClr val="2E8B57"/>
          </a:solidFill>
          <a:ln/>
        </p:spPr>
      </p:sp>
      <p:sp>
        <p:nvSpPr>
          <p:cNvPr id="6" name="Text 4"/>
          <p:cNvSpPr/>
          <p:nvPr/>
        </p:nvSpPr>
        <p:spPr>
          <a:xfrm>
            <a:off x="731520" y="18745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325880" y="1901952"/>
            <a:ext cx="2651760" cy="685800"/>
          </a:xfrm>
          <a:prstGeom prst="rect">
            <a:avLst/>
          </a:prstGeom>
          <a:noFill/>
          <a:ln/>
        </p:spPr>
        <p:txBody>
          <a:bodyPr wrap="square" lIns="0" tIns="0" rIns="0" bIns="0" rtlCol="0" anchor="ctr"/>
          <a:lstStyle/>
          <a:p>
            <a:pPr indent="0" marL="0">
              <a:buNone/>
            </a:pPr>
            <a:r>
              <a:rPr lang="en-US" sz="1350" b="1" dirty="0">
                <a:solidFill>
                  <a:srgbClr val="1F3B57"/>
                </a:solidFill>
                <a:latin typeface="Arial" pitchFamily="34" charset="0"/>
                <a:ea typeface="Arial" pitchFamily="34" charset="-122"/>
                <a:cs typeface="Arial" pitchFamily="34" charset="-120"/>
              </a:rPr>
              <a:t>차단 장치가 진짜 작동하나?</a:t>
            </a:r>
            <a:endParaRPr lang="en-US" sz="1350" dirty="0"/>
          </a:p>
        </p:txBody>
      </p:sp>
      <p:sp>
        <p:nvSpPr>
          <p:cNvPr id="8" name="Text 6"/>
          <p:cNvSpPr/>
          <p:nvPr/>
        </p:nvSpPr>
        <p:spPr>
          <a:xfrm>
            <a:off x="758952" y="2697480"/>
            <a:ext cx="3145536" cy="822960"/>
          </a:xfrm>
          <a:prstGeom prst="rect">
            <a:avLst/>
          </a:prstGeom>
          <a:noFill/>
          <a:ln/>
        </p:spPr>
        <p:txBody>
          <a:bodyPr wrap="square" lIns="0" tIns="0" rIns="0" bIns="0" rtlCol="0" anchor="ctr"/>
          <a:lstStyle/>
          <a:p>
            <a:pPr indent="0" marL="0">
              <a:buNone/>
            </a:pPr>
            <a:r>
              <a:rPr lang="en-US" sz="4000" b="1" dirty="0">
                <a:solidFill>
                  <a:srgbClr val="2E8B57"/>
                </a:solidFill>
                <a:latin typeface="Arial" pitchFamily="34" charset="0"/>
                <a:ea typeface="Arial" pitchFamily="34" charset="-122"/>
                <a:cs typeface="Arial" pitchFamily="34" charset="-120"/>
              </a:rPr>
              <a:t>98.3%</a:t>
            </a:r>
            <a:endParaRPr lang="en-US" sz="4000" dirty="0"/>
          </a:p>
        </p:txBody>
      </p:sp>
      <p:sp>
        <p:nvSpPr>
          <p:cNvPr id="9" name="Text 7"/>
          <p:cNvSpPr/>
          <p:nvPr/>
        </p:nvSpPr>
        <p:spPr>
          <a:xfrm>
            <a:off x="758952" y="3566160"/>
            <a:ext cx="3145536" cy="1280160"/>
          </a:xfrm>
          <a:prstGeom prst="rect">
            <a:avLst/>
          </a:prstGeom>
          <a:noFill/>
          <a:ln/>
        </p:spPr>
        <p:txBody>
          <a:bodyPr wrap="square" lIns="0" tIns="0" rIns="0" bIns="0" rtlCol="0" anchor="ctr"/>
          <a:lstStyle/>
          <a:p>
            <a:pPr indent="0" marL="0">
              <a:lnSpc>
                <a:spcPct val="120000"/>
              </a:lnSpc>
              <a:buNone/>
            </a:pPr>
            <a:r>
              <a:rPr lang="en-US" sz="1100" dirty="0">
                <a:solidFill>
                  <a:srgbClr val="1F3B57"/>
                </a:solidFill>
                <a:latin typeface="Arial" pitchFamily="34" charset="0"/>
                <a:ea typeface="Arial" pitchFamily="34" charset="-122"/>
                <a:cs typeface="Arial" pitchFamily="34" charset="-120"/>
              </a:rPr>
              <a:t>방해 이미지를 '완전 차단'한 결과가</a:t>
            </a:r>
            <a:endParaRPr lang="en-US" sz="1100" dirty="0"/>
          </a:p>
          <a:p>
            <a:pPr indent="0" marL="0">
              <a:lnSpc>
                <a:spcPct val="120000"/>
              </a:lnSpc>
              <a:buNone/>
            </a:pPr>
            <a:r>
              <a:rPr lang="en-US" sz="1100" dirty="0">
                <a:solidFill>
                  <a:srgbClr val="1F3B57"/>
                </a:solidFill>
                <a:latin typeface="Arial" pitchFamily="34" charset="0"/>
                <a:ea typeface="Arial" pitchFamily="34" charset="-122"/>
                <a:cs typeface="Arial" pitchFamily="34" charset="-120"/>
              </a:rPr>
              <a:t>아예 안 준 결과와 예측 98.3% 일치</a:t>
            </a:r>
            <a:endParaRPr lang="en-US" sz="1100" dirty="0"/>
          </a:p>
          <a:p>
            <a:pPr indent="0" marL="0">
              <a:lnSpc>
                <a:spcPct val="120000"/>
              </a:lnSpc>
              <a:buNone/>
            </a:pPr>
            <a:r>
              <a:rPr lang="en-US" sz="1100" dirty="0">
                <a:solidFill>
                  <a:srgbClr val="1F3B57"/>
                </a:solidFill>
                <a:latin typeface="Arial" pitchFamily="34" charset="0"/>
                <a:ea typeface="Arial" pitchFamily="34" charset="-122"/>
                <a:cs typeface="Arial" pitchFamily="34" charset="-120"/>
              </a:rPr>
              <a:t>(+ 차단된 층의 참조량이 정확히 0임을 관측)</a:t>
            </a:r>
            <a:endParaRPr lang="en-US" sz="1100" dirty="0"/>
          </a:p>
        </p:txBody>
      </p:sp>
      <p:sp>
        <p:nvSpPr>
          <p:cNvPr id="10" name="Shape 8"/>
          <p:cNvSpPr/>
          <p:nvPr/>
        </p:nvSpPr>
        <p:spPr>
          <a:xfrm>
            <a:off x="4389120" y="1645920"/>
            <a:ext cx="3657600" cy="3246120"/>
          </a:xfrm>
          <a:prstGeom prst="roundRect">
            <a:avLst>
              <a:gd name="adj" fmla="val 2817"/>
            </a:avLst>
          </a:prstGeom>
          <a:solidFill>
            <a:srgbClr val="E9F4EE"/>
          </a:solidFill>
          <a:ln w="12700">
            <a:solidFill>
              <a:srgbClr val="2E8B57"/>
            </a:solidFill>
            <a:prstDash val="solid"/>
          </a:ln>
        </p:spPr>
      </p:sp>
      <p:sp>
        <p:nvSpPr>
          <p:cNvPr id="11" name="Shape 9"/>
          <p:cNvSpPr/>
          <p:nvPr/>
        </p:nvSpPr>
        <p:spPr>
          <a:xfrm>
            <a:off x="4617720" y="1874520"/>
            <a:ext cx="457200" cy="457200"/>
          </a:xfrm>
          <a:prstGeom prst="ellipse">
            <a:avLst/>
          </a:prstGeom>
          <a:solidFill>
            <a:srgbClr val="2E8B57"/>
          </a:solidFill>
          <a:ln/>
        </p:spPr>
      </p:sp>
      <p:sp>
        <p:nvSpPr>
          <p:cNvPr id="12" name="Text 10"/>
          <p:cNvSpPr/>
          <p:nvPr/>
        </p:nvSpPr>
        <p:spPr>
          <a:xfrm>
            <a:off x="4617720" y="18745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13" name="Text 11"/>
          <p:cNvSpPr/>
          <p:nvPr/>
        </p:nvSpPr>
        <p:spPr>
          <a:xfrm>
            <a:off x="5212080" y="1901952"/>
            <a:ext cx="2651760" cy="685800"/>
          </a:xfrm>
          <a:prstGeom prst="rect">
            <a:avLst/>
          </a:prstGeom>
          <a:noFill/>
          <a:ln/>
        </p:spPr>
        <p:txBody>
          <a:bodyPr wrap="square" lIns="0" tIns="0" rIns="0" bIns="0" rtlCol="0" anchor="ctr"/>
          <a:lstStyle/>
          <a:p>
            <a:pPr indent="0" marL="0">
              <a:buNone/>
            </a:pPr>
            <a:r>
              <a:rPr lang="en-US" sz="1350" b="1" dirty="0">
                <a:solidFill>
                  <a:srgbClr val="1F3B57"/>
                </a:solidFill>
                <a:latin typeface="Arial" pitchFamily="34" charset="0"/>
                <a:ea typeface="Arial" pitchFamily="34" charset="-122"/>
                <a:cs typeface="Arial" pitchFamily="34" charset="-120"/>
              </a:rPr>
              <a:t>채점이 멀쩡한가?</a:t>
            </a:r>
            <a:endParaRPr lang="en-US" sz="1350" dirty="0"/>
          </a:p>
        </p:txBody>
      </p:sp>
      <p:sp>
        <p:nvSpPr>
          <p:cNvPr id="14" name="Text 12"/>
          <p:cNvSpPr/>
          <p:nvPr/>
        </p:nvSpPr>
        <p:spPr>
          <a:xfrm>
            <a:off x="4645152" y="2697480"/>
            <a:ext cx="3145536" cy="822960"/>
          </a:xfrm>
          <a:prstGeom prst="rect">
            <a:avLst/>
          </a:prstGeom>
          <a:noFill/>
          <a:ln/>
        </p:spPr>
        <p:txBody>
          <a:bodyPr wrap="square" lIns="0" tIns="0" rIns="0" bIns="0" rtlCol="0" anchor="ctr"/>
          <a:lstStyle/>
          <a:p>
            <a:pPr indent="0" marL="0">
              <a:buNone/>
            </a:pPr>
            <a:r>
              <a:rPr lang="en-US" sz="4000" b="1" dirty="0">
                <a:solidFill>
                  <a:srgbClr val="2E8B57"/>
                </a:solidFill>
                <a:latin typeface="Arial" pitchFamily="34" charset="0"/>
                <a:ea typeface="Arial" pitchFamily="34" charset="-122"/>
                <a:cs typeface="Arial" pitchFamily="34" charset="-120"/>
              </a:rPr>
              <a:t>85.5%</a:t>
            </a:r>
            <a:endParaRPr lang="en-US" sz="4000" dirty="0"/>
          </a:p>
        </p:txBody>
      </p:sp>
      <p:sp>
        <p:nvSpPr>
          <p:cNvPr id="15" name="Text 13"/>
          <p:cNvSpPr/>
          <p:nvPr/>
        </p:nvSpPr>
        <p:spPr>
          <a:xfrm>
            <a:off x="4645152" y="3566160"/>
            <a:ext cx="3145536" cy="1280160"/>
          </a:xfrm>
          <a:prstGeom prst="rect">
            <a:avLst/>
          </a:prstGeom>
          <a:noFill/>
          <a:ln/>
        </p:spPr>
        <p:txBody>
          <a:bodyPr wrap="square" lIns="0" tIns="0" rIns="0" bIns="0" rtlCol="0" anchor="ctr"/>
          <a:lstStyle/>
          <a:p>
            <a:pPr indent="0" marL="0">
              <a:lnSpc>
                <a:spcPct val="120000"/>
              </a:lnSpc>
              <a:buNone/>
            </a:pPr>
            <a:r>
              <a:rPr lang="en-US" sz="1100" dirty="0">
                <a:solidFill>
                  <a:srgbClr val="1F3B57"/>
                </a:solidFill>
                <a:latin typeface="Arial" pitchFamily="34" charset="0"/>
                <a:ea typeface="Arial" pitchFamily="34" charset="-122"/>
                <a:cs typeface="Arial" pitchFamily="34" charset="-120"/>
              </a:rPr>
              <a:t>이미지 1장만 줬을 때 정답률 85.5%</a:t>
            </a:r>
            <a:endParaRPr lang="en-US" sz="1100" dirty="0"/>
          </a:p>
          <a:p>
            <a:pPr indent="0" marL="0">
              <a:lnSpc>
                <a:spcPct val="120000"/>
              </a:lnSpc>
              <a:buNone/>
            </a:pPr>
            <a:r>
              <a:rPr lang="en-US" sz="1100" dirty="0">
                <a:solidFill>
                  <a:srgbClr val="1F3B57"/>
                </a:solidFill>
                <a:latin typeface="Arial" pitchFamily="34" charset="0"/>
                <a:ea typeface="Arial" pitchFamily="34" charset="-122"/>
                <a:cs typeface="Arial" pitchFamily="34" charset="-120"/>
              </a:rPr>
              <a:t>— 같은 모델의 공개 보고치(~80%대)와 일치</a:t>
            </a:r>
            <a:endParaRPr lang="en-US" sz="1100" dirty="0"/>
          </a:p>
        </p:txBody>
      </p:sp>
      <p:sp>
        <p:nvSpPr>
          <p:cNvPr id="16" name="Shape 14"/>
          <p:cNvSpPr/>
          <p:nvPr/>
        </p:nvSpPr>
        <p:spPr>
          <a:xfrm>
            <a:off x="8275320" y="1645920"/>
            <a:ext cx="3657600" cy="3246120"/>
          </a:xfrm>
          <a:prstGeom prst="roundRect">
            <a:avLst>
              <a:gd name="adj" fmla="val 2817"/>
            </a:avLst>
          </a:prstGeom>
          <a:solidFill>
            <a:srgbClr val="E9F4EE"/>
          </a:solidFill>
          <a:ln w="12700">
            <a:solidFill>
              <a:srgbClr val="2E8B57"/>
            </a:solidFill>
            <a:prstDash val="solid"/>
          </a:ln>
        </p:spPr>
      </p:sp>
      <p:sp>
        <p:nvSpPr>
          <p:cNvPr id="17" name="Shape 15"/>
          <p:cNvSpPr/>
          <p:nvPr/>
        </p:nvSpPr>
        <p:spPr>
          <a:xfrm>
            <a:off x="8503920" y="1874520"/>
            <a:ext cx="457200" cy="457200"/>
          </a:xfrm>
          <a:prstGeom prst="ellipse">
            <a:avLst/>
          </a:prstGeom>
          <a:solidFill>
            <a:srgbClr val="2E8B57"/>
          </a:solidFill>
          <a:ln/>
        </p:spPr>
      </p:sp>
      <p:sp>
        <p:nvSpPr>
          <p:cNvPr id="18" name="Text 16"/>
          <p:cNvSpPr/>
          <p:nvPr/>
        </p:nvSpPr>
        <p:spPr>
          <a:xfrm>
            <a:off x="8503920" y="18745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19" name="Text 17"/>
          <p:cNvSpPr/>
          <p:nvPr/>
        </p:nvSpPr>
        <p:spPr>
          <a:xfrm>
            <a:off x="9098280" y="1901952"/>
            <a:ext cx="2651760" cy="685800"/>
          </a:xfrm>
          <a:prstGeom prst="rect">
            <a:avLst/>
          </a:prstGeom>
          <a:noFill/>
          <a:ln/>
        </p:spPr>
        <p:txBody>
          <a:bodyPr wrap="square" lIns="0" tIns="0" rIns="0" bIns="0" rtlCol="0" anchor="ctr"/>
          <a:lstStyle/>
          <a:p>
            <a:pPr indent="0" marL="0">
              <a:buNone/>
            </a:pPr>
            <a:r>
              <a:rPr lang="en-US" sz="1350" b="1" dirty="0">
                <a:solidFill>
                  <a:srgbClr val="1F3B57"/>
                </a:solidFill>
                <a:latin typeface="Arial" pitchFamily="34" charset="0"/>
                <a:ea typeface="Arial" pitchFamily="34" charset="-122"/>
                <a:cs typeface="Arial" pitchFamily="34" charset="-120"/>
              </a:rPr>
              <a:t>마스킹이 흉내는 아닌가?</a:t>
            </a:r>
            <a:endParaRPr lang="en-US" sz="1350" dirty="0"/>
          </a:p>
        </p:txBody>
      </p:sp>
      <p:sp>
        <p:nvSpPr>
          <p:cNvPr id="20" name="Text 18"/>
          <p:cNvSpPr/>
          <p:nvPr/>
        </p:nvSpPr>
        <p:spPr>
          <a:xfrm>
            <a:off x="8531352" y="2697480"/>
            <a:ext cx="3145536" cy="822960"/>
          </a:xfrm>
          <a:prstGeom prst="rect">
            <a:avLst/>
          </a:prstGeom>
          <a:noFill/>
          <a:ln/>
        </p:spPr>
        <p:txBody>
          <a:bodyPr wrap="square" lIns="0" tIns="0" rIns="0" bIns="0" rtlCol="0" anchor="ctr"/>
          <a:lstStyle/>
          <a:p>
            <a:pPr indent="0" marL="0">
              <a:buNone/>
            </a:pPr>
            <a:r>
              <a:rPr lang="en-US" sz="4000" b="1" dirty="0">
                <a:solidFill>
                  <a:srgbClr val="2E8B57"/>
                </a:solidFill>
                <a:latin typeface="Arial" pitchFamily="34" charset="0"/>
                <a:ea typeface="Arial" pitchFamily="34" charset="-122"/>
                <a:cs typeface="Arial" pitchFamily="34" charset="-120"/>
              </a:rPr>
              <a:t>100%</a:t>
            </a:r>
            <a:endParaRPr lang="en-US" sz="4000" dirty="0"/>
          </a:p>
        </p:txBody>
      </p:sp>
      <p:sp>
        <p:nvSpPr>
          <p:cNvPr id="21" name="Text 19"/>
          <p:cNvSpPr/>
          <p:nvPr/>
        </p:nvSpPr>
        <p:spPr>
          <a:xfrm>
            <a:off x="8531352" y="3566160"/>
            <a:ext cx="3145536" cy="1280160"/>
          </a:xfrm>
          <a:prstGeom prst="rect">
            <a:avLst/>
          </a:prstGeom>
          <a:noFill/>
          <a:ln/>
        </p:spPr>
        <p:txBody>
          <a:bodyPr wrap="square" lIns="0" tIns="0" rIns="0" bIns="0" rtlCol="0" anchor="ctr"/>
          <a:lstStyle/>
          <a:p>
            <a:pPr indent="0" marL="0">
              <a:lnSpc>
                <a:spcPct val="120000"/>
              </a:lnSpc>
              <a:buNone/>
            </a:pPr>
            <a:r>
              <a:rPr lang="en-US" sz="1100" dirty="0">
                <a:solidFill>
                  <a:srgbClr val="1F3B57"/>
                </a:solidFill>
                <a:latin typeface="Arial" pitchFamily="34" charset="0"/>
                <a:ea typeface="Arial" pitchFamily="34" charset="-122"/>
                <a:cs typeface="Arial" pitchFamily="34" charset="-120"/>
              </a:rPr>
              <a:t>토큰을 실제로 삭제한 별도 구현과</a:t>
            </a:r>
            <a:endParaRPr lang="en-US" sz="1100" dirty="0"/>
          </a:p>
          <a:p>
            <a:pPr indent="0" marL="0">
              <a:lnSpc>
                <a:spcPct val="120000"/>
              </a:lnSpc>
              <a:buNone/>
            </a:pPr>
            <a:r>
              <a:rPr lang="en-US" sz="1100" dirty="0">
                <a:solidFill>
                  <a:srgbClr val="1F3B57"/>
                </a:solidFill>
                <a:latin typeface="Arial" pitchFamily="34" charset="0"/>
                <a:ea typeface="Arial" pitchFamily="34" charset="-122"/>
                <a:cs typeface="Arial" pitchFamily="34" charset="-120"/>
              </a:rPr>
              <a:t>예측이 100% 일치 — 등가성 검증</a:t>
            </a:r>
            <a:endParaRPr lang="en-US" sz="1100" dirty="0"/>
          </a:p>
        </p:txBody>
      </p:sp>
      <p:sp>
        <p:nvSpPr>
          <p:cNvPr id="22" name="Text 20"/>
          <p:cNvSpPr/>
          <p:nvPr/>
        </p:nvSpPr>
        <p:spPr>
          <a:xfrm>
            <a:off x="502920" y="5166360"/>
            <a:ext cx="11155680" cy="365760"/>
          </a:xfrm>
          <a:prstGeom prst="rect">
            <a:avLst/>
          </a:prstGeom>
          <a:noFill/>
          <a:ln/>
        </p:spPr>
        <p:txBody>
          <a:bodyPr wrap="square" lIns="0" tIns="0" rIns="0" bIns="0" rtlCol="0" anchor="ctr"/>
          <a:lstStyle/>
          <a:p>
            <a:pPr indent="0" marL="0">
              <a:buNone/>
            </a:pPr>
            <a:r>
              <a:rPr lang="en-US" sz="1200" b="1" dirty="0">
                <a:solidFill>
                  <a:srgbClr val="6B7280"/>
                </a:solidFill>
                <a:latin typeface="Arial" pitchFamily="34" charset="0"/>
                <a:ea typeface="Arial" pitchFamily="34" charset="-122"/>
                <a:cs typeface="Arial" pitchFamily="34" charset="-120"/>
              </a:rPr>
              <a:t>규모: 600문항 × 10조건 = 6,000회 측정 · GPU 1장 · 29분 · 난수 고정(seed 42) · 오류 중단 0건</a:t>
            </a:r>
            <a:endParaRPr lang="en-US" sz="1200" dirty="0"/>
          </a:p>
        </p:txBody>
      </p:sp>
      <p:sp>
        <p:nvSpPr>
          <p:cNvPr id="23" name="Shape 21"/>
          <p:cNvSpPr/>
          <p:nvPr/>
        </p:nvSpPr>
        <p:spPr>
          <a:xfrm>
            <a:off x="502920" y="6053328"/>
            <a:ext cx="11201400" cy="566928"/>
          </a:xfrm>
          <a:prstGeom prst="roundRect">
            <a:avLst>
              <a:gd name="adj" fmla="val 12903"/>
            </a:avLst>
          </a:prstGeom>
          <a:solidFill>
            <a:srgbClr val="1F3B57"/>
          </a:solidFill>
          <a:ln/>
        </p:spPr>
      </p:sp>
      <p:sp>
        <p:nvSpPr>
          <p:cNvPr id="24" name="Text 22"/>
          <p:cNvSpPr/>
          <p:nvPr/>
        </p:nvSpPr>
        <p:spPr>
          <a:xfrm>
            <a:off x="777240" y="6053328"/>
            <a:ext cx="10744200" cy="56692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 이후의 모든 숫자는 이 3가지 점검을 통과한 측정에서 나온 실측값이다</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37744"/>
            <a:ext cx="9601200" cy="292608"/>
          </a:xfrm>
          <a:prstGeom prst="rect">
            <a:avLst/>
          </a:prstGeom>
          <a:noFill/>
          <a:ln/>
        </p:spPr>
        <p:txBody>
          <a:bodyPr wrap="square" lIns="0" tIns="0" rIns="0" bIns="0" rtlCol="0" anchor="ctr"/>
          <a:lstStyle/>
          <a:p>
            <a:pPr indent="0" marL="0">
              <a:buNone/>
            </a:pPr>
            <a:r>
              <a:rPr lang="en-US" sz="1150" b="1" spc="100" kern="0" dirty="0">
                <a:solidFill>
                  <a:srgbClr val="1F77B4"/>
                </a:solidFill>
                <a:latin typeface="Arial" pitchFamily="34" charset="0"/>
                <a:ea typeface="Arial" pitchFamily="34" charset="-122"/>
                <a:cs typeface="Arial" pitchFamily="34" charset="-120"/>
              </a:rPr>
              <a:t>질문 ① — 문제가 진짜 있는가?</a:t>
            </a:r>
            <a:endParaRPr lang="en-US" sz="1150" dirty="0"/>
          </a:p>
        </p:txBody>
      </p:sp>
      <p:sp>
        <p:nvSpPr>
          <p:cNvPr id="3" name="Text 1"/>
          <p:cNvSpPr/>
          <p:nvPr/>
        </p:nvSpPr>
        <p:spPr>
          <a:xfrm>
            <a:off x="502920" y="512064"/>
            <a:ext cx="11155680" cy="731520"/>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3B에서는 명확히 있다 — 그러나 7B·이 벤치에서는 사라진다</a:t>
            </a:r>
            <a:endParaRPr lang="en-US" sz="2200" dirty="0"/>
          </a:p>
        </p:txBody>
      </p:sp>
      <p:sp>
        <p:nvSpPr>
          <p:cNvPr id="4" name="Shape 2"/>
          <p:cNvSpPr/>
          <p:nvPr/>
        </p:nvSpPr>
        <p:spPr>
          <a:xfrm>
            <a:off x="502920" y="1554480"/>
            <a:ext cx="5486400" cy="3200400"/>
          </a:xfrm>
          <a:prstGeom prst="roundRect">
            <a:avLst>
              <a:gd name="adj" fmla="val 2857"/>
            </a:avLst>
          </a:prstGeom>
          <a:solidFill>
            <a:srgbClr val="FBEAEA"/>
          </a:solidFill>
          <a:ln w="15875">
            <a:solidFill>
              <a:srgbClr val="D62728"/>
            </a:solidFill>
            <a:prstDash val="solid"/>
          </a:ln>
        </p:spPr>
      </p:sp>
      <p:sp>
        <p:nvSpPr>
          <p:cNvPr id="5" name="Text 3"/>
          <p:cNvSpPr/>
          <p:nvPr/>
        </p:nvSpPr>
        <p:spPr>
          <a:xfrm>
            <a:off x="777240" y="1691640"/>
            <a:ext cx="4937760" cy="320040"/>
          </a:xfrm>
          <a:prstGeom prst="rect">
            <a:avLst/>
          </a:prstGeom>
          <a:noFill/>
          <a:ln/>
        </p:spPr>
        <p:txBody>
          <a:bodyPr wrap="square" lIns="0" tIns="0" rIns="0" bIns="0" rtlCol="0" anchor="ctr"/>
          <a:lstStyle/>
          <a:p>
            <a:pPr indent="0" marL="0">
              <a:buNone/>
            </a:pPr>
            <a:r>
              <a:rPr lang="en-US" sz="1400" b="1" dirty="0">
                <a:solidFill>
                  <a:srgbClr val="1F3B57"/>
                </a:solidFill>
                <a:latin typeface="Arial" pitchFamily="34" charset="0"/>
                <a:ea typeface="Arial" pitchFamily="34" charset="-122"/>
                <a:cs typeface="Arial" pitchFamily="34" charset="-120"/>
              </a:rPr>
              <a:t>Qwen2.5-VL-3B</a:t>
            </a:r>
            <a:endParaRPr lang="en-US" sz="1400" dirty="0"/>
          </a:p>
        </p:txBody>
      </p:sp>
      <p:sp>
        <p:nvSpPr>
          <p:cNvPr id="6" name="Text 4"/>
          <p:cNvSpPr/>
          <p:nvPr/>
        </p:nvSpPr>
        <p:spPr>
          <a:xfrm>
            <a:off x="777240" y="2103120"/>
            <a:ext cx="4937760" cy="1554480"/>
          </a:xfrm>
          <a:prstGeom prst="rect">
            <a:avLst/>
          </a:prstGeom>
          <a:noFill/>
          <a:ln/>
        </p:spPr>
        <p:txBody>
          <a:bodyPr wrap="square" lIns="0" tIns="0" rIns="0" bIns="0" rtlCol="0" anchor="ctr"/>
          <a:lstStyle/>
          <a:p>
            <a:pPr indent="0" marL="0">
              <a:spcAft>
                <a:spcPts val="600"/>
              </a:spcAft>
              <a:buNone/>
            </a:pPr>
            <a:r>
              <a:rPr lang="en-US" sz="4600" b="1" dirty="0">
                <a:solidFill>
                  <a:srgbClr val="D62728"/>
                </a:solidFill>
                <a:latin typeface="Arial" pitchFamily="34" charset="0"/>
                <a:ea typeface="Arial" pitchFamily="34" charset="-122"/>
                <a:cs typeface="Arial" pitchFamily="34" charset="-120"/>
              </a:rPr>
              <a:t>21.3%</a:t>
            </a:r>
            <a:endParaRPr lang="en-US" sz="4600" dirty="0"/>
          </a:p>
          <a:p>
            <a:pPr indent="0" marL="0">
              <a:spcAft>
                <a:spcPts val="600"/>
              </a:spcAft>
              <a:buNone/>
            </a:pPr>
            <a:r>
              <a:rPr lang="en-US" sz="1250" dirty="0">
                <a:solidFill>
                  <a:srgbClr val="1F3B57"/>
                </a:solidFill>
                <a:latin typeface="Arial" pitchFamily="34" charset="0"/>
                <a:ea typeface="Arial" pitchFamily="34" charset="-122"/>
                <a:cs typeface="Arial" pitchFamily="34" charset="-120"/>
              </a:rPr>
              <a:t>답이 뒤집힌 비율 (대조군 0.0%)</a:t>
            </a:r>
            <a:endParaRPr lang="en-US" sz="4600" dirty="0"/>
          </a:p>
          <a:p>
            <a:pPr indent="0" marL="0">
              <a:spcAft>
                <a:spcPts val="600"/>
              </a:spcAft>
              <a:buNone/>
            </a:pPr>
            <a:r>
              <a:rPr lang="en-US" sz="1200" dirty="0">
                <a:solidFill>
                  <a:srgbClr val="6B7280"/>
                </a:solidFill>
                <a:latin typeface="Arial" pitchFamily="34" charset="0"/>
                <a:ea typeface="Arial" pitchFamily="34" charset="-122"/>
                <a:cs typeface="Arial" pitchFamily="34" charset="-120"/>
              </a:rPr>
              <a:t>단일 이미지 0.893 → 2장 0.720 (−17.3%p)</a:t>
            </a:r>
            <a:endParaRPr lang="en-US" sz="4600" dirty="0"/>
          </a:p>
        </p:txBody>
      </p:sp>
      <p:sp>
        <p:nvSpPr>
          <p:cNvPr id="7" name="Text 5"/>
          <p:cNvSpPr/>
          <p:nvPr/>
        </p:nvSpPr>
        <p:spPr>
          <a:xfrm>
            <a:off x="777240" y="4114800"/>
            <a:ext cx="4937760" cy="457200"/>
          </a:xfrm>
          <a:prstGeom prst="rect">
            <a:avLst/>
          </a:prstGeom>
          <a:noFill/>
          <a:ln/>
        </p:spPr>
        <p:txBody>
          <a:bodyPr wrap="square" lIns="0" tIns="0" rIns="0" bIns="0" rtlCol="0" anchor="ctr"/>
          <a:lstStyle/>
          <a:p>
            <a:pPr indent="0" marL="0">
              <a:buNone/>
            </a:pPr>
            <a:r>
              <a:rPr lang="en-US" sz="1250" b="1" dirty="0">
                <a:solidFill>
                  <a:srgbClr val="D62728"/>
                </a:solidFill>
                <a:latin typeface="Arial" pitchFamily="34" charset="0"/>
                <a:ea typeface="Arial" pitchFamily="34" charset="-122"/>
                <a:cs typeface="Arial" pitchFamily="34" charset="-120"/>
              </a:rPr>
              <a:t>→ 오염이 실재하고, 차단으로 81%가 회복됨</a:t>
            </a:r>
            <a:endParaRPr lang="en-US" sz="1250" dirty="0"/>
          </a:p>
        </p:txBody>
      </p:sp>
      <p:sp>
        <p:nvSpPr>
          <p:cNvPr id="8" name="Shape 6"/>
          <p:cNvSpPr/>
          <p:nvPr/>
        </p:nvSpPr>
        <p:spPr>
          <a:xfrm>
            <a:off x="6217920" y="1554480"/>
            <a:ext cx="5486400" cy="3200400"/>
          </a:xfrm>
          <a:prstGeom prst="roundRect">
            <a:avLst>
              <a:gd name="adj" fmla="val 2857"/>
            </a:avLst>
          </a:prstGeom>
          <a:solidFill>
            <a:srgbClr val="F3F4F6"/>
          </a:solidFill>
          <a:ln w="15875">
            <a:solidFill>
              <a:srgbClr val="6B7280"/>
            </a:solidFill>
            <a:prstDash val="solid"/>
          </a:ln>
        </p:spPr>
      </p:sp>
      <p:sp>
        <p:nvSpPr>
          <p:cNvPr id="9" name="Text 7"/>
          <p:cNvSpPr/>
          <p:nvPr/>
        </p:nvSpPr>
        <p:spPr>
          <a:xfrm>
            <a:off x="6492240" y="1691640"/>
            <a:ext cx="4937760" cy="320040"/>
          </a:xfrm>
          <a:prstGeom prst="rect">
            <a:avLst/>
          </a:prstGeom>
          <a:noFill/>
          <a:ln/>
        </p:spPr>
        <p:txBody>
          <a:bodyPr wrap="square" lIns="0" tIns="0" rIns="0" bIns="0" rtlCol="0" anchor="ctr"/>
          <a:lstStyle/>
          <a:p>
            <a:pPr indent="0" marL="0">
              <a:buNone/>
            </a:pPr>
            <a:r>
              <a:rPr lang="en-US" sz="1400" b="1" dirty="0">
                <a:solidFill>
                  <a:srgbClr val="1F3B57"/>
                </a:solidFill>
                <a:latin typeface="Arial" pitchFamily="34" charset="0"/>
                <a:ea typeface="Arial" pitchFamily="34" charset="-122"/>
                <a:cs typeface="Arial" pitchFamily="34" charset="-120"/>
              </a:rPr>
              <a:t>Qwen2.5-VL-7B</a:t>
            </a:r>
            <a:endParaRPr lang="en-US" sz="1400" dirty="0"/>
          </a:p>
        </p:txBody>
      </p:sp>
      <p:sp>
        <p:nvSpPr>
          <p:cNvPr id="10" name="Text 8"/>
          <p:cNvSpPr/>
          <p:nvPr/>
        </p:nvSpPr>
        <p:spPr>
          <a:xfrm>
            <a:off x="6492240" y="2103120"/>
            <a:ext cx="4937760" cy="1554480"/>
          </a:xfrm>
          <a:prstGeom prst="rect">
            <a:avLst/>
          </a:prstGeom>
          <a:noFill/>
          <a:ln/>
        </p:spPr>
        <p:txBody>
          <a:bodyPr wrap="square" lIns="0" tIns="0" rIns="0" bIns="0" rtlCol="0" anchor="ctr"/>
          <a:lstStyle/>
          <a:p>
            <a:pPr indent="0" marL="0">
              <a:spcAft>
                <a:spcPts val="600"/>
              </a:spcAft>
              <a:buNone/>
            </a:pPr>
            <a:r>
              <a:rPr lang="en-US" sz="4600" b="1" dirty="0">
                <a:solidFill>
                  <a:srgbClr val="6B7280"/>
                </a:solidFill>
                <a:latin typeface="Arial" pitchFamily="34" charset="0"/>
                <a:ea typeface="Arial" pitchFamily="34" charset="-122"/>
                <a:cs typeface="Arial" pitchFamily="34" charset="-120"/>
              </a:rPr>
              <a:t>0.7%</a:t>
            </a:r>
            <a:endParaRPr lang="en-US" sz="4600" dirty="0"/>
          </a:p>
          <a:p>
            <a:pPr indent="0" marL="0">
              <a:spcAft>
                <a:spcPts val="600"/>
              </a:spcAft>
              <a:buNone/>
            </a:pPr>
            <a:r>
              <a:rPr lang="en-US" sz="1250" dirty="0">
                <a:solidFill>
                  <a:srgbClr val="1F3B57"/>
                </a:solidFill>
                <a:latin typeface="Arial" pitchFamily="34" charset="0"/>
                <a:ea typeface="Arial" pitchFamily="34" charset="-122"/>
                <a:cs typeface="Arial" pitchFamily="34" charset="-120"/>
              </a:rPr>
              <a:t>거의 뒤집히지 않음</a:t>
            </a:r>
            <a:endParaRPr lang="en-US" sz="4600" dirty="0"/>
          </a:p>
          <a:p>
            <a:pPr indent="0" marL="0">
              <a:spcAft>
                <a:spcPts val="600"/>
              </a:spcAft>
              <a:buNone/>
            </a:pPr>
            <a:r>
              <a:rPr lang="en-US" sz="1200" dirty="0">
                <a:solidFill>
                  <a:srgbClr val="6B7280"/>
                </a:solidFill>
                <a:latin typeface="Arial" pitchFamily="34" charset="0"/>
                <a:ea typeface="Arial" pitchFamily="34" charset="-122"/>
                <a:cs typeface="Arial" pitchFamily="34" charset="-120"/>
              </a:rPr>
              <a:t>단일 이미지 0.947 → 2장 0.967 (오히려 +2.0%p)</a:t>
            </a:r>
            <a:endParaRPr lang="en-US" sz="4600" dirty="0"/>
          </a:p>
        </p:txBody>
      </p:sp>
      <p:sp>
        <p:nvSpPr>
          <p:cNvPr id="11" name="Text 9"/>
          <p:cNvSpPr/>
          <p:nvPr/>
        </p:nvSpPr>
        <p:spPr>
          <a:xfrm>
            <a:off x="6492240" y="4114800"/>
            <a:ext cx="4937760" cy="548640"/>
          </a:xfrm>
          <a:prstGeom prst="rect">
            <a:avLst/>
          </a:prstGeom>
          <a:noFill/>
          <a:ln/>
        </p:spPr>
        <p:txBody>
          <a:bodyPr wrap="square" lIns="0" tIns="0" rIns="0" bIns="0" rtlCol="0" anchor="ctr"/>
          <a:lstStyle/>
          <a:p>
            <a:pPr indent="0" marL="0">
              <a:buNone/>
            </a:pPr>
            <a:r>
              <a:rPr lang="en-US" sz="1250" b="1" dirty="0">
                <a:solidFill>
                  <a:srgbClr val="6B7280"/>
                </a:solidFill>
                <a:latin typeface="Arial" pitchFamily="34" charset="0"/>
                <a:ea typeface="Arial" pitchFamily="34" charset="-122"/>
                <a:cs typeface="Arial" pitchFamily="34" charset="-120"/>
              </a:rPr>
              <a:t>→ 단일 이미지에서 이미 94.7% — 천장이라 드러날 여지가 없음</a:t>
            </a:r>
            <a:endParaRPr lang="en-US" sz="1250" dirty="0"/>
          </a:p>
        </p:txBody>
      </p:sp>
      <p:sp>
        <p:nvSpPr>
          <p:cNvPr id="12" name="Shape 10"/>
          <p:cNvSpPr/>
          <p:nvPr/>
        </p:nvSpPr>
        <p:spPr>
          <a:xfrm>
            <a:off x="502920" y="4892040"/>
            <a:ext cx="11201400" cy="1051560"/>
          </a:xfrm>
          <a:prstGeom prst="roundRect">
            <a:avLst>
              <a:gd name="adj" fmla="val 6957"/>
            </a:avLst>
          </a:prstGeom>
          <a:solidFill>
            <a:srgbClr val="EFF4F9"/>
          </a:solidFill>
          <a:ln w="12700">
            <a:solidFill>
              <a:srgbClr val="D5DEE8"/>
            </a:solidFill>
            <a:prstDash val="solid"/>
          </a:ln>
        </p:spPr>
      </p:sp>
      <p:sp>
        <p:nvSpPr>
          <p:cNvPr id="13" name="Text 11"/>
          <p:cNvSpPr/>
          <p:nvPr/>
        </p:nvSpPr>
        <p:spPr>
          <a:xfrm>
            <a:off x="777240" y="4992624"/>
            <a:ext cx="10698480" cy="914400"/>
          </a:xfrm>
          <a:prstGeom prst="rect">
            <a:avLst/>
          </a:prstGeom>
          <a:noFill/>
          <a:ln/>
        </p:spPr>
        <p:txBody>
          <a:bodyPr wrap="square" lIns="0" tIns="0" rIns="0" bIns="0" rtlCol="0" anchor="ctr"/>
          <a:lstStyle/>
          <a:p>
            <a:pPr indent="0" marL="0">
              <a:spcAft>
                <a:spcPts val="400"/>
              </a:spcAft>
              <a:buNone/>
            </a:pPr>
            <a:r>
              <a:rPr lang="en-US" sz="1250" b="1" dirty="0">
                <a:solidFill>
                  <a:srgbClr val="1F3B57"/>
                </a:solidFill>
                <a:latin typeface="Arial" pitchFamily="34" charset="0"/>
                <a:ea typeface="Arial" pitchFamily="34" charset="-122"/>
                <a:cs typeface="Arial" pitchFamily="34" charset="-120"/>
              </a:rPr>
              <a:t>그러면 7B에서는 문제가 없는가? — 문헌은 아니라고 말합니다.</a:t>
            </a:r>
            <a:endParaRPr lang="en-US" sz="1250" dirty="0"/>
          </a:p>
          <a:p>
            <a:pPr indent="0" marL="0">
              <a:spcAft>
                <a:spcPts val="400"/>
              </a:spcAft>
              <a:buNone/>
            </a:pPr>
            <a:r>
              <a:rPr lang="en-US" sz="1150" dirty="0">
                <a:solidFill>
                  <a:srgbClr val="6B7280"/>
                </a:solidFill>
                <a:latin typeface="Arial" pitchFamily="34" charset="0"/>
                <a:ea typeface="Arial" pitchFamily="34" charset="-122"/>
                <a:cs typeface="Arial" pitchFamily="34" charset="-120"/>
              </a:rPr>
              <a:t>FOCUS(2025) 부록: 같은 Qwen2.5-VL-7B에서 단일→멀티 −10.4%p  ·  MVH-Bench(2026): 7B 오답의 87~94%가 '다른 이미지에서 온 정보'  ·  GPT-4o도 같은 벤치에서 붕괴</a:t>
            </a:r>
            <a:endParaRPr lang="en-US" sz="1250" dirty="0"/>
          </a:p>
        </p:txBody>
      </p:sp>
      <p:sp>
        <p:nvSpPr>
          <p:cNvPr id="14" name="Shape 12"/>
          <p:cNvSpPr/>
          <p:nvPr/>
        </p:nvSpPr>
        <p:spPr>
          <a:xfrm>
            <a:off x="502920" y="6053328"/>
            <a:ext cx="11201400" cy="566928"/>
          </a:xfrm>
          <a:prstGeom prst="roundRect">
            <a:avLst>
              <a:gd name="adj" fmla="val 12903"/>
            </a:avLst>
          </a:prstGeom>
          <a:solidFill>
            <a:srgbClr val="1F3B57"/>
          </a:solidFill>
          <a:ln/>
        </p:spPr>
      </p:sp>
      <p:sp>
        <p:nvSpPr>
          <p:cNvPr id="15" name="Text 13"/>
          <p:cNvSpPr/>
          <p:nvPr/>
        </p:nvSpPr>
        <p:spPr>
          <a:xfrm>
            <a:off x="777240" y="6053328"/>
            <a:ext cx="10744200" cy="56692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 질문 ①의 답: 문제는 실재한다. 단 우리 벤치(POPE+방해 1장)는 7B에게 너무 쉬워 계측기로 부적합 — 벤치 이동이 필요</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37744"/>
            <a:ext cx="9601200" cy="292608"/>
          </a:xfrm>
          <a:prstGeom prst="rect">
            <a:avLst/>
          </a:prstGeom>
          <a:noFill/>
          <a:ln/>
        </p:spPr>
        <p:txBody>
          <a:bodyPr wrap="square" lIns="0" tIns="0" rIns="0" bIns="0" rtlCol="0" anchor="ctr"/>
          <a:lstStyle/>
          <a:p>
            <a:pPr indent="0" marL="0">
              <a:buNone/>
            </a:pPr>
            <a:r>
              <a:rPr lang="en-US" sz="1150" b="1" spc="100" kern="0" dirty="0">
                <a:solidFill>
                  <a:srgbClr val="1F77B4"/>
                </a:solidFill>
                <a:latin typeface="Arial" pitchFamily="34" charset="0"/>
                <a:ea typeface="Arial" pitchFamily="34" charset="-122"/>
                <a:cs typeface="Arial" pitchFamily="34" charset="-120"/>
              </a:rPr>
              <a:t>질문 ② — 해법이 작동하는가?  (1/3: 고쳐지는가)</a:t>
            </a:r>
            <a:endParaRPr lang="en-US" sz="1150" dirty="0"/>
          </a:p>
        </p:txBody>
      </p:sp>
      <p:sp>
        <p:nvSpPr>
          <p:cNvPr id="3" name="Text 1"/>
          <p:cNvSpPr/>
          <p:nvPr/>
        </p:nvSpPr>
        <p:spPr>
          <a:xfrm>
            <a:off x="502920" y="512064"/>
            <a:ext cx="11155680" cy="731520"/>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4층 이후 차단만으로, 오염된 오답의 81%가 되살아났다</a:t>
            </a:r>
            <a:endParaRPr lang="en-US" sz="2200" dirty="0"/>
          </a:p>
        </p:txBody>
      </p:sp>
      <p:pic>
        <p:nvPicPr>
          <p:cNvPr id="4" name="Image 0" descr="/Users/hansangmin/Source-Depth/results/fig1_accuracy_vs_L.png">    </p:cNvPr>
          <p:cNvPicPr>
            <a:picLocks noChangeAspect="1"/>
          </p:cNvPicPr>
          <p:nvPr/>
        </p:nvPicPr>
        <p:blipFill>
          <a:blip r:embed="rId1"/>
          <a:stretch>
            <a:fillRect/>
          </a:stretch>
        </p:blipFill>
        <p:spPr>
          <a:xfrm>
            <a:off x="502920" y="1572768"/>
            <a:ext cx="6949440" cy="2843784"/>
          </a:xfrm>
          <a:prstGeom prst="rect">
            <a:avLst/>
          </a:prstGeom>
        </p:spPr>
      </p:pic>
      <p:sp>
        <p:nvSpPr>
          <p:cNvPr id="5" name="Text 2"/>
          <p:cNvSpPr/>
          <p:nvPr/>
        </p:nvSpPr>
        <p:spPr>
          <a:xfrm>
            <a:off x="502920" y="4480560"/>
            <a:ext cx="6949440" cy="502920"/>
          </a:xfrm>
          <a:prstGeom prst="rect">
            <a:avLst/>
          </a:prstGeom>
          <a:noFill/>
          <a:ln/>
        </p:spPr>
        <p:txBody>
          <a:bodyPr wrap="square" lIns="0" tIns="0" rIns="0" bIns="0" rtlCol="0" anchor="ctr"/>
          <a:lstStyle/>
          <a:p>
            <a:pPr indent="0" marL="0">
              <a:buNone/>
            </a:pPr>
            <a:r>
              <a:rPr lang="en-US" sz="1050" b="1" dirty="0">
                <a:solidFill>
                  <a:srgbClr val="1F77B4"/>
                </a:solidFill>
                <a:latin typeface="Arial" pitchFamily="34" charset="0"/>
                <a:ea typeface="Arial" pitchFamily="34" charset="-122"/>
                <a:cs typeface="Arial" pitchFamily="34" charset="-120"/>
              </a:rPr>
              <a:t>읽는 법  </a:t>
            </a:r>
            <a:pPr indent="0" marL="0">
              <a:buNone/>
            </a:pPr>
            <a:r>
              <a:rPr lang="en-US" sz="1050" dirty="0">
                <a:solidFill>
                  <a:srgbClr val="6B7280"/>
                </a:solidFill>
                <a:latin typeface="Arial" pitchFamily="34" charset="0"/>
                <a:ea typeface="Arial" pitchFamily="34" charset="-122"/>
                <a:cs typeface="Arial" pitchFamily="34" charset="-120"/>
              </a:rPr>
              <a:t>가로축 = 차단을 시작하는 층(왼쪽일수록 일찍 차단) · 빨간 점선 = 차단 없음(72%) · 왼쪽 패널이 위 질문 ①의 문항들</a:t>
            </a:r>
            <a:endParaRPr lang="en-US" sz="1050" dirty="0"/>
          </a:p>
        </p:txBody>
      </p:sp>
      <p:sp>
        <p:nvSpPr>
          <p:cNvPr id="6" name="Shape 3"/>
          <p:cNvSpPr/>
          <p:nvPr/>
        </p:nvSpPr>
        <p:spPr>
          <a:xfrm>
            <a:off x="7726680" y="1645920"/>
            <a:ext cx="3977640" cy="1060704"/>
          </a:xfrm>
          <a:prstGeom prst="roundRect">
            <a:avLst>
              <a:gd name="adj" fmla="val 6897"/>
            </a:avLst>
          </a:prstGeom>
          <a:solidFill>
            <a:srgbClr val="EFF4F9"/>
          </a:solidFill>
          <a:ln w="12700">
            <a:solidFill>
              <a:srgbClr val="D5DEE8"/>
            </a:solidFill>
            <a:prstDash val="solid"/>
          </a:ln>
        </p:spPr>
      </p:sp>
      <p:sp>
        <p:nvSpPr>
          <p:cNvPr id="7" name="Text 4"/>
          <p:cNvSpPr/>
          <p:nvPr/>
        </p:nvSpPr>
        <p:spPr>
          <a:xfrm>
            <a:off x="7936992" y="1737360"/>
            <a:ext cx="3611880" cy="914400"/>
          </a:xfrm>
          <a:prstGeom prst="rect">
            <a:avLst/>
          </a:prstGeom>
          <a:noFill/>
          <a:ln/>
        </p:spPr>
        <p:txBody>
          <a:bodyPr wrap="square" lIns="0" tIns="0" rIns="0" bIns="0" rtlCol="0" anchor="ctr"/>
          <a:lstStyle/>
          <a:p>
            <a:pPr indent="0" marL="0">
              <a:spcAft>
                <a:spcPts val="400"/>
              </a:spcAft>
              <a:buNone/>
            </a:pPr>
            <a:r>
              <a:rPr lang="en-US" sz="1250" b="1" dirty="0">
                <a:solidFill>
                  <a:srgbClr val="1F3B57"/>
                </a:solidFill>
                <a:latin typeface="Arial" pitchFamily="34" charset="0"/>
                <a:ea typeface="Arial" pitchFamily="34" charset="-122"/>
                <a:cs typeface="Arial" pitchFamily="34" charset="-120"/>
              </a:rPr>
              <a:t>고쳐진 오답 81%  vs  새로 생긴 오답 3.7%</a:t>
            </a:r>
            <a:endParaRPr lang="en-US" sz="1250" dirty="0"/>
          </a:p>
          <a:p>
            <a:pPr indent="0" marL="0">
              <a:spcAft>
                <a:spcPts val="400"/>
              </a:spcAft>
              <a:buNone/>
            </a:pPr>
            <a:r>
              <a:rPr lang="en-US" sz="1050" dirty="0">
                <a:solidFill>
                  <a:srgbClr val="6B7280"/>
                </a:solidFill>
                <a:latin typeface="Arial" pitchFamily="34" charset="0"/>
                <a:ea typeface="Arial" pitchFamily="34" charset="-122"/>
                <a:cs typeface="Arial" pitchFamily="34" charset="-120"/>
              </a:rPr>
              <a:t>부작용의 22배 — '지우기만 한 것'이 아니라 회복</a:t>
            </a:r>
            <a:endParaRPr lang="en-US" sz="1250" dirty="0"/>
          </a:p>
        </p:txBody>
      </p:sp>
      <p:sp>
        <p:nvSpPr>
          <p:cNvPr id="8" name="Shape 5"/>
          <p:cNvSpPr/>
          <p:nvPr/>
        </p:nvSpPr>
        <p:spPr>
          <a:xfrm>
            <a:off x="7726680" y="2852928"/>
            <a:ext cx="3977640" cy="1060704"/>
          </a:xfrm>
          <a:prstGeom prst="roundRect">
            <a:avLst>
              <a:gd name="adj" fmla="val 6897"/>
            </a:avLst>
          </a:prstGeom>
          <a:solidFill>
            <a:srgbClr val="EFF4F9"/>
          </a:solidFill>
          <a:ln w="12700">
            <a:solidFill>
              <a:srgbClr val="D5DEE8"/>
            </a:solidFill>
            <a:prstDash val="solid"/>
          </a:ln>
        </p:spPr>
      </p:sp>
      <p:sp>
        <p:nvSpPr>
          <p:cNvPr id="9" name="Text 6"/>
          <p:cNvSpPr/>
          <p:nvPr/>
        </p:nvSpPr>
        <p:spPr>
          <a:xfrm>
            <a:off x="7936992" y="2944368"/>
            <a:ext cx="3611880" cy="914400"/>
          </a:xfrm>
          <a:prstGeom prst="rect">
            <a:avLst/>
          </a:prstGeom>
          <a:noFill/>
          <a:ln/>
        </p:spPr>
        <p:txBody>
          <a:bodyPr wrap="square" lIns="0" tIns="0" rIns="0" bIns="0" rtlCol="0" anchor="ctr"/>
          <a:lstStyle/>
          <a:p>
            <a:pPr indent="0" marL="0">
              <a:spcAft>
                <a:spcPts val="400"/>
              </a:spcAft>
              <a:buNone/>
            </a:pPr>
            <a:r>
              <a:rPr lang="en-US" sz="1250" b="1" dirty="0">
                <a:solidFill>
                  <a:srgbClr val="1F3B57"/>
                </a:solidFill>
                <a:latin typeface="Arial" pitchFamily="34" charset="0"/>
                <a:ea typeface="Arial" pitchFamily="34" charset="-122"/>
                <a:cs typeface="Arial" pitchFamily="34" charset="-120"/>
              </a:rPr>
              <a:t>우연일 확률 p = 6×10⁻⁷</a:t>
            </a:r>
            <a:endParaRPr lang="en-US" sz="1250" dirty="0"/>
          </a:p>
          <a:p>
            <a:pPr indent="0" marL="0">
              <a:spcAft>
                <a:spcPts val="400"/>
              </a:spcAft>
              <a:buNone/>
            </a:pPr>
            <a:r>
              <a:rPr lang="en-US" sz="1050" dirty="0">
                <a:solidFill>
                  <a:srgbClr val="6B7280"/>
                </a:solidFill>
                <a:latin typeface="Arial" pitchFamily="34" charset="0"/>
                <a:ea typeface="Arial" pitchFamily="34" charset="-122"/>
                <a:cs typeface="Arial" pitchFamily="34" charset="-120"/>
              </a:rPr>
              <a:t>같은 문항을 짝지어 비교하는 통계 검정(McNemar)</a:t>
            </a:r>
            <a:endParaRPr lang="en-US" sz="1250" dirty="0"/>
          </a:p>
        </p:txBody>
      </p:sp>
      <p:sp>
        <p:nvSpPr>
          <p:cNvPr id="10" name="Shape 7"/>
          <p:cNvSpPr/>
          <p:nvPr/>
        </p:nvSpPr>
        <p:spPr>
          <a:xfrm>
            <a:off x="7726680" y="4059936"/>
            <a:ext cx="3977640" cy="1060704"/>
          </a:xfrm>
          <a:prstGeom prst="roundRect">
            <a:avLst>
              <a:gd name="adj" fmla="val 6897"/>
            </a:avLst>
          </a:prstGeom>
          <a:solidFill>
            <a:srgbClr val="EFF4F9"/>
          </a:solidFill>
          <a:ln w="12700">
            <a:solidFill>
              <a:srgbClr val="D5DEE8"/>
            </a:solidFill>
            <a:prstDash val="solid"/>
          </a:ln>
        </p:spPr>
      </p:sp>
      <p:sp>
        <p:nvSpPr>
          <p:cNvPr id="11" name="Text 8"/>
          <p:cNvSpPr/>
          <p:nvPr/>
        </p:nvSpPr>
        <p:spPr>
          <a:xfrm>
            <a:off x="7936992" y="4151376"/>
            <a:ext cx="3611880" cy="914400"/>
          </a:xfrm>
          <a:prstGeom prst="rect">
            <a:avLst/>
          </a:prstGeom>
          <a:noFill/>
          <a:ln/>
        </p:spPr>
        <p:txBody>
          <a:bodyPr wrap="square" lIns="0" tIns="0" rIns="0" bIns="0" rtlCol="0" anchor="ctr"/>
          <a:lstStyle/>
          <a:p>
            <a:pPr indent="0" marL="0">
              <a:spcAft>
                <a:spcPts val="400"/>
              </a:spcAft>
              <a:buNone/>
            </a:pPr>
            <a:r>
              <a:rPr lang="en-US" sz="1250" b="1" dirty="0">
                <a:solidFill>
                  <a:srgbClr val="1F3B57"/>
                </a:solidFill>
                <a:latin typeface="Arial" pitchFamily="34" charset="0"/>
                <a:ea typeface="Arial" pitchFamily="34" charset="-122"/>
                <a:cs typeface="Arial" pitchFamily="34" charset="-120"/>
              </a:rPr>
              <a:t>차단 = 계산 절약이기도</a:t>
            </a:r>
            <a:endParaRPr lang="en-US" sz="1250" dirty="0"/>
          </a:p>
          <a:p>
            <a:pPr indent="0" marL="0">
              <a:spcAft>
                <a:spcPts val="400"/>
              </a:spcAft>
              <a:buNone/>
            </a:pPr>
            <a:r>
              <a:rPr lang="en-US" sz="1050" dirty="0">
                <a:solidFill>
                  <a:srgbClr val="6B7280"/>
                </a:solidFill>
                <a:latin typeface="Arial" pitchFamily="34" charset="0"/>
                <a:ea typeface="Arial" pitchFamily="34" charset="-122"/>
                <a:cs typeface="Arial" pitchFamily="34" charset="-120"/>
              </a:rPr>
              <a:t>방해 이미지 계산의 89%를 건너뜀 (이론상 전체의 42%)</a:t>
            </a:r>
            <a:endParaRPr lang="en-US" sz="1250" dirty="0"/>
          </a:p>
        </p:txBody>
      </p:sp>
      <p:sp>
        <p:nvSpPr>
          <p:cNvPr id="12" name="Shape 9"/>
          <p:cNvSpPr/>
          <p:nvPr/>
        </p:nvSpPr>
        <p:spPr>
          <a:xfrm>
            <a:off x="502920" y="4864608"/>
            <a:ext cx="11201400" cy="1024128"/>
          </a:xfrm>
          <a:prstGeom prst="roundRect">
            <a:avLst>
              <a:gd name="adj" fmla="val 7143"/>
            </a:avLst>
          </a:prstGeom>
          <a:solidFill>
            <a:srgbClr val="EFF4F9"/>
          </a:solidFill>
          <a:ln w="12700">
            <a:solidFill>
              <a:srgbClr val="D5DEE8"/>
            </a:solidFill>
            <a:prstDash val="solid"/>
          </a:ln>
        </p:spPr>
      </p:sp>
      <p:sp>
        <p:nvSpPr>
          <p:cNvPr id="13" name="Text 10"/>
          <p:cNvSpPr/>
          <p:nvPr/>
        </p:nvSpPr>
        <p:spPr>
          <a:xfrm>
            <a:off x="777240" y="4974336"/>
            <a:ext cx="10698480" cy="868680"/>
          </a:xfrm>
          <a:prstGeom prst="rect">
            <a:avLst/>
          </a:prstGeom>
          <a:noFill/>
          <a:ln/>
        </p:spPr>
        <p:txBody>
          <a:bodyPr wrap="square" lIns="0" tIns="0" rIns="0" bIns="0" rtlCol="0" anchor="ctr"/>
          <a:lstStyle/>
          <a:p>
            <a:pPr indent="0" marL="0">
              <a:spcAft>
                <a:spcPts val="500"/>
              </a:spcAft>
              <a:buNone/>
            </a:pPr>
            <a:r>
              <a:rPr lang="en-US" sz="1250" b="1" dirty="0">
                <a:solidFill>
                  <a:srgbClr val="1F3B57"/>
                </a:solidFill>
                <a:latin typeface="Arial" pitchFamily="34" charset="0"/>
                <a:ea typeface="Arial" pitchFamily="34" charset="-122"/>
                <a:cs typeface="Arial" pitchFamily="34" charset="-120"/>
              </a:rPr>
              <a:t>"답을 '없다' 쪽으로 민 것 아닌가?" — 아닙니다. 오염이 있던 문항군만 오르고, 없던 대조군은 오르지 않았습니다.</a:t>
            </a:r>
            <a:endParaRPr lang="en-US" sz="1250" dirty="0"/>
          </a:p>
          <a:p>
            <a:pPr indent="0" marL="0">
              <a:spcAft>
                <a:spcPts val="500"/>
              </a:spcAft>
              <a:buNone/>
            </a:pPr>
            <a:r>
              <a:rPr lang="en-US" sz="1200" dirty="0">
                <a:solidFill>
                  <a:srgbClr val="6B7280"/>
                </a:solidFill>
                <a:latin typeface="Arial" pitchFamily="34" charset="0"/>
                <a:ea typeface="Arial" pitchFamily="34" charset="-122"/>
                <a:cs typeface="Arial" pitchFamily="34" charset="-120"/>
              </a:rPr>
              <a:t>오염 유발 문항군 72.0% → 92.0% (+20.0%p)   vs   같은 정답('없다')이지만 오염 없는 대조군 98.0% → 96.0% (−2.0%p)</a:t>
            </a:r>
            <a:endParaRPr lang="en-US" sz="1250" dirty="0"/>
          </a:p>
        </p:txBody>
      </p:sp>
      <p:sp>
        <p:nvSpPr>
          <p:cNvPr id="14" name="Shape 11"/>
          <p:cNvSpPr/>
          <p:nvPr/>
        </p:nvSpPr>
        <p:spPr>
          <a:xfrm>
            <a:off x="502920" y="6053328"/>
            <a:ext cx="11201400" cy="566928"/>
          </a:xfrm>
          <a:prstGeom prst="roundRect">
            <a:avLst>
              <a:gd name="adj" fmla="val 12903"/>
            </a:avLst>
          </a:prstGeom>
          <a:solidFill>
            <a:srgbClr val="1F3B57"/>
          </a:solidFill>
          <a:ln/>
        </p:spPr>
      </p:sp>
      <p:sp>
        <p:nvSpPr>
          <p:cNvPr id="15" name="Text 12"/>
          <p:cNvSpPr/>
          <p:nvPr/>
        </p:nvSpPr>
        <p:spPr>
          <a:xfrm>
            <a:off x="777240" y="6053328"/>
            <a:ext cx="10744200" cy="56692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 차단은 오염을 부작용 없이 고친다 — 그리고 고치는 동시에 계산을 아낀다 (이 연구의 핵심 약속이 실측됨)</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37744"/>
            <a:ext cx="9601200" cy="292608"/>
          </a:xfrm>
          <a:prstGeom prst="rect">
            <a:avLst/>
          </a:prstGeom>
          <a:noFill/>
          <a:ln/>
        </p:spPr>
        <p:txBody>
          <a:bodyPr wrap="square" lIns="0" tIns="0" rIns="0" bIns="0" rtlCol="0" anchor="ctr"/>
          <a:lstStyle/>
          <a:p>
            <a:pPr indent="0" marL="0">
              <a:buNone/>
            </a:pPr>
            <a:r>
              <a:rPr lang="en-US" sz="1150" b="1" spc="100" kern="0" dirty="0">
                <a:solidFill>
                  <a:srgbClr val="1F77B4"/>
                </a:solidFill>
                <a:latin typeface="Arial" pitchFamily="34" charset="0"/>
                <a:ea typeface="Arial" pitchFamily="34" charset="-122"/>
                <a:cs typeface="Arial" pitchFamily="34" charset="-120"/>
              </a:rPr>
              <a:t>질문 ② — 해법이 작동하는가?  (2/3: 효과가 진짜인가)</a:t>
            </a:r>
            <a:endParaRPr lang="en-US" sz="1150" dirty="0"/>
          </a:p>
        </p:txBody>
      </p:sp>
      <p:sp>
        <p:nvSpPr>
          <p:cNvPr id="3" name="Text 1"/>
          <p:cNvSpPr/>
          <p:nvPr/>
        </p:nvSpPr>
        <p:spPr>
          <a:xfrm>
            <a:off x="502920" y="512064"/>
            <a:ext cx="11155680" cy="731520"/>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확인 사살 — 반대로 '질문 대상'을 차단하면 무너져야 한다. 실제로 무너졌다</a:t>
            </a:r>
            <a:endParaRPr lang="en-US" sz="2200" dirty="0"/>
          </a:p>
        </p:txBody>
      </p:sp>
      <p:pic>
        <p:nvPicPr>
          <p:cNvPr id="4" name="Image 0" descr="/Users/hansangmin/Source-Depth/results/aux_chartC_negative_control.png">    </p:cNvPr>
          <p:cNvPicPr>
            <a:picLocks noChangeAspect="1"/>
          </p:cNvPicPr>
          <p:nvPr/>
        </p:nvPicPr>
        <p:blipFill>
          <a:blip r:embed="rId1"/>
          <a:stretch>
            <a:fillRect/>
          </a:stretch>
        </p:blipFill>
        <p:spPr>
          <a:xfrm>
            <a:off x="502920" y="1600200"/>
            <a:ext cx="6400800" cy="3657600"/>
          </a:xfrm>
          <a:prstGeom prst="rect">
            <a:avLst/>
          </a:prstGeom>
        </p:spPr>
      </p:pic>
      <p:sp>
        <p:nvSpPr>
          <p:cNvPr id="5" name="Text 2"/>
          <p:cNvSpPr/>
          <p:nvPr/>
        </p:nvSpPr>
        <p:spPr>
          <a:xfrm>
            <a:off x="502920" y="5303520"/>
            <a:ext cx="6400800" cy="502920"/>
          </a:xfrm>
          <a:prstGeom prst="rect">
            <a:avLst/>
          </a:prstGeom>
          <a:noFill/>
          <a:ln/>
        </p:spPr>
        <p:txBody>
          <a:bodyPr wrap="square" lIns="0" tIns="0" rIns="0" bIns="0" rtlCol="0" anchor="ctr"/>
          <a:lstStyle/>
          <a:p>
            <a:pPr indent="0" marL="0">
              <a:buNone/>
            </a:pPr>
            <a:r>
              <a:rPr lang="en-US" sz="1050" b="1" dirty="0">
                <a:solidFill>
                  <a:srgbClr val="1F77B4"/>
                </a:solidFill>
                <a:latin typeface="Arial" pitchFamily="34" charset="0"/>
                <a:ea typeface="Arial" pitchFamily="34" charset="-122"/>
                <a:cs typeface="Arial" pitchFamily="34" charset="-120"/>
              </a:rPr>
              <a:t>읽는 법  </a:t>
            </a:r>
            <a:pPr indent="0" marL="0">
              <a:buNone/>
            </a:pPr>
            <a:r>
              <a:rPr lang="en-US" sz="1050" dirty="0">
                <a:solidFill>
                  <a:srgbClr val="6B7280"/>
                </a:solidFill>
                <a:latin typeface="Arial" pitchFamily="34" charset="0"/>
                <a:ea typeface="Arial" pitchFamily="34" charset="-122"/>
                <a:cs typeface="Arial" pitchFamily="34" charset="-120"/>
              </a:rPr>
              <a:t>보라 막대 = 질문 대상 이미지를 차단한 경우. 모델에게는 방해 이미지만 보이는 상태</a:t>
            </a:r>
            <a:endParaRPr lang="en-US" sz="1050" dirty="0"/>
          </a:p>
        </p:txBody>
      </p:sp>
      <p:sp>
        <p:nvSpPr>
          <p:cNvPr id="6" name="Shape 3"/>
          <p:cNvSpPr/>
          <p:nvPr/>
        </p:nvSpPr>
        <p:spPr>
          <a:xfrm>
            <a:off x="7178040" y="1691640"/>
            <a:ext cx="4526280" cy="1188720"/>
          </a:xfrm>
          <a:prstGeom prst="roundRect">
            <a:avLst>
              <a:gd name="adj" fmla="val 6154"/>
            </a:avLst>
          </a:prstGeom>
          <a:solidFill>
            <a:srgbClr val="EFF4F9"/>
          </a:solidFill>
          <a:ln w="15875">
            <a:solidFill>
              <a:srgbClr val="D62728"/>
            </a:solidFill>
            <a:prstDash val="solid"/>
          </a:ln>
        </p:spPr>
      </p:sp>
      <p:sp>
        <p:nvSpPr>
          <p:cNvPr id="7" name="Text 4"/>
          <p:cNvSpPr/>
          <p:nvPr/>
        </p:nvSpPr>
        <p:spPr>
          <a:xfrm>
            <a:off x="7388352" y="1783080"/>
            <a:ext cx="4114800" cy="1024128"/>
          </a:xfrm>
          <a:prstGeom prst="rect">
            <a:avLst/>
          </a:prstGeom>
          <a:noFill/>
          <a:ln/>
        </p:spPr>
        <p:txBody>
          <a:bodyPr wrap="square" lIns="0" tIns="0" rIns="0" bIns="0" rtlCol="0" anchor="ctr"/>
          <a:lstStyle/>
          <a:p>
            <a:pPr indent="0" marL="0">
              <a:spcAft>
                <a:spcPts val="400"/>
              </a:spcAft>
              <a:buNone/>
            </a:pPr>
            <a:r>
              <a:rPr lang="en-US" sz="1350" b="1" dirty="0">
                <a:solidFill>
                  <a:srgbClr val="D62728"/>
                </a:solidFill>
                <a:latin typeface="Arial" pitchFamily="34" charset="0"/>
                <a:ea typeface="Arial" pitchFamily="34" charset="-122"/>
                <a:cs typeface="Arial" pitchFamily="34" charset="-120"/>
              </a:rPr>
              <a:t>정답률 0.79 → 0.50 으로 붕괴</a:t>
            </a:r>
            <a:endParaRPr lang="en-US" sz="1350" dirty="0"/>
          </a:p>
          <a:p>
            <a:pPr indent="0" marL="0">
              <a:spcAft>
                <a:spcPts val="400"/>
              </a:spcAft>
              <a:buNone/>
            </a:pPr>
            <a:r>
              <a:rPr lang="en-US" sz="1050" dirty="0">
                <a:solidFill>
                  <a:srgbClr val="6B7280"/>
                </a:solidFill>
                <a:latin typeface="Arial" pitchFamily="34" charset="0"/>
                <a:ea typeface="Arial" pitchFamily="34" charset="-122"/>
                <a:cs typeface="Arial" pitchFamily="34" charset="-120"/>
              </a:rPr>
              <a:t>우연일 확률 10⁻³⁸ — 사실상 0</a:t>
            </a:r>
            <a:endParaRPr lang="en-US" sz="1350" dirty="0"/>
          </a:p>
        </p:txBody>
      </p:sp>
      <p:sp>
        <p:nvSpPr>
          <p:cNvPr id="8" name="Shape 5"/>
          <p:cNvSpPr/>
          <p:nvPr/>
        </p:nvSpPr>
        <p:spPr>
          <a:xfrm>
            <a:off x="7178040" y="3017520"/>
            <a:ext cx="4526280" cy="1188720"/>
          </a:xfrm>
          <a:prstGeom prst="roundRect">
            <a:avLst>
              <a:gd name="adj" fmla="val 6154"/>
            </a:avLst>
          </a:prstGeom>
          <a:solidFill>
            <a:srgbClr val="EFF4F9"/>
          </a:solidFill>
          <a:ln w="15875">
            <a:solidFill>
              <a:srgbClr val="1F3B57"/>
            </a:solidFill>
            <a:prstDash val="solid"/>
          </a:ln>
        </p:spPr>
      </p:sp>
      <p:sp>
        <p:nvSpPr>
          <p:cNvPr id="9" name="Text 6"/>
          <p:cNvSpPr/>
          <p:nvPr/>
        </p:nvSpPr>
        <p:spPr>
          <a:xfrm>
            <a:off x="7388352" y="3108960"/>
            <a:ext cx="4114800" cy="1024128"/>
          </a:xfrm>
          <a:prstGeom prst="rect">
            <a:avLst/>
          </a:prstGeom>
          <a:noFill/>
          <a:ln/>
        </p:spPr>
        <p:txBody>
          <a:bodyPr wrap="square" lIns="0" tIns="0" rIns="0" bIns="0" rtlCol="0" anchor="ctr"/>
          <a:lstStyle/>
          <a:p>
            <a:pPr indent="0" marL="0">
              <a:spcAft>
                <a:spcPts val="400"/>
              </a:spcAft>
              <a:buNone/>
            </a:pPr>
            <a:r>
              <a:rPr lang="en-US" sz="1350" b="1" dirty="0">
                <a:solidFill>
                  <a:srgbClr val="1F3B57"/>
                </a:solidFill>
                <a:latin typeface="Arial" pitchFamily="34" charset="0"/>
                <a:ea typeface="Arial" pitchFamily="34" charset="-122"/>
                <a:cs typeface="Arial" pitchFamily="34" charset="-120"/>
              </a:rPr>
              <a:t>답이 '보이는 이미지'를 그대로 따라감</a:t>
            </a:r>
            <a:endParaRPr lang="en-US" sz="1350" dirty="0"/>
          </a:p>
          <a:p>
            <a:pPr indent="0" marL="0">
              <a:spcAft>
                <a:spcPts val="400"/>
              </a:spcAft>
              <a:buNone/>
            </a:pPr>
            <a:r>
              <a:rPr lang="en-US" sz="1050" dirty="0">
                <a:solidFill>
                  <a:srgbClr val="6B7280"/>
                </a:solidFill>
                <a:latin typeface="Arial" pitchFamily="34" charset="0"/>
                <a:ea typeface="Arial" pitchFamily="34" charset="-122"/>
                <a:cs typeface="Arial" pitchFamily="34" charset="-120"/>
              </a:rPr>
              <a:t>질문 대상을 가리면 방해 이미지 기준으로 답함 — 차단이 구조적으로 완전하다는 뜻</a:t>
            </a:r>
            <a:endParaRPr lang="en-US" sz="1350" dirty="0"/>
          </a:p>
        </p:txBody>
      </p:sp>
      <p:sp>
        <p:nvSpPr>
          <p:cNvPr id="10" name="Shape 7"/>
          <p:cNvSpPr/>
          <p:nvPr/>
        </p:nvSpPr>
        <p:spPr>
          <a:xfrm>
            <a:off x="7178040" y="4343400"/>
            <a:ext cx="4526280" cy="1188720"/>
          </a:xfrm>
          <a:prstGeom prst="roundRect">
            <a:avLst>
              <a:gd name="adj" fmla="val 6154"/>
            </a:avLst>
          </a:prstGeom>
          <a:solidFill>
            <a:srgbClr val="EFF4F9"/>
          </a:solidFill>
          <a:ln w="15875">
            <a:solidFill>
              <a:srgbClr val="2E8B57"/>
            </a:solidFill>
            <a:prstDash val="solid"/>
          </a:ln>
        </p:spPr>
      </p:sp>
      <p:sp>
        <p:nvSpPr>
          <p:cNvPr id="11" name="Text 8"/>
          <p:cNvSpPr/>
          <p:nvPr/>
        </p:nvSpPr>
        <p:spPr>
          <a:xfrm>
            <a:off x="7388352" y="4434840"/>
            <a:ext cx="4114800" cy="1024128"/>
          </a:xfrm>
          <a:prstGeom prst="rect">
            <a:avLst/>
          </a:prstGeom>
          <a:noFill/>
          <a:ln/>
        </p:spPr>
        <p:txBody>
          <a:bodyPr wrap="square" lIns="0" tIns="0" rIns="0" bIns="0" rtlCol="0" anchor="ctr"/>
          <a:lstStyle/>
          <a:p>
            <a:pPr indent="0" marL="0">
              <a:spcAft>
                <a:spcPts val="400"/>
              </a:spcAft>
              <a:buNone/>
            </a:pPr>
            <a:r>
              <a:rPr lang="en-US" sz="1350" b="1" dirty="0">
                <a:solidFill>
                  <a:srgbClr val="2E8B57"/>
                </a:solidFill>
                <a:latin typeface="Arial" pitchFamily="34" charset="0"/>
                <a:ea typeface="Arial" pitchFamily="34" charset="-122"/>
                <a:cs typeface="Arial" pitchFamily="34" charset="-120"/>
              </a:rPr>
              <a:t>방향을 뒤집으면 효과도 뒤집힘</a:t>
            </a:r>
            <a:endParaRPr lang="en-US" sz="1350" dirty="0"/>
          </a:p>
          <a:p>
            <a:pPr indent="0" marL="0">
              <a:spcAft>
                <a:spcPts val="400"/>
              </a:spcAft>
              <a:buNone/>
            </a:pPr>
            <a:r>
              <a:rPr lang="en-US" sz="1050" dirty="0">
                <a:solidFill>
                  <a:srgbClr val="6B7280"/>
                </a:solidFill>
                <a:latin typeface="Arial" pitchFamily="34" charset="0"/>
                <a:ea typeface="Arial" pitchFamily="34" charset="-122"/>
                <a:cs typeface="Arial" pitchFamily="34" charset="-120"/>
              </a:rPr>
              <a:t>= 회복 효과는 상관이 아니라 인과</a:t>
            </a:r>
            <a:endParaRPr lang="en-US" sz="1350" dirty="0"/>
          </a:p>
        </p:txBody>
      </p:sp>
      <p:sp>
        <p:nvSpPr>
          <p:cNvPr id="12" name="Shape 9"/>
          <p:cNvSpPr/>
          <p:nvPr/>
        </p:nvSpPr>
        <p:spPr>
          <a:xfrm>
            <a:off x="502920" y="6053328"/>
            <a:ext cx="11201400" cy="566928"/>
          </a:xfrm>
          <a:prstGeom prst="roundRect">
            <a:avLst>
              <a:gd name="adj" fmla="val 12903"/>
            </a:avLst>
          </a:prstGeom>
          <a:solidFill>
            <a:srgbClr val="1F3B57"/>
          </a:solidFill>
          <a:ln/>
        </p:spPr>
      </p:sp>
      <p:sp>
        <p:nvSpPr>
          <p:cNvPr id="13" name="Text 10"/>
          <p:cNvSpPr/>
          <p:nvPr/>
        </p:nvSpPr>
        <p:spPr>
          <a:xfrm>
            <a:off x="777240" y="6053328"/>
            <a:ext cx="10744200" cy="56692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 질문 ②의 답 (2/3): 회복은 진짜다 — 차단 방향을 뒤집자 효과도 뒤집혔다 (인과 확인)</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37744"/>
            <a:ext cx="9601200" cy="292608"/>
          </a:xfrm>
          <a:prstGeom prst="rect">
            <a:avLst/>
          </a:prstGeom>
          <a:noFill/>
          <a:ln/>
        </p:spPr>
        <p:txBody>
          <a:bodyPr wrap="square" lIns="0" tIns="0" rIns="0" bIns="0" rtlCol="0" anchor="ctr"/>
          <a:lstStyle/>
          <a:p>
            <a:pPr indent="0" marL="0">
              <a:buNone/>
            </a:pPr>
            <a:r>
              <a:rPr lang="en-US" sz="1150" b="1" spc="100" kern="0" dirty="0">
                <a:solidFill>
                  <a:srgbClr val="1F77B4"/>
                </a:solidFill>
                <a:latin typeface="Arial" pitchFamily="34" charset="0"/>
                <a:ea typeface="Arial" pitchFamily="34" charset="-122"/>
                <a:cs typeface="Arial" pitchFamily="34" charset="-120"/>
              </a:rPr>
              <a:t>질문 ② — (3/3) 질문 유형에 따라 최적 깊이가 갈린다</a:t>
            </a:r>
            <a:endParaRPr lang="en-US" sz="1150" dirty="0"/>
          </a:p>
        </p:txBody>
      </p:sp>
      <p:sp>
        <p:nvSpPr>
          <p:cNvPr id="3" name="Text 1"/>
          <p:cNvSpPr/>
          <p:nvPr/>
        </p:nvSpPr>
        <p:spPr>
          <a:xfrm>
            <a:off x="502920" y="512064"/>
            <a:ext cx="11155680" cy="731520"/>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같은 개입이 한쪽 질문에서는 무해하고, 다른 쪽에서는 붕괴시킨다 — 두 스케일 모두</a:t>
            </a:r>
            <a:endParaRPr lang="en-US" sz="2200" dirty="0"/>
          </a:p>
        </p:txBody>
      </p:sp>
      <p:pic>
        <p:nvPicPr>
          <p:cNvPr id="4" name="Image 0" descr="/Users/hansangmin/Source-Depth/results/fig6_xcross_both_scales.png">    </p:cNvPr>
          <p:cNvPicPr>
            <a:picLocks noChangeAspect="1"/>
          </p:cNvPicPr>
          <p:nvPr/>
        </p:nvPicPr>
        <p:blipFill>
          <a:blip r:embed="rId1"/>
          <a:stretch>
            <a:fillRect/>
          </a:stretch>
        </p:blipFill>
        <p:spPr>
          <a:xfrm>
            <a:off x="548640" y="1481328"/>
            <a:ext cx="11064240" cy="3794760"/>
          </a:xfrm>
          <a:prstGeom prst="rect">
            <a:avLst/>
          </a:prstGeom>
        </p:spPr>
      </p:pic>
      <p:sp>
        <p:nvSpPr>
          <p:cNvPr id="5" name="Text 2"/>
          <p:cNvSpPr/>
          <p:nvPr/>
        </p:nvSpPr>
        <p:spPr>
          <a:xfrm>
            <a:off x="548640" y="5349240"/>
            <a:ext cx="11064240" cy="365760"/>
          </a:xfrm>
          <a:prstGeom prst="rect">
            <a:avLst/>
          </a:prstGeom>
          <a:noFill/>
          <a:ln/>
        </p:spPr>
        <p:txBody>
          <a:bodyPr wrap="square" lIns="0" tIns="0" rIns="0" bIns="0" rtlCol="0" anchor="ctr"/>
          <a:lstStyle/>
          <a:p>
            <a:pPr indent="0" marL="0">
              <a:buNone/>
            </a:pPr>
            <a:r>
              <a:rPr lang="en-US" sz="1250" b="1" dirty="0">
                <a:solidFill>
                  <a:srgbClr val="1F3B57"/>
                </a:solidFill>
                <a:latin typeface="Arial" pitchFamily="34" charset="0"/>
                <a:ea typeface="Arial" pitchFamily="34" charset="-122"/>
                <a:cs typeface="Arial" pitchFamily="34" charset="-120"/>
              </a:rPr>
              <a:t>3B: 단일이미지 질문 +21%p  vs  비교 질문 −51.0%p  (부호 역전)      </a:t>
            </a:r>
            <a:pPr indent="0" marL="0">
              <a:buNone/>
            </a:pPr>
            <a:r>
              <a:rPr lang="en-US" sz="1250" b="1" dirty="0">
                <a:solidFill>
                  <a:srgbClr val="1F3B57"/>
                </a:solidFill>
                <a:latin typeface="Arial" pitchFamily="34" charset="0"/>
                <a:ea typeface="Arial" pitchFamily="34" charset="-122"/>
                <a:cs typeface="Arial" pitchFamily="34" charset="-120"/>
              </a:rPr>
              <a:t>7B: −0.7%p  vs  −41.0%p  (부호는 같고 크기가 58배)</a:t>
            </a:r>
            <a:endParaRPr lang="en-US" sz="1250" dirty="0"/>
          </a:p>
        </p:txBody>
      </p:sp>
      <p:sp>
        <p:nvSpPr>
          <p:cNvPr id="6" name="Text 3"/>
          <p:cNvSpPr/>
          <p:nvPr/>
        </p:nvSpPr>
        <p:spPr>
          <a:xfrm>
            <a:off x="548640" y="5687568"/>
            <a:ext cx="11064240" cy="320040"/>
          </a:xfrm>
          <a:prstGeom prst="rect">
            <a:avLst/>
          </a:prstGeom>
          <a:noFill/>
          <a:ln/>
        </p:spPr>
        <p:txBody>
          <a:bodyPr wrap="square" lIns="0" tIns="0" rIns="0" bIns="0" rtlCol="0" anchor="ctr"/>
          <a:lstStyle/>
          <a:p>
            <a:pPr indent="0" marL="0">
              <a:buNone/>
            </a:pPr>
            <a:r>
              <a:rPr lang="en-US" sz="1150" i="1" dirty="0">
                <a:solidFill>
                  <a:srgbClr val="6B7280"/>
                </a:solidFill>
                <a:latin typeface="Arial" pitchFamily="34" charset="0"/>
                <a:ea typeface="Arial" pitchFamily="34" charset="-122"/>
                <a:cs typeface="Arial" pitchFamily="34" charset="-120"/>
              </a:rPr>
              <a:t>전환 구간이 두 모델에서 같은 상대 깊이(43~71%) — 스케일에 불변인 구조</a:t>
            </a:r>
            <a:endParaRPr lang="en-US" sz="1150" dirty="0"/>
          </a:p>
        </p:txBody>
      </p:sp>
      <p:sp>
        <p:nvSpPr>
          <p:cNvPr id="7" name="Shape 4"/>
          <p:cNvSpPr/>
          <p:nvPr/>
        </p:nvSpPr>
        <p:spPr>
          <a:xfrm>
            <a:off x="502920" y="6053328"/>
            <a:ext cx="11201400" cy="566928"/>
          </a:xfrm>
          <a:prstGeom prst="roundRect">
            <a:avLst>
              <a:gd name="adj" fmla="val 12903"/>
            </a:avLst>
          </a:prstGeom>
          <a:solidFill>
            <a:srgbClr val="1F3B57"/>
          </a:solidFill>
          <a:ln/>
        </p:spPr>
      </p:sp>
      <p:sp>
        <p:nvSpPr>
          <p:cNvPr id="8" name="Text 5"/>
          <p:cNvSpPr/>
          <p:nvPr/>
        </p:nvSpPr>
        <p:spPr>
          <a:xfrm>
            <a:off x="777240" y="6053328"/>
            <a:ext cx="10744200" cy="56692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 하나의 고정 깊이로 두 질문 유형을 동시에 만족할 수 없다 — 단, 질문 유형은 텍스트만으로 사전 판정 가능하다</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37744"/>
            <a:ext cx="9601200" cy="292608"/>
          </a:xfrm>
          <a:prstGeom prst="rect">
            <a:avLst/>
          </a:prstGeom>
          <a:noFill/>
          <a:ln/>
        </p:spPr>
        <p:txBody>
          <a:bodyPr wrap="square" lIns="0" tIns="0" rIns="0" bIns="0" rtlCol="0" anchor="ctr"/>
          <a:lstStyle/>
          <a:p>
            <a:pPr indent="0" marL="0">
              <a:buNone/>
            </a:pPr>
            <a:r>
              <a:rPr lang="en-US" sz="1150" b="1" spc="100" kern="0" dirty="0">
                <a:solidFill>
                  <a:srgbClr val="1F77B4"/>
                </a:solidFill>
                <a:latin typeface="Arial" pitchFamily="34" charset="0"/>
                <a:ea typeface="Arial" pitchFamily="34" charset="-122"/>
                <a:cs typeface="Arial" pitchFamily="34" charset="-120"/>
              </a:rPr>
              <a:t>질문 ② — 그래서 얼마나 이득인가?</a:t>
            </a:r>
            <a:endParaRPr lang="en-US" sz="1150" dirty="0"/>
          </a:p>
        </p:txBody>
      </p:sp>
      <p:sp>
        <p:nvSpPr>
          <p:cNvPr id="3" name="Shape 1"/>
          <p:cNvSpPr/>
          <p:nvPr/>
        </p:nvSpPr>
        <p:spPr>
          <a:xfrm>
            <a:off x="10565892" y="256032"/>
            <a:ext cx="1120140" cy="310896"/>
          </a:xfrm>
          <a:prstGeom prst="roundRect">
            <a:avLst>
              <a:gd name="adj" fmla="val 50000"/>
            </a:avLst>
          </a:prstGeom>
          <a:solidFill>
            <a:srgbClr val="E8890C"/>
          </a:solidFill>
          <a:ln/>
        </p:spPr>
      </p:sp>
      <p:sp>
        <p:nvSpPr>
          <p:cNvPr id="4" name="Text 2"/>
          <p:cNvSpPr/>
          <p:nvPr/>
        </p:nvSpPr>
        <p:spPr>
          <a:xfrm>
            <a:off x="10565892" y="256032"/>
            <a:ext cx="112014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oracle 조건</a:t>
            </a:r>
            <a:endParaRPr lang="en-US" sz="1050" dirty="0"/>
          </a:p>
        </p:txBody>
      </p:sp>
      <p:sp>
        <p:nvSpPr>
          <p:cNvPr id="5" name="Text 3"/>
          <p:cNvSpPr/>
          <p:nvPr/>
        </p:nvSpPr>
        <p:spPr>
          <a:xfrm>
            <a:off x="502920" y="512064"/>
            <a:ext cx="9326880" cy="731520"/>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같은 계산량을 쓰면서 배분만 바꿔도 정확도가 크게 갈린다</a:t>
            </a:r>
            <a:endParaRPr lang="en-US" sz="2200" dirty="0"/>
          </a:p>
        </p:txBody>
      </p:sp>
      <p:pic>
        <p:nvPicPr>
          <p:cNvPr id="6" name="Image 0" descr="/Users/hansangmin/Source-Depth/results/fig5_allocation_vs_uniform.png">    </p:cNvPr>
          <p:cNvPicPr>
            <a:picLocks noChangeAspect="1"/>
          </p:cNvPicPr>
          <p:nvPr/>
        </p:nvPicPr>
        <p:blipFill>
          <a:blip r:embed="rId1"/>
          <a:stretch>
            <a:fillRect/>
          </a:stretch>
        </p:blipFill>
        <p:spPr>
          <a:xfrm>
            <a:off x="548640" y="1463040"/>
            <a:ext cx="11064240" cy="3931920"/>
          </a:xfrm>
          <a:prstGeom prst="rect">
            <a:avLst/>
          </a:prstGeom>
        </p:spPr>
      </p:pic>
      <p:sp>
        <p:nvSpPr>
          <p:cNvPr id="7" name="Text 4"/>
          <p:cNvSpPr/>
          <p:nvPr/>
        </p:nvSpPr>
        <p:spPr>
          <a:xfrm>
            <a:off x="548640" y="5440680"/>
            <a:ext cx="11064240" cy="640080"/>
          </a:xfrm>
          <a:prstGeom prst="rect">
            <a:avLst/>
          </a:prstGeom>
          <a:noFill/>
          <a:ln/>
        </p:spPr>
        <p:txBody>
          <a:bodyPr wrap="square" lIns="0" tIns="0" rIns="0" bIns="0" rtlCol="0" anchor="ctr"/>
          <a:lstStyle/>
          <a:p>
            <a:pPr indent="0" marL="0">
              <a:spcAft>
                <a:spcPts val="400"/>
              </a:spcAft>
              <a:buNone/>
            </a:pPr>
            <a:r>
              <a:rPr lang="en-US" sz="1250" b="1" dirty="0">
                <a:solidFill>
                  <a:srgbClr val="1F3B57"/>
                </a:solidFill>
                <a:latin typeface="Arial" pitchFamily="34" charset="0"/>
                <a:ea typeface="Arial" pitchFamily="34" charset="-122"/>
                <a:cs typeface="Arial" pitchFamily="34" charset="-120"/>
              </a:rPr>
              <a:t>차등 배분(방해 4층 + 대상 28층)  vs  일괄 차단(둘 다 16층) — 같은 '이미지-레이어' 예산</a:t>
            </a:r>
            <a:endParaRPr lang="en-US" sz="1250" dirty="0"/>
          </a:p>
          <a:p>
            <a:pPr indent="0" marL="0">
              <a:spcAft>
                <a:spcPts val="400"/>
              </a:spcAft>
              <a:buNone/>
            </a:pPr>
            <a:r>
              <a:rPr lang="en-US" sz="1200" dirty="0">
                <a:solidFill>
                  <a:srgbClr val="6B7280"/>
                </a:solidFill>
                <a:latin typeface="Arial" pitchFamily="34" charset="0"/>
                <a:ea typeface="Arial" pitchFamily="34" charset="-122"/>
                <a:cs typeface="Arial" pitchFamily="34" charset="-120"/>
              </a:rPr>
              <a:t>3B: 50.5% 절감에서 0.837 vs 0.550 (+28.7%p)   ·   7B: 38.9% 절감에서 0.802 vs 0.715 (+8.7%p)   ·   차단 없음 기준선 0.790</a:t>
            </a:r>
            <a:endParaRPr lang="en-US" sz="1250" dirty="0"/>
          </a:p>
        </p:txBody>
      </p:sp>
      <p:sp>
        <p:nvSpPr>
          <p:cNvPr id="8" name="Shape 5"/>
          <p:cNvSpPr/>
          <p:nvPr/>
        </p:nvSpPr>
        <p:spPr>
          <a:xfrm>
            <a:off x="502920" y="6053328"/>
            <a:ext cx="11201400" cy="566928"/>
          </a:xfrm>
          <a:prstGeom prst="roundRect">
            <a:avLst>
              <a:gd name="adj" fmla="val 12903"/>
            </a:avLst>
          </a:prstGeom>
          <a:solidFill>
            <a:srgbClr val="1F3B57"/>
          </a:solidFill>
          <a:ln/>
        </p:spPr>
      </p:sp>
      <p:sp>
        <p:nvSpPr>
          <p:cNvPr id="9" name="Text 6"/>
          <p:cNvSpPr/>
          <p:nvPr/>
        </p:nvSpPr>
        <p:spPr>
          <a:xfrm>
            <a:off x="777240" y="6053328"/>
            <a:ext cx="10744200" cy="56692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 단, 이 수치는 '어느 쪽이 방해 이미지인지 아는' 조건입니다. 다음 슬라이드에서 그 조건이 실현 가능한지 봅니다</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37744"/>
            <a:ext cx="9601200" cy="292608"/>
          </a:xfrm>
          <a:prstGeom prst="rect">
            <a:avLst/>
          </a:prstGeom>
          <a:noFill/>
          <a:ln/>
        </p:spPr>
        <p:txBody>
          <a:bodyPr wrap="square" lIns="0" tIns="0" rIns="0" bIns="0" rtlCol="0" anchor="ctr"/>
          <a:lstStyle/>
          <a:p>
            <a:pPr indent="0" marL="0">
              <a:buNone/>
            </a:pPr>
            <a:r>
              <a:rPr lang="en-US" sz="1150" b="1" spc="100" kern="0" dirty="0">
                <a:solidFill>
                  <a:srgbClr val="1F77B4"/>
                </a:solidFill>
                <a:latin typeface="Arial" pitchFamily="34" charset="0"/>
                <a:ea typeface="Arial" pitchFamily="34" charset="-122"/>
                <a:cs typeface="Arial" pitchFamily="34" charset="-120"/>
              </a:rPr>
              <a:t>질문 ③ — 실제로 만들 수 있는가?</a:t>
            </a:r>
            <a:endParaRPr lang="en-US" sz="1150" dirty="0"/>
          </a:p>
        </p:txBody>
      </p:sp>
      <p:sp>
        <p:nvSpPr>
          <p:cNvPr id="3" name="Text 1"/>
          <p:cNvSpPr/>
          <p:nvPr/>
        </p:nvSpPr>
        <p:spPr>
          <a:xfrm>
            <a:off x="502920" y="512064"/>
            <a:ext cx="11155680" cy="731520"/>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판정 시점이 개입 시점보다 늦다 — 제가 시도한 신호 기준</a:t>
            </a:r>
            <a:endParaRPr lang="en-US" sz="2200" dirty="0"/>
          </a:p>
        </p:txBody>
      </p:sp>
      <p:sp>
        <p:nvSpPr>
          <p:cNvPr id="4" name="Shape 2"/>
          <p:cNvSpPr/>
          <p:nvPr/>
        </p:nvSpPr>
        <p:spPr>
          <a:xfrm>
            <a:off x="502920" y="1508760"/>
            <a:ext cx="5486400" cy="2148840"/>
          </a:xfrm>
          <a:prstGeom prst="roundRect">
            <a:avLst>
              <a:gd name="adj" fmla="val 4255"/>
            </a:avLst>
          </a:prstGeom>
          <a:solidFill>
            <a:srgbClr val="FBEAEA"/>
          </a:solidFill>
          <a:ln w="15875">
            <a:solidFill>
              <a:srgbClr val="D62728"/>
            </a:solidFill>
            <a:prstDash val="solid"/>
          </a:ln>
        </p:spPr>
      </p:sp>
      <p:sp>
        <p:nvSpPr>
          <p:cNvPr id="5" name="Text 3"/>
          <p:cNvSpPr/>
          <p:nvPr/>
        </p:nvSpPr>
        <p:spPr>
          <a:xfrm>
            <a:off x="777240" y="1645920"/>
            <a:ext cx="4937760" cy="320040"/>
          </a:xfrm>
          <a:prstGeom prst="rect">
            <a:avLst/>
          </a:prstGeom>
          <a:noFill/>
          <a:ln/>
        </p:spPr>
        <p:txBody>
          <a:bodyPr wrap="square" lIns="0" tIns="0" rIns="0" bIns="0" rtlCol="0" anchor="ctr"/>
          <a:lstStyle/>
          <a:p>
            <a:pPr indent="0" marL="0">
              <a:buNone/>
            </a:pPr>
            <a:r>
              <a:rPr lang="en-US" sz="1400" b="1" dirty="0">
                <a:solidFill>
                  <a:srgbClr val="D62728"/>
                </a:solidFill>
                <a:latin typeface="Arial" pitchFamily="34" charset="0"/>
                <a:ea typeface="Arial" pitchFamily="34" charset="-122"/>
                <a:cs typeface="Arial" pitchFamily="34" charset="-120"/>
              </a:rPr>
              <a:t>① 얕은 층 신호는 가짜였다</a:t>
            </a:r>
            <a:endParaRPr lang="en-US" sz="1400" dirty="0"/>
          </a:p>
        </p:txBody>
      </p:sp>
      <p:sp>
        <p:nvSpPr>
          <p:cNvPr id="6" name="Text 4"/>
          <p:cNvSpPr/>
          <p:nvPr/>
        </p:nvSpPr>
        <p:spPr>
          <a:xfrm>
            <a:off x="777240" y="2057400"/>
            <a:ext cx="4937760" cy="1463040"/>
          </a:xfrm>
          <a:prstGeom prst="rect">
            <a:avLst/>
          </a:prstGeom>
          <a:noFill/>
          <a:ln/>
        </p:spPr>
        <p:txBody>
          <a:bodyPr wrap="square" lIns="0" tIns="0" rIns="0" bIns="0" rtlCol="0" anchor="ctr"/>
          <a:lstStyle/>
          <a:p>
            <a:pPr indent="0" marL="0">
              <a:spcAft>
                <a:spcPts val="600"/>
              </a:spcAft>
              <a:buNone/>
            </a:pPr>
            <a:r>
              <a:rPr lang="en-US" sz="1300" dirty="0">
                <a:solidFill>
                  <a:srgbClr val="1F3B57"/>
                </a:solidFill>
                <a:latin typeface="Arial" pitchFamily="34" charset="0"/>
                <a:ea typeface="Arial" pitchFamily="34" charset="-122"/>
                <a:cs typeface="Arial" pitchFamily="34" charset="-120"/>
              </a:rPr>
              <a:t>8층에서 관련 이미지 식별 99.8%</a:t>
            </a:r>
            <a:endParaRPr lang="en-US" sz="1300" dirty="0"/>
          </a:p>
          <a:p>
            <a:pPr indent="0" marL="0">
              <a:spcAft>
                <a:spcPts val="600"/>
              </a:spcAft>
              <a:buNone/>
            </a:pPr>
            <a:r>
              <a:rPr lang="en-US" sz="1500" b="1" dirty="0">
                <a:solidFill>
                  <a:srgbClr val="D62728"/>
                </a:solidFill>
                <a:latin typeface="Arial" pitchFamily="34" charset="0"/>
                <a:ea typeface="Arial" pitchFamily="34" charset="-122"/>
                <a:cs typeface="Arial" pitchFamily="34" charset="-120"/>
              </a:rPr>
              <a:t>→ 이미지 순서를 뒤집자  0.2%</a:t>
            </a:r>
            <a:endParaRPr lang="en-US" sz="1300" dirty="0"/>
          </a:p>
          <a:p>
            <a:pPr indent="0" marL="0">
              <a:spcAft>
                <a:spcPts val="600"/>
              </a:spcAft>
              <a:buNone/>
            </a:pPr>
            <a:r>
              <a:rPr lang="en-US" sz="1150" dirty="0">
                <a:solidFill>
                  <a:srgbClr val="6B7280"/>
                </a:solidFill>
                <a:latin typeface="Arial" pitchFamily="34" charset="0"/>
                <a:ea typeface="Arial" pitchFamily="34" charset="-122"/>
                <a:cs typeface="Arial" pitchFamily="34" charset="-120"/>
              </a:rPr>
              <a:t>즉 '관련도'가 아니라 '첫 번째 이미지'를 보던 head</a:t>
            </a:r>
            <a:endParaRPr lang="en-US" sz="1300" dirty="0"/>
          </a:p>
        </p:txBody>
      </p:sp>
      <p:sp>
        <p:nvSpPr>
          <p:cNvPr id="7" name="Shape 5"/>
          <p:cNvSpPr/>
          <p:nvPr/>
        </p:nvSpPr>
        <p:spPr>
          <a:xfrm>
            <a:off x="6217920" y="1508760"/>
            <a:ext cx="5486400" cy="2148840"/>
          </a:xfrm>
          <a:prstGeom prst="roundRect">
            <a:avLst>
              <a:gd name="adj" fmla="val 4255"/>
            </a:avLst>
          </a:prstGeom>
          <a:solidFill>
            <a:srgbClr val="FDF3E3"/>
          </a:solidFill>
          <a:ln w="15875">
            <a:solidFill>
              <a:srgbClr val="E8890C"/>
            </a:solidFill>
            <a:prstDash val="solid"/>
          </a:ln>
        </p:spPr>
      </p:sp>
      <p:sp>
        <p:nvSpPr>
          <p:cNvPr id="8" name="Text 6"/>
          <p:cNvSpPr/>
          <p:nvPr/>
        </p:nvSpPr>
        <p:spPr>
          <a:xfrm>
            <a:off x="6492240" y="1645920"/>
            <a:ext cx="4937760" cy="320040"/>
          </a:xfrm>
          <a:prstGeom prst="rect">
            <a:avLst/>
          </a:prstGeom>
          <a:noFill/>
          <a:ln/>
        </p:spPr>
        <p:txBody>
          <a:bodyPr wrap="square" lIns="0" tIns="0" rIns="0" bIns="0" rtlCol="0" anchor="ctr"/>
          <a:lstStyle/>
          <a:p>
            <a:pPr indent="0" marL="0">
              <a:buNone/>
            </a:pPr>
            <a:r>
              <a:rPr lang="en-US" sz="1400" b="1" dirty="0">
                <a:solidFill>
                  <a:srgbClr val="E8890C"/>
                </a:solidFill>
                <a:latin typeface="Arial" pitchFamily="34" charset="0"/>
                <a:ea typeface="Arial" pitchFamily="34" charset="-122"/>
                <a:cs typeface="Arial" pitchFamily="34" charset="-120"/>
              </a:rPr>
              <a:t>② 진짜 신호는 훨씬 깊은 곳에</a:t>
            </a:r>
            <a:endParaRPr lang="en-US" sz="1400" dirty="0"/>
          </a:p>
        </p:txBody>
      </p:sp>
      <p:sp>
        <p:nvSpPr>
          <p:cNvPr id="9" name="Text 7"/>
          <p:cNvSpPr/>
          <p:nvPr/>
        </p:nvSpPr>
        <p:spPr>
          <a:xfrm>
            <a:off x="6492240" y="2057400"/>
            <a:ext cx="4937760" cy="1463040"/>
          </a:xfrm>
          <a:prstGeom prst="rect">
            <a:avLst/>
          </a:prstGeom>
          <a:noFill/>
          <a:ln/>
        </p:spPr>
        <p:txBody>
          <a:bodyPr wrap="square" lIns="0" tIns="0" rIns="0" bIns="0" rtlCol="0" anchor="ctr"/>
          <a:lstStyle/>
          <a:p>
            <a:pPr indent="0" marL="0">
              <a:spcAft>
                <a:spcPts val="600"/>
              </a:spcAft>
              <a:buNone/>
            </a:pPr>
            <a:r>
              <a:rPr lang="en-US" sz="1200" dirty="0">
                <a:solidFill>
                  <a:srgbClr val="6B7280"/>
                </a:solidFill>
                <a:latin typeface="Arial" pitchFamily="34" charset="0"/>
                <a:ea typeface="Arial" pitchFamily="34" charset="-122"/>
                <a:cs typeface="Arial" pitchFamily="34" charset="-120"/>
              </a:rPr>
              <a:t>순서를 뒤집어도 맞는 head를 전수 탐색</a:t>
            </a:r>
            <a:endParaRPr lang="en-US" sz="1200" dirty="0"/>
          </a:p>
          <a:p>
            <a:pPr indent="0" marL="0">
              <a:spcAft>
                <a:spcPts val="600"/>
              </a:spcAft>
              <a:buNone/>
            </a:pPr>
            <a:r>
              <a:rPr lang="en-US" sz="1250" dirty="0">
                <a:solidFill>
                  <a:srgbClr val="1F3B57"/>
                </a:solidFill>
                <a:latin typeface="Arial" pitchFamily="34" charset="0"/>
                <a:ea typeface="Arial" pitchFamily="34" charset="-122"/>
                <a:cs typeface="Arial" pitchFamily="34" charset="-120"/>
              </a:rPr>
              <a:t>얕은 층(2~16): 0.31~0.51 = 무작위</a:t>
            </a:r>
            <a:endParaRPr lang="en-US" sz="1200" dirty="0"/>
          </a:p>
          <a:p>
            <a:pPr indent="0" marL="0">
              <a:spcAft>
                <a:spcPts val="600"/>
              </a:spcAft>
              <a:buNone/>
            </a:pPr>
            <a:r>
              <a:rPr lang="en-US" sz="1400" b="1" dirty="0">
                <a:solidFill>
                  <a:srgbClr val="E8890C"/>
                </a:solidFill>
                <a:latin typeface="Arial" pitchFamily="34" charset="0"/>
                <a:ea typeface="Arial" pitchFamily="34" charset="-122"/>
                <a:cs typeface="Arial" pitchFamily="34" charset="-120"/>
              </a:rPr>
              <a:t>22층: 0.882  ← 여기서 처음 신뢰 가능</a:t>
            </a:r>
            <a:endParaRPr lang="en-US" sz="1200" dirty="0"/>
          </a:p>
        </p:txBody>
      </p:sp>
      <p:sp>
        <p:nvSpPr>
          <p:cNvPr id="10" name="Shape 8"/>
          <p:cNvSpPr/>
          <p:nvPr/>
        </p:nvSpPr>
        <p:spPr>
          <a:xfrm>
            <a:off x="502920" y="3840480"/>
            <a:ext cx="11201400" cy="1234440"/>
          </a:xfrm>
          <a:prstGeom prst="roundRect">
            <a:avLst>
              <a:gd name="adj" fmla="val 7407"/>
            </a:avLst>
          </a:prstGeom>
          <a:solidFill>
            <a:srgbClr val="EFF4F9"/>
          </a:solidFill>
          <a:ln w="12700">
            <a:solidFill>
              <a:srgbClr val="D5DEE8"/>
            </a:solidFill>
            <a:prstDash val="solid"/>
          </a:ln>
        </p:spPr>
      </p:sp>
      <p:sp>
        <p:nvSpPr>
          <p:cNvPr id="11" name="Text 9"/>
          <p:cNvSpPr/>
          <p:nvPr/>
        </p:nvSpPr>
        <p:spPr>
          <a:xfrm>
            <a:off x="777240" y="3950208"/>
            <a:ext cx="4572000" cy="320040"/>
          </a:xfrm>
          <a:prstGeom prst="rect">
            <a:avLst/>
          </a:prstGeom>
          <a:noFill/>
          <a:ln/>
        </p:spPr>
        <p:txBody>
          <a:bodyPr wrap="square" lIns="0" tIns="0" rIns="0" bIns="0" rtlCol="0" anchor="ctr"/>
          <a:lstStyle/>
          <a:p>
            <a:pPr indent="0" marL="0">
              <a:buNone/>
            </a:pPr>
            <a:r>
              <a:rPr lang="en-US" sz="1400" b="1" dirty="0">
                <a:solidFill>
                  <a:srgbClr val="1F3B57"/>
                </a:solidFill>
                <a:latin typeface="Arial" pitchFamily="34" charset="0"/>
                <a:ea typeface="Arial" pitchFamily="34" charset="-122"/>
                <a:cs typeface="Arial" pitchFamily="34" charset="-120"/>
              </a:rPr>
              <a:t>③ 그래서 시간 역전이 생긴다</a:t>
            </a:r>
            <a:endParaRPr lang="en-US" sz="1400" dirty="0"/>
          </a:p>
        </p:txBody>
      </p:sp>
      <p:sp>
        <p:nvSpPr>
          <p:cNvPr id="12" name="Shape 10"/>
          <p:cNvSpPr/>
          <p:nvPr/>
        </p:nvSpPr>
        <p:spPr>
          <a:xfrm>
            <a:off x="914400" y="4709160"/>
            <a:ext cx="7863840" cy="0"/>
          </a:xfrm>
          <a:prstGeom prst="line">
            <a:avLst/>
          </a:prstGeom>
          <a:noFill/>
          <a:ln w="25400">
            <a:solidFill>
              <a:srgbClr val="1F3B57"/>
            </a:solidFill>
            <a:prstDash val="solid"/>
          </a:ln>
        </p:spPr>
      </p:sp>
      <p:sp>
        <p:nvSpPr>
          <p:cNvPr id="13" name="Shape 11"/>
          <p:cNvSpPr/>
          <p:nvPr/>
        </p:nvSpPr>
        <p:spPr>
          <a:xfrm>
            <a:off x="850392" y="4645152"/>
            <a:ext cx="128016" cy="128016"/>
          </a:xfrm>
          <a:prstGeom prst="ellipse">
            <a:avLst/>
          </a:prstGeom>
          <a:solidFill>
            <a:srgbClr val="6B7280"/>
          </a:solidFill>
          <a:ln/>
        </p:spPr>
      </p:sp>
      <p:sp>
        <p:nvSpPr>
          <p:cNvPr id="14" name="Text 12"/>
          <p:cNvSpPr/>
          <p:nvPr/>
        </p:nvSpPr>
        <p:spPr>
          <a:xfrm>
            <a:off x="91440" y="4224528"/>
            <a:ext cx="1645920" cy="457200"/>
          </a:xfrm>
          <a:prstGeom prst="rect">
            <a:avLst/>
          </a:prstGeom>
          <a:noFill/>
          <a:ln/>
        </p:spPr>
        <p:txBody>
          <a:bodyPr wrap="square" lIns="0" tIns="0" rIns="0" bIns="0" rtlCol="0" anchor="ctr"/>
          <a:lstStyle/>
          <a:p>
            <a:pPr algn="ctr" indent="0" marL="0">
              <a:buNone/>
            </a:pPr>
            <a:r>
              <a:rPr lang="en-US" sz="1050" b="1" dirty="0">
                <a:solidFill>
                  <a:srgbClr val="6B7280"/>
                </a:solidFill>
                <a:latin typeface="Arial" pitchFamily="34" charset="0"/>
                <a:ea typeface="Arial" pitchFamily="34" charset="-122"/>
                <a:cs typeface="Arial" pitchFamily="34" charset="-120"/>
              </a:rPr>
              <a:t>0층</a:t>
            </a:r>
            <a:endParaRPr lang="en-US" sz="1050" dirty="0"/>
          </a:p>
        </p:txBody>
      </p:sp>
      <p:sp>
        <p:nvSpPr>
          <p:cNvPr id="15" name="Shape 13"/>
          <p:cNvSpPr/>
          <p:nvPr/>
        </p:nvSpPr>
        <p:spPr>
          <a:xfrm>
            <a:off x="3867912" y="4645152"/>
            <a:ext cx="128016" cy="128016"/>
          </a:xfrm>
          <a:prstGeom prst="ellipse">
            <a:avLst/>
          </a:prstGeom>
          <a:solidFill>
            <a:srgbClr val="1F77B4"/>
          </a:solidFill>
          <a:ln/>
        </p:spPr>
      </p:sp>
      <p:sp>
        <p:nvSpPr>
          <p:cNvPr id="16" name="Text 14"/>
          <p:cNvSpPr/>
          <p:nvPr/>
        </p:nvSpPr>
        <p:spPr>
          <a:xfrm>
            <a:off x="3108960" y="4224528"/>
            <a:ext cx="1645920" cy="457200"/>
          </a:xfrm>
          <a:prstGeom prst="rect">
            <a:avLst/>
          </a:prstGeom>
          <a:noFill/>
          <a:ln/>
        </p:spPr>
        <p:txBody>
          <a:bodyPr wrap="square" lIns="0" tIns="0" rIns="0" bIns="0" rtlCol="0" anchor="ctr"/>
          <a:lstStyle/>
          <a:p>
            <a:pPr algn="ctr" indent="0" marL="0">
              <a:buNone/>
            </a:pPr>
            <a:r>
              <a:rPr lang="en-US" sz="1050" b="1" dirty="0">
                <a:solidFill>
                  <a:srgbClr val="1F77B4"/>
                </a:solidFill>
                <a:latin typeface="Arial" pitchFamily="34" charset="0"/>
                <a:ea typeface="Arial" pitchFamily="34" charset="-122"/>
                <a:cs typeface="Arial" pitchFamily="34" charset="-120"/>
              </a:rPr>
              <a:t>16층</a:t>
            </a:r>
            <a:endParaRPr lang="en-US" sz="1050" dirty="0"/>
          </a:p>
          <a:p>
            <a:pPr algn="ctr" indent="0" marL="0">
              <a:buNone/>
            </a:pPr>
            <a:r>
              <a:rPr lang="en-US" sz="1050" b="1" dirty="0">
                <a:solidFill>
                  <a:srgbClr val="1F77B4"/>
                </a:solidFill>
                <a:latin typeface="Arial" pitchFamily="34" charset="0"/>
                <a:ea typeface="Arial" pitchFamily="34" charset="-122"/>
                <a:cs typeface="Arial" pitchFamily="34" charset="-120"/>
              </a:rPr>
              <a:t>개입 유효 한계</a:t>
            </a:r>
            <a:endParaRPr lang="en-US" sz="1050" dirty="0"/>
          </a:p>
        </p:txBody>
      </p:sp>
      <p:sp>
        <p:nvSpPr>
          <p:cNvPr id="17" name="Shape 15"/>
          <p:cNvSpPr/>
          <p:nvPr/>
        </p:nvSpPr>
        <p:spPr>
          <a:xfrm>
            <a:off x="5971032" y="4645152"/>
            <a:ext cx="128016" cy="128016"/>
          </a:xfrm>
          <a:prstGeom prst="ellipse">
            <a:avLst/>
          </a:prstGeom>
          <a:solidFill>
            <a:srgbClr val="E8890C"/>
          </a:solidFill>
          <a:ln/>
        </p:spPr>
      </p:sp>
      <p:sp>
        <p:nvSpPr>
          <p:cNvPr id="18" name="Text 16"/>
          <p:cNvSpPr/>
          <p:nvPr/>
        </p:nvSpPr>
        <p:spPr>
          <a:xfrm>
            <a:off x="5212080" y="4224528"/>
            <a:ext cx="1645920" cy="457200"/>
          </a:xfrm>
          <a:prstGeom prst="rect">
            <a:avLst/>
          </a:prstGeom>
          <a:noFill/>
          <a:ln/>
        </p:spPr>
        <p:txBody>
          <a:bodyPr wrap="square" lIns="0" tIns="0" rIns="0" bIns="0" rtlCol="0" anchor="ctr"/>
          <a:lstStyle/>
          <a:p>
            <a:pPr algn="ctr" indent="0" marL="0">
              <a:buNone/>
            </a:pPr>
            <a:r>
              <a:rPr lang="en-US" sz="1050" b="1" dirty="0">
                <a:solidFill>
                  <a:srgbClr val="E8890C"/>
                </a:solidFill>
                <a:latin typeface="Arial" pitchFamily="34" charset="0"/>
                <a:ea typeface="Arial" pitchFamily="34" charset="-122"/>
                <a:cs typeface="Arial" pitchFamily="34" charset="-120"/>
              </a:rPr>
              <a:t>22층</a:t>
            </a:r>
            <a:endParaRPr lang="en-US" sz="1050" dirty="0"/>
          </a:p>
          <a:p>
            <a:pPr algn="ctr" indent="0" marL="0">
              <a:buNone/>
            </a:pPr>
            <a:r>
              <a:rPr lang="en-US" sz="1050" b="1" dirty="0">
                <a:solidFill>
                  <a:srgbClr val="E8890C"/>
                </a:solidFill>
                <a:latin typeface="Arial" pitchFamily="34" charset="0"/>
                <a:ea typeface="Arial" pitchFamily="34" charset="-122"/>
                <a:cs typeface="Arial" pitchFamily="34" charset="-120"/>
              </a:rPr>
              <a:t>판정 가능 시작</a:t>
            </a:r>
            <a:endParaRPr lang="en-US" sz="1050" dirty="0"/>
          </a:p>
        </p:txBody>
      </p:sp>
      <p:sp>
        <p:nvSpPr>
          <p:cNvPr id="19" name="Shape 17"/>
          <p:cNvSpPr/>
          <p:nvPr/>
        </p:nvSpPr>
        <p:spPr>
          <a:xfrm>
            <a:off x="8531352" y="4645152"/>
            <a:ext cx="128016" cy="128016"/>
          </a:xfrm>
          <a:prstGeom prst="ellipse">
            <a:avLst/>
          </a:prstGeom>
          <a:solidFill>
            <a:srgbClr val="6B7280"/>
          </a:solidFill>
          <a:ln/>
        </p:spPr>
      </p:sp>
      <p:sp>
        <p:nvSpPr>
          <p:cNvPr id="20" name="Text 18"/>
          <p:cNvSpPr/>
          <p:nvPr/>
        </p:nvSpPr>
        <p:spPr>
          <a:xfrm>
            <a:off x="7772400" y="4224528"/>
            <a:ext cx="1645920" cy="457200"/>
          </a:xfrm>
          <a:prstGeom prst="rect">
            <a:avLst/>
          </a:prstGeom>
          <a:noFill/>
          <a:ln/>
        </p:spPr>
        <p:txBody>
          <a:bodyPr wrap="square" lIns="0" tIns="0" rIns="0" bIns="0" rtlCol="0" anchor="ctr"/>
          <a:lstStyle/>
          <a:p>
            <a:pPr algn="ctr" indent="0" marL="0">
              <a:buNone/>
            </a:pPr>
            <a:r>
              <a:rPr lang="en-US" sz="1050" b="1" dirty="0">
                <a:solidFill>
                  <a:srgbClr val="6B7280"/>
                </a:solidFill>
                <a:latin typeface="Arial" pitchFamily="34" charset="0"/>
                <a:ea typeface="Arial" pitchFamily="34" charset="-122"/>
                <a:cs typeface="Arial" pitchFamily="34" charset="-120"/>
              </a:rPr>
              <a:t>36층</a:t>
            </a:r>
            <a:endParaRPr lang="en-US" sz="1050" dirty="0"/>
          </a:p>
        </p:txBody>
      </p:sp>
      <p:sp>
        <p:nvSpPr>
          <p:cNvPr id="21" name="Text 19"/>
          <p:cNvSpPr/>
          <p:nvPr/>
        </p:nvSpPr>
        <p:spPr>
          <a:xfrm>
            <a:off x="9144000" y="4023360"/>
            <a:ext cx="2468880" cy="914400"/>
          </a:xfrm>
          <a:prstGeom prst="rect">
            <a:avLst/>
          </a:prstGeom>
          <a:noFill/>
          <a:ln/>
        </p:spPr>
        <p:txBody>
          <a:bodyPr wrap="square" lIns="0" tIns="0" rIns="0" bIns="0" rtlCol="0" anchor="ctr"/>
          <a:lstStyle/>
          <a:p>
            <a:pPr indent="0" marL="0">
              <a:buNone/>
            </a:pPr>
            <a:r>
              <a:rPr lang="en-US" sz="1200" b="1" dirty="0">
                <a:solidFill>
                  <a:srgbClr val="D62728"/>
                </a:solidFill>
                <a:latin typeface="Arial" pitchFamily="34" charset="0"/>
                <a:ea typeface="Arial" pitchFamily="34" charset="-122"/>
                <a:cs typeface="Arial" pitchFamily="34" charset="-120"/>
              </a:rPr>
              <a:t>판정 가능 시점 &gt; 개입 유효 시점</a:t>
            </a:r>
            <a:endParaRPr lang="en-US" sz="1200" dirty="0"/>
          </a:p>
          <a:p>
            <a:pPr indent="0" marL="0">
              <a:buNone/>
            </a:pPr>
            <a:r>
              <a:rPr lang="en-US" sz="1200" b="1" dirty="0">
                <a:solidFill>
                  <a:srgbClr val="D62728"/>
                </a:solidFill>
                <a:latin typeface="Arial" pitchFamily="34" charset="0"/>
                <a:ea typeface="Arial" pitchFamily="34" charset="-122"/>
                <a:cs typeface="Arial" pitchFamily="34" charset="-120"/>
              </a:rPr>
              <a:t>= 이 계열 방법의 구조적 상한</a:t>
            </a:r>
            <a:endParaRPr lang="en-US" sz="1200" dirty="0"/>
          </a:p>
        </p:txBody>
      </p:sp>
      <p:sp>
        <p:nvSpPr>
          <p:cNvPr id="22" name="Shape 20"/>
          <p:cNvSpPr/>
          <p:nvPr/>
        </p:nvSpPr>
        <p:spPr>
          <a:xfrm>
            <a:off x="502920" y="5212080"/>
            <a:ext cx="11201400" cy="713232"/>
          </a:xfrm>
          <a:prstGeom prst="roundRect">
            <a:avLst>
              <a:gd name="adj" fmla="val 10256"/>
            </a:avLst>
          </a:prstGeom>
          <a:solidFill>
            <a:srgbClr val="FBEAEA"/>
          </a:solidFill>
          <a:ln w="15875">
            <a:solidFill>
              <a:srgbClr val="D62728"/>
            </a:solidFill>
            <a:prstDash val="solid"/>
          </a:ln>
        </p:spPr>
      </p:sp>
      <p:sp>
        <p:nvSpPr>
          <p:cNvPr id="23" name="Text 21"/>
          <p:cNvSpPr/>
          <p:nvPr/>
        </p:nvSpPr>
        <p:spPr>
          <a:xfrm>
            <a:off x="777240" y="5212080"/>
            <a:ext cx="10698480" cy="713232"/>
          </a:xfrm>
          <a:prstGeom prst="rect">
            <a:avLst/>
          </a:prstGeom>
          <a:noFill/>
          <a:ln/>
        </p:spPr>
        <p:txBody>
          <a:bodyPr wrap="square" lIns="0" tIns="0" rIns="0" bIns="0" rtlCol="0" anchor="ctr"/>
          <a:lstStyle/>
          <a:p>
            <a:pPr indent="0" marL="0">
              <a:buNone/>
            </a:pPr>
            <a:r>
              <a:rPr lang="en-US" sz="1250" b="1" dirty="0">
                <a:solidFill>
                  <a:srgbClr val="D62728"/>
                </a:solidFill>
                <a:latin typeface="Arial" pitchFamily="34" charset="0"/>
                <a:ea typeface="Arial" pitchFamily="34" charset="-122"/>
                <a:cs typeface="Arial" pitchFamily="34" charset="-120"/>
              </a:rPr>
              <a:t>실제 컨트롤러를 끼우면:  0.882 × 0.812 + 0.118 × 0.50 = 0.775   vs   차단 없음 0.790   →  −1.5%p (이득이 아니라 손실)</a:t>
            </a:r>
            <a:endParaRPr lang="en-US" sz="1250" dirty="0"/>
          </a:p>
        </p:txBody>
      </p:sp>
      <p:sp>
        <p:nvSpPr>
          <p:cNvPr id="24" name="Shape 22"/>
          <p:cNvSpPr/>
          <p:nvPr/>
        </p:nvSpPr>
        <p:spPr>
          <a:xfrm>
            <a:off x="502920" y="6053328"/>
            <a:ext cx="11201400" cy="566928"/>
          </a:xfrm>
          <a:prstGeom prst="roundRect">
            <a:avLst>
              <a:gd name="adj" fmla="val 12903"/>
            </a:avLst>
          </a:prstGeom>
          <a:solidFill>
            <a:srgbClr val="1F3B57"/>
          </a:solidFill>
          <a:ln/>
        </p:spPr>
      </p:sp>
      <p:sp>
        <p:nvSpPr>
          <p:cNvPr id="25" name="Text 23"/>
          <p:cNvSpPr/>
          <p:nvPr/>
        </p:nvSpPr>
        <p:spPr>
          <a:xfrm>
            <a:off x="777240" y="6053328"/>
            <a:ext cx="10744200" cy="56692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 단, 이것은 'training-free + 마지막 토큰 attention' 조건에서의 결론입니다. vision feature/hidden state/학습된 router는 아직 시도하지 않았습니다. // 그러나 '왜 만들 수 없는지'가 이 계열 전체에 적용되는 제약이다</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37744"/>
            <a:ext cx="9601200" cy="292608"/>
          </a:xfrm>
          <a:prstGeom prst="rect">
            <a:avLst/>
          </a:prstGeom>
          <a:noFill/>
          <a:ln/>
        </p:spPr>
        <p:txBody>
          <a:bodyPr wrap="square" lIns="0" tIns="0" rIns="0" bIns="0" rtlCol="0" anchor="ctr"/>
          <a:lstStyle/>
          <a:p>
            <a:pPr indent="0" marL="0">
              <a:buNone/>
            </a:pPr>
            <a:r>
              <a:rPr lang="en-US" sz="1150" b="1" spc="100" kern="0" dirty="0">
                <a:solidFill>
                  <a:srgbClr val="1F77B4"/>
                </a:solidFill>
                <a:latin typeface="Arial" pitchFamily="34" charset="0"/>
                <a:ea typeface="Arial" pitchFamily="34" charset="-122"/>
                <a:cs typeface="Arial" pitchFamily="34" charset="-120"/>
              </a:rPr>
              <a:t>예상 질문 — "이미 있는 연구 아닌가요?"</a:t>
            </a:r>
            <a:endParaRPr lang="en-US" sz="1150" dirty="0"/>
          </a:p>
        </p:txBody>
      </p:sp>
      <p:sp>
        <p:nvSpPr>
          <p:cNvPr id="3" name="Text 1"/>
          <p:cNvSpPr/>
          <p:nvPr/>
        </p:nvSpPr>
        <p:spPr>
          <a:xfrm>
            <a:off x="502920" y="512064"/>
            <a:ext cx="11155680" cy="731520"/>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인접 논문 12편의 원문을 전부 확인했다 — "이미지별로 깊이를 다르게"는 빈칸이다</a:t>
            </a:r>
            <a:endParaRPr lang="en-US" sz="2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11201400" cy="914400"/>
        </p:xfrm>
        <a:graphic>
          <a:graphicData uri="http://schemas.openxmlformats.org/drawingml/2006/table">
            <a:tbl>
              <a:tblPr/>
              <a:tblGrid>
                <a:gridCol w="2800350"/>
                <a:gridCol w="2800350"/>
                <a:gridCol w="2800350"/>
                <a:gridCol w="2800350"/>
              </a:tblGrid>
              <a:tr h="457200">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무엇을 위해 ＼ 어떤 단위로</a:t>
                      </a:r>
                      <a:endParaRPr lang="en-US" sz="11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F3B57"/>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모든 이미지에 똑같이</a:t>
                      </a:r>
                      <a:endParaRPr lang="en-US" sz="11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F3B57"/>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토큰(조각) 단위</a:t>
                      </a:r>
                      <a:endParaRPr lang="en-US" sz="11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F3B57"/>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이미지 단위</a:t>
                      </a:r>
                      <a:endParaRPr lang="en-US" sz="11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F3B57"/>
                    </a:solidFill>
                  </a:tcPr>
                </a:tc>
              </a:tr>
              <a:tr h="868680">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계산 절약만</a:t>
                      </a:r>
                      <a:endParaRPr lang="en-US" sz="11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F3B57"/>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VTW (AAAI'25)</a:t>
                      </a:r>
                      <a:endParaRPr lang="en-US" sz="1100" dirty="0">
                        <a:latin typeface="Arial" charset="0"/>
                        <a:ea typeface="Arial" charset="0"/>
                        <a:cs typeface="Arial" charset="0"/>
                      </a:endParaRPr>
                    </a:p>
                    <a:p>
                      <a:pPr algn="ctr" indent="0" marL="0">
                        <a:buNone/>
                      </a:pPr>
                      <a:r>
                        <a:rPr lang="en-US" sz="1100" dirty="0">
                          <a:solidFill>
                            <a:srgbClr val="1F3B57"/>
                          </a:solidFill>
                          <a:latin typeface="Arial" pitchFamily="34" charset="0"/>
                          <a:ea typeface="Arial" pitchFamily="34" charset="-122"/>
                          <a:cs typeface="Arial" pitchFamily="34" charset="-120"/>
                        </a:rPr>
                        <a:t>ShortV (ICCV'25)</a:t>
                      </a:r>
                      <a:endParaRPr lang="en-US" sz="11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FastV 계열</a:t>
                      </a:r>
                      <a:endParaRPr lang="en-US" sz="11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MVPruner (ECCV'26)</a:t>
                      </a:r>
                      <a:endParaRPr lang="en-US" sz="1100" dirty="0">
                        <a:latin typeface="Arial" charset="0"/>
                        <a:ea typeface="Arial" charset="0"/>
                        <a:cs typeface="Arial" charset="0"/>
                      </a:endParaRPr>
                    </a:p>
                    <a:p>
                      <a:pPr algn="ctr" indent="0" marL="0">
                        <a:buNone/>
                      </a:pPr>
                      <a:r>
                        <a:rPr lang="en-US" sz="1100" dirty="0">
                          <a:solidFill>
                            <a:srgbClr val="1F3B57"/>
                          </a:solidFill>
                          <a:latin typeface="Arial" pitchFamily="34" charset="0"/>
                          <a:ea typeface="Arial" pitchFamily="34" charset="-122"/>
                          <a:cs typeface="Arial" pitchFamily="34" charset="-120"/>
                        </a:rPr>
                        <a:t>— 단, '토큰 개수'만 조절</a:t>
                      </a:r>
                      <a:endParaRPr lang="en-US" sz="11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r>
              <a:tr h="868680">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환각(출처) 개선</a:t>
                      </a:r>
                      <a:endParaRPr lang="en-US" sz="11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F3B57"/>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RSCD · FOCUS</a:t>
                      </a:r>
                      <a:endParaRPr lang="en-US" sz="1100" dirty="0">
                        <a:latin typeface="Arial" charset="0"/>
                        <a:ea typeface="Arial" charset="0"/>
                        <a:cs typeface="Arial" charset="0"/>
                      </a:endParaRPr>
                    </a:p>
                    <a:p>
                      <a:pPr algn="ctr" indent="0" marL="0">
                        <a:buNone/>
                      </a:pPr>
                      <a:r>
                        <a:rPr lang="en-US" sz="1100" dirty="0">
                          <a:solidFill>
                            <a:srgbClr val="1F3B57"/>
                          </a:solidFill>
                          <a:latin typeface="Arial" pitchFamily="34" charset="0"/>
                          <a:ea typeface="Arial" pitchFamily="34" charset="-122"/>
                          <a:cs typeface="Arial" pitchFamily="34" charset="-120"/>
                        </a:rPr>
                        <a:t>Delimiter (ICLR'26)</a:t>
                      </a:r>
                      <a:endParaRPr lang="en-US" sz="11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PruneHal (철회)</a:t>
                      </a:r>
                      <a:endParaRPr lang="en-US" sz="11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4F6"/>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 이 연구</a:t>
                      </a:r>
                      <a:endParaRPr lang="en-US" sz="1250" dirty="0">
                        <a:latin typeface="Arial" charset="0"/>
                        <a:ea typeface="Arial" charset="0"/>
                        <a:cs typeface="Arial" charset="0"/>
                      </a:endParaRPr>
                    </a:p>
                    <a:p>
                      <a:pPr algn="ctr" indent="0" marL="0">
                        <a:buNone/>
                      </a:pPr>
                      <a:r>
                        <a:rPr lang="en-US" sz="1250" b="1" dirty="0">
                          <a:solidFill>
                            <a:srgbClr val="FFFFFF"/>
                          </a:solidFill>
                          <a:latin typeface="Arial" pitchFamily="34" charset="0"/>
                          <a:ea typeface="Arial" pitchFamily="34" charset="-122"/>
                          <a:cs typeface="Arial" pitchFamily="34" charset="-120"/>
                        </a:rPr>
                        <a:t>'계산 깊이'를 조절</a:t>
                      </a:r>
                      <a:endParaRPr lang="en-US" sz="12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62728"/>
                    </a:solidFill>
                  </a:tcPr>
                </a:tc>
              </a:tr>
            </a:tbl>
          </a:graphicData>
        </a:graphic>
      </p:graphicFrame>
      <p:sp>
        <p:nvSpPr>
          <p:cNvPr id="5" name="Text 2"/>
          <p:cNvSpPr/>
          <p:nvPr/>
        </p:nvSpPr>
        <p:spPr>
          <a:xfrm>
            <a:off x="502920" y="4572000"/>
            <a:ext cx="11201400" cy="118872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F3B57"/>
                </a:solidFill>
                <a:latin typeface="Arial" pitchFamily="34" charset="0"/>
                <a:ea typeface="Arial" pitchFamily="34" charset="-122"/>
                <a:cs typeface="Arial" pitchFamily="34" charset="-120"/>
              </a:rPr>
              <a:t>가장 가까운 MVPruner(ECCV'26)도 이미지별로 '토큰 개수'를 조절할 뿐 — 모든 이미지가 끝까지 계산되고, 환각 문제는 다루지 않음</a:t>
            </a:r>
            <a:endParaRPr lang="en-US" sz="1250" dirty="0"/>
          </a:p>
          <a:p>
            <a:pPr marL="342900" indent="-342900">
              <a:spcAft>
                <a:spcPts val="800"/>
              </a:spcAft>
              <a:buSzPct val="100000"/>
              <a:buChar char="•"/>
            </a:pPr>
            <a:r>
              <a:rPr lang="en-US" sz="1250" dirty="0">
                <a:solidFill>
                  <a:srgbClr val="1F3B57"/>
                </a:solidFill>
                <a:latin typeface="Arial" pitchFamily="34" charset="0"/>
                <a:ea typeface="Arial" pitchFamily="34" charset="-122"/>
                <a:cs typeface="Arial" pitchFamily="34" charset="-120"/>
              </a:rPr>
              <a:t>'깊이 절감'과 '환각 완화'는 각각 존재하지만, FastV류는 얕은 층 attention으로 자르는데 그 신호가 위치 편향임이 토큰 단위로 보고됨(Feather the Throttle, ICCV'25) - 우리는 이미지 단위로 확인. 그리고 최근 연구가 layer 12~23에서 cross-image attention을 일괄 차단해 LLaVA-OV 7B 54.0-&gt;63.8을 얻음(컨트롤러 없이). 우리 차별점은 방법이 아니라 '왜 그 구간인가'의 규명 — 넓은 주장은 버리고 이 칸만 주장</a:t>
            </a:r>
            <a:endParaRPr lang="en-US" sz="1250" dirty="0"/>
          </a:p>
        </p:txBody>
      </p:sp>
      <p:sp>
        <p:nvSpPr>
          <p:cNvPr id="6" name="Shape 3"/>
          <p:cNvSpPr/>
          <p:nvPr/>
        </p:nvSpPr>
        <p:spPr>
          <a:xfrm>
            <a:off x="502920" y="6053328"/>
            <a:ext cx="11201400" cy="566928"/>
          </a:xfrm>
          <a:prstGeom prst="roundRect">
            <a:avLst>
              <a:gd name="adj" fmla="val 12903"/>
            </a:avLst>
          </a:prstGeom>
          <a:solidFill>
            <a:srgbClr val="1F3B57"/>
          </a:solidFill>
          <a:ln/>
        </p:spPr>
      </p:sp>
      <p:sp>
        <p:nvSpPr>
          <p:cNvPr id="7" name="Text 4"/>
          <p:cNvSpPr/>
          <p:nvPr/>
        </p:nvSpPr>
        <p:spPr>
          <a:xfrm>
            <a:off x="777240" y="6053328"/>
            <a:ext cx="10744200" cy="56692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 단, '기존 연구의 조합'으로 보이지 않으려면 남은 관문(이미지별 차등 배분의 이득)을 실증해야 한다 — 그것이 다음 단계다</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37744"/>
            <a:ext cx="9601200" cy="292608"/>
          </a:xfrm>
          <a:prstGeom prst="rect">
            <a:avLst/>
          </a:prstGeom>
          <a:noFill/>
          <a:ln/>
        </p:spPr>
        <p:txBody>
          <a:bodyPr wrap="square" lIns="0" tIns="0" rIns="0" bIns="0" rtlCol="0" anchor="ctr"/>
          <a:lstStyle/>
          <a:p>
            <a:pPr indent="0" marL="0">
              <a:buNone/>
            </a:pPr>
            <a:r>
              <a:rPr lang="en-US" sz="1150" b="1" spc="100" kern="0" dirty="0">
                <a:solidFill>
                  <a:srgbClr val="1F77B4"/>
                </a:solidFill>
                <a:latin typeface="Arial" pitchFamily="34" charset="0"/>
                <a:ea typeface="Arial" pitchFamily="34" charset="-122"/>
                <a:cs typeface="Arial" pitchFamily="34" charset="-120"/>
              </a:rPr>
              <a:t>그러면 이 방향은 이미 누가 했나?</a:t>
            </a:r>
            <a:endParaRPr lang="en-US" sz="1150" dirty="0"/>
          </a:p>
        </p:txBody>
      </p:sp>
      <p:sp>
        <p:nvSpPr>
          <p:cNvPr id="3" name="Text 1"/>
          <p:cNvSpPr/>
          <p:nvPr/>
        </p:nvSpPr>
        <p:spPr>
          <a:xfrm>
            <a:off x="502920" y="512064"/>
            <a:ext cx="11155680" cy="731520"/>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가장 가까운 연구(2026.01)를 원문 대조 — 겹치는 부분이 생각보다 적었다</a:t>
            </a:r>
            <a:endParaRPr lang="en-US" sz="2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11201400" cy="914400"/>
        </p:xfrm>
        <a:graphic>
          <a:graphicData uri="http://schemas.openxmlformats.org/drawingml/2006/table">
            <a:tbl>
              <a:tblPr/>
              <a:tblGrid>
                <a:gridCol w="3733800"/>
                <a:gridCol w="3733800"/>
                <a:gridCol w="3733800"/>
              </a:tblGrid>
              <a:tr h="411480">
                <a:tc>
                  <a:txBody>
                    <a:bodyPr/>
                    <a:lstStyle/>
                    <a:p>
                      <a:pPr algn="ctr" indent="0" marL="0">
                        <a:buNone/>
                      </a:pP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그 연구 (MIMIC, arXiv 2601.07812)</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우리</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r>
              <a:tr h="548640">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적용 방식</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LoRA 파인튜닝 필수 (8×H100, 198K 합성데이터)</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8B57"/>
                          </a:solidFill>
                          <a:latin typeface="Arial" pitchFamily="34" charset="0"/>
                          <a:ea typeface="Arial" pitchFamily="34" charset="-122"/>
                          <a:cs typeface="Arial" pitchFamily="34" charset="-120"/>
                        </a:rPr>
                        <a:t>추론 시 개입 (training-free)</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658368">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마스킹 단독 효과</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+3.3점 (46.1→49.4, 동일조건 ablation)</a:t>
                      </a:r>
                      <a:endParaRPr lang="en-US" sz="1100" dirty="0">
                        <a:latin typeface="Arial" charset="0"/>
                        <a:ea typeface="Arial" charset="0"/>
                        <a:cs typeface="Arial" charset="0"/>
                      </a:endParaRPr>
                    </a:p>
                    <a:p>
                      <a:pPr algn="ctr" indent="0" marL="0">
                        <a:buNone/>
                      </a:pPr>
                      <a:r>
                        <a:rPr lang="en-US" sz="1100" dirty="0">
                          <a:solidFill>
                            <a:srgbClr val="1F3B57"/>
                          </a:solidFill>
                          <a:latin typeface="Arial" pitchFamily="34" charset="0"/>
                          <a:ea typeface="Arial" pitchFamily="34" charset="-122"/>
                          <a:cs typeface="Arial" pitchFamily="34" charset="-120"/>
                        </a:rPr>
                        <a:t>※ 26.4→49.4의 대부분은 데이터 기여</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환각 평가</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없음 (POPE 0회, 객체존재 실험 없음)</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8B57"/>
                          </a:solidFill>
                          <a:latin typeface="Arial" pitchFamily="34" charset="0"/>
                          <a:ea typeface="Arial" pitchFamily="34" charset="-122"/>
                          <a:cs typeface="Arial" pitchFamily="34" charset="-120"/>
                        </a:rPr>
                        <a:t>POPE 4셀 통제 설계</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이미지 장수</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중앙값 4~7장 (집계 태스크)</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8B57"/>
                          </a:solidFill>
                          <a:latin typeface="Arial" pitchFamily="34" charset="0"/>
                          <a:ea typeface="Arial" pitchFamily="34" charset="-122"/>
                          <a:cs typeface="Arial" pitchFamily="34" charset="-120"/>
                        </a:rPr>
                        <a:t>2장 (출처 귀속)</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658368">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일반화</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D62728"/>
                          </a:solidFill>
                          <a:latin typeface="Arial" pitchFamily="34" charset="0"/>
                          <a:ea typeface="Arial" pitchFamily="34" charset="-122"/>
                          <a:cs typeface="Arial" pitchFamily="34" charset="-120"/>
                        </a:rPr>
                        <a:t>자체 벤치 밖에서는 오히려 하락</a:t>
                      </a:r>
                      <a:endParaRPr lang="en-US" sz="1100" dirty="0">
                        <a:latin typeface="Arial" charset="0"/>
                        <a:ea typeface="Arial" charset="0"/>
                        <a:cs typeface="Arial" charset="0"/>
                      </a:endParaRPr>
                    </a:p>
                    <a:p>
                      <a:pPr algn="ctr" indent="0" marL="0">
                        <a:buNone/>
                      </a:pPr>
                      <a:r>
                        <a:rPr lang="en-US" sz="1100" dirty="0">
                          <a:solidFill>
                            <a:srgbClr val="D62728"/>
                          </a:solidFill>
                          <a:latin typeface="Arial" pitchFamily="34" charset="0"/>
                          <a:ea typeface="Arial" pitchFamily="34" charset="-122"/>
                          <a:cs typeface="Arial" pitchFamily="34" charset="-120"/>
                        </a:rPr>
                        <a:t>(MuirBench 33.6→32.5, 평균 42.7→41.2)</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5029200"/>
            <a:ext cx="11201400" cy="914400"/>
          </a:xfrm>
          <a:prstGeom prst="roundRect">
            <a:avLst>
              <a:gd name="adj" fmla="val 8000"/>
            </a:avLst>
          </a:prstGeom>
          <a:solidFill>
            <a:srgbClr val="E9F4EE"/>
          </a:solidFill>
          <a:ln w="15875">
            <a:solidFill>
              <a:srgbClr val="2E8B57"/>
            </a:solidFill>
            <a:prstDash val="solid"/>
          </a:ln>
        </p:spPr>
      </p:sp>
      <p:sp>
        <p:nvSpPr>
          <p:cNvPr id="6" name="Text 3"/>
          <p:cNvSpPr/>
          <p:nvPr/>
        </p:nvSpPr>
        <p:spPr>
          <a:xfrm>
            <a:off x="777240" y="5120640"/>
            <a:ext cx="10698480" cy="777240"/>
          </a:xfrm>
          <a:prstGeom prst="rect">
            <a:avLst/>
          </a:prstGeom>
          <a:noFill/>
          <a:ln/>
        </p:spPr>
        <p:txBody>
          <a:bodyPr wrap="square" lIns="0" tIns="0" rIns="0" bIns="0" rtlCol="0" anchor="ctr"/>
          <a:lstStyle/>
          <a:p>
            <a:pPr indent="0" marL="0">
              <a:spcAft>
                <a:spcPts val="400"/>
              </a:spcAft>
              <a:buNone/>
            </a:pPr>
            <a:r>
              <a:rPr lang="en-US" sz="1250" b="1" dirty="0">
                <a:solidFill>
                  <a:srgbClr val="2E8B57"/>
                </a:solidFill>
                <a:latin typeface="Arial" pitchFamily="34" charset="0"/>
                <a:ea typeface="Arial" pitchFamily="34" charset="-122"/>
                <a:cs typeface="Arial" pitchFamily="34" charset="-120"/>
              </a:rPr>
              <a:t>그리고 그들이 남긴 열린 질문이 우리 데이터와 정확히 맞물립니다.</a:t>
            </a:r>
            <a:endParaRPr lang="en-US" sz="1250" dirty="0"/>
          </a:p>
          <a:p>
            <a:pPr indent="0" marL="0">
              <a:spcAft>
                <a:spcPts val="400"/>
              </a:spcAft>
              <a:buNone/>
            </a:pPr>
            <a:r>
              <a:rPr lang="en-US" sz="1150" dirty="0">
                <a:solidFill>
                  <a:srgbClr val="1F3B57"/>
                </a:solidFill>
                <a:latin typeface="Arial" pitchFamily="34" charset="0"/>
                <a:ea typeface="Arial" pitchFamily="34" charset="-122"/>
                <a:cs typeface="Arial" pitchFamily="34" charset="-120"/>
              </a:rPr>
              <a:t>그들의 마스킹은 자체 벤치에서는 오르고 다른 벤치에서는 내려갑니다. "언제 도움이 되고 언제 해가 되는가"가 설명되지 않았는데, 우리는 질문 유형에 따라 부호가 뒤집히는 것을 이미 측정했습니다(슬라이드 10).</a:t>
            </a:r>
            <a:endParaRPr lang="en-US" sz="1250" dirty="0"/>
          </a:p>
        </p:txBody>
      </p:sp>
      <p:sp>
        <p:nvSpPr>
          <p:cNvPr id="7" name="Shape 4"/>
          <p:cNvSpPr/>
          <p:nvPr/>
        </p:nvSpPr>
        <p:spPr>
          <a:xfrm>
            <a:off x="502920" y="6053328"/>
            <a:ext cx="11201400" cy="566928"/>
          </a:xfrm>
          <a:prstGeom prst="roundRect">
            <a:avLst>
              <a:gd name="adj" fmla="val 12903"/>
            </a:avLst>
          </a:prstGeom>
          <a:solidFill>
            <a:srgbClr val="1F3B57"/>
          </a:solidFill>
          <a:ln/>
        </p:spPr>
      </p:sp>
      <p:sp>
        <p:nvSpPr>
          <p:cNvPr id="8" name="Text 5"/>
          <p:cNvSpPr/>
          <p:nvPr/>
        </p:nvSpPr>
        <p:spPr>
          <a:xfrm>
            <a:off x="777240" y="6053328"/>
            <a:ext cx="10744200" cy="56692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 방법 자리는 아직 비어 있습니다. 다만 그것을 확인하려면 1주일치 검증이 더 필요합니다</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638"/>
        </a:solidFill>
      </p:bgPr>
    </p:bg>
    <p:spTree>
      <p:nvGrpSpPr>
        <p:cNvPr id="1" name=""/>
        <p:cNvGrpSpPr/>
        <p:nvPr/>
      </p:nvGrpSpPr>
      <p:grpSpPr>
        <a:xfrm>
          <a:off x="0" y="0"/>
          <a:ext cx="0" cy="0"/>
          <a:chOff x="0" y="0"/>
          <a:chExt cx="0" cy="0"/>
        </a:xfrm>
      </p:grpSpPr>
      <p:sp>
        <p:nvSpPr>
          <p:cNvPr id="2" name="Text 0"/>
          <p:cNvSpPr/>
          <p:nvPr/>
        </p:nvSpPr>
        <p:spPr>
          <a:xfrm>
            <a:off x="502920" y="237744"/>
            <a:ext cx="9601200" cy="292608"/>
          </a:xfrm>
          <a:prstGeom prst="rect">
            <a:avLst/>
          </a:prstGeom>
          <a:noFill/>
          <a:ln/>
        </p:spPr>
        <p:txBody>
          <a:bodyPr wrap="square" lIns="0" tIns="0" rIns="0" bIns="0" rtlCol="0" anchor="ctr"/>
          <a:lstStyle/>
          <a:p>
            <a:pPr indent="0" marL="0">
              <a:buNone/>
            </a:pPr>
            <a:r>
              <a:rPr lang="en-US" sz="1150" b="1" spc="100" kern="0" dirty="0">
                <a:solidFill>
                  <a:srgbClr val="9FB8CE"/>
                </a:solidFill>
                <a:latin typeface="Arial" pitchFamily="34" charset="0"/>
                <a:ea typeface="Arial" pitchFamily="34" charset="-122"/>
                <a:cs typeface="Arial" pitchFamily="34" charset="-120"/>
              </a:rPr>
              <a:t>요청</a:t>
            </a:r>
            <a:endParaRPr lang="en-US" sz="1150" dirty="0"/>
          </a:p>
        </p:txBody>
      </p:sp>
      <p:sp>
        <p:nvSpPr>
          <p:cNvPr id="3" name="Text 1"/>
          <p:cNvSpPr/>
          <p:nvPr/>
        </p:nvSpPr>
        <p:spPr>
          <a:xfrm>
            <a:off x="502920" y="512064"/>
            <a:ext cx="11155680" cy="73152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1주일 안에 진행/중단을 확정하겠습니다 — 게이트 5개</a:t>
            </a:r>
            <a:endParaRPr lang="en-US" sz="2200" dirty="0"/>
          </a:p>
        </p:txBody>
      </p:sp>
      <p:sp>
        <p:nvSpPr>
          <p:cNvPr id="4" name="Shape 2"/>
          <p:cNvSpPr/>
          <p:nvPr/>
        </p:nvSpPr>
        <p:spPr>
          <a:xfrm>
            <a:off x="548640" y="1645920"/>
            <a:ext cx="420624" cy="420624"/>
          </a:xfrm>
          <a:prstGeom prst="ellipse">
            <a:avLst/>
          </a:prstGeom>
          <a:solidFill>
            <a:srgbClr val="7EC8F5"/>
          </a:solidFill>
          <a:ln/>
        </p:spPr>
      </p:sp>
      <p:sp>
        <p:nvSpPr>
          <p:cNvPr id="5" name="Text 3"/>
          <p:cNvSpPr/>
          <p:nvPr/>
        </p:nvSpPr>
        <p:spPr>
          <a:xfrm>
            <a:off x="548640" y="1645920"/>
            <a:ext cx="420624" cy="420624"/>
          </a:xfrm>
          <a:prstGeom prst="rect">
            <a:avLst/>
          </a:prstGeom>
          <a:noFill/>
          <a:ln/>
        </p:spPr>
        <p:txBody>
          <a:bodyPr wrap="square" lIns="0" tIns="0" rIns="0" bIns="0" rtlCol="0" anchor="ctr"/>
          <a:lstStyle/>
          <a:p>
            <a:pPr algn="ctr" indent="0" marL="0">
              <a:buNone/>
            </a:pPr>
            <a:r>
              <a:rPr lang="en-US" sz="1300" b="1" dirty="0">
                <a:solidFill>
                  <a:srgbClr val="142638"/>
                </a:solidFill>
                <a:latin typeface="Arial" pitchFamily="34" charset="0"/>
                <a:ea typeface="Arial" pitchFamily="34" charset="-122"/>
                <a:cs typeface="Arial" pitchFamily="34" charset="-120"/>
              </a:rPr>
              <a:t>1</a:t>
            </a:r>
            <a:endParaRPr lang="en-US" sz="1300" dirty="0"/>
          </a:p>
        </p:txBody>
      </p:sp>
      <p:sp>
        <p:nvSpPr>
          <p:cNvPr id="6" name="Text 4"/>
          <p:cNvSpPr/>
          <p:nvPr/>
        </p:nvSpPr>
        <p:spPr>
          <a:xfrm>
            <a:off x="1097280" y="1572768"/>
            <a:ext cx="2651760"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위치 균형화 재측정</a:t>
            </a:r>
            <a:endParaRPr lang="en-US" sz="1250" dirty="0"/>
          </a:p>
        </p:txBody>
      </p:sp>
      <p:sp>
        <p:nvSpPr>
          <p:cNvPr id="7" name="Text 5"/>
          <p:cNvSpPr/>
          <p:nvPr/>
        </p:nvSpPr>
        <p:spPr>
          <a:xfrm>
            <a:off x="1097280" y="1901952"/>
            <a:ext cx="5029200" cy="502920"/>
          </a:xfrm>
          <a:prstGeom prst="rect">
            <a:avLst/>
          </a:prstGeom>
          <a:noFill/>
          <a:ln/>
        </p:spPr>
        <p:txBody>
          <a:bodyPr wrap="square" lIns="0" tIns="0" rIns="0" bIns="0" rtlCol="0" anchor="ctr"/>
          <a:lstStyle/>
          <a:p>
            <a:pPr indent="0" marL="0">
              <a:buNone/>
            </a:pPr>
            <a:r>
              <a:rPr lang="en-US" sz="1050" dirty="0">
                <a:solidFill>
                  <a:srgbClr val="9FB8CE"/>
                </a:solidFill>
                <a:latin typeface="Arial" pitchFamily="34" charset="0"/>
                <a:ea typeface="Arial" pitchFamily="34" charset="-122"/>
                <a:cs typeface="Arial" pitchFamily="34" charset="-120"/>
              </a:rPr>
              <a:t>관련 이미지가 항상 1번 자리였던 confound 제거.</a:t>
            </a:r>
            <a:endParaRPr lang="en-US" sz="1050" dirty="0"/>
          </a:p>
          <a:p>
            <a:pPr indent="0" marL="0">
              <a:buNone/>
            </a:pPr>
            <a:r>
              <a:rPr lang="en-US" sz="1050" dirty="0">
                <a:solidFill>
                  <a:srgbClr val="9FB8CE"/>
                </a:solidFill>
                <a:latin typeface="Arial" pitchFamily="34" charset="0"/>
                <a:ea typeface="Arial" pitchFamily="34" charset="-122"/>
                <a:cs typeface="Arial" pitchFamily="34" charset="-120"/>
              </a:rPr>
              <a:t>오늘 이미 실행 중</a:t>
            </a:r>
            <a:endParaRPr lang="en-US" sz="1050" dirty="0"/>
          </a:p>
        </p:txBody>
      </p:sp>
      <p:sp>
        <p:nvSpPr>
          <p:cNvPr id="8" name="Text 6"/>
          <p:cNvSpPr/>
          <p:nvPr/>
        </p:nvSpPr>
        <p:spPr>
          <a:xfrm>
            <a:off x="6400800" y="1627632"/>
            <a:ext cx="5303520" cy="457200"/>
          </a:xfrm>
          <a:prstGeom prst="rect">
            <a:avLst/>
          </a:prstGeom>
          <a:noFill/>
          <a:ln/>
        </p:spPr>
        <p:txBody>
          <a:bodyPr wrap="square" lIns="0" tIns="0" rIns="0" bIns="0" rtlCol="0" anchor="ctr"/>
          <a:lstStyle/>
          <a:p>
            <a:pPr indent="0" marL="0">
              <a:buNone/>
            </a:pPr>
            <a:r>
              <a:rPr lang="en-US" sz="1150" dirty="0">
                <a:solidFill>
                  <a:srgbClr val="8CE0B0"/>
                </a:solidFill>
                <a:latin typeface="Arial" pitchFamily="34" charset="0"/>
                <a:ea typeface="Arial" pitchFamily="34" charset="-122"/>
                <a:cs typeface="Arial" pitchFamily="34" charset="-120"/>
              </a:rPr>
              <a:t>→ 배분 이득이 실재하는가</a:t>
            </a:r>
            <a:endParaRPr lang="en-US" sz="1150" dirty="0"/>
          </a:p>
        </p:txBody>
      </p:sp>
      <p:sp>
        <p:nvSpPr>
          <p:cNvPr id="9" name="Shape 7"/>
          <p:cNvSpPr/>
          <p:nvPr/>
        </p:nvSpPr>
        <p:spPr>
          <a:xfrm>
            <a:off x="548640" y="2487168"/>
            <a:ext cx="420624" cy="420624"/>
          </a:xfrm>
          <a:prstGeom prst="ellipse">
            <a:avLst/>
          </a:prstGeom>
          <a:solidFill>
            <a:srgbClr val="7EC8F5"/>
          </a:solidFill>
          <a:ln/>
        </p:spPr>
      </p:sp>
      <p:sp>
        <p:nvSpPr>
          <p:cNvPr id="10" name="Text 8"/>
          <p:cNvSpPr/>
          <p:nvPr/>
        </p:nvSpPr>
        <p:spPr>
          <a:xfrm>
            <a:off x="548640" y="2487168"/>
            <a:ext cx="420624" cy="420624"/>
          </a:xfrm>
          <a:prstGeom prst="rect">
            <a:avLst/>
          </a:prstGeom>
          <a:noFill/>
          <a:ln/>
        </p:spPr>
        <p:txBody>
          <a:bodyPr wrap="square" lIns="0" tIns="0" rIns="0" bIns="0" rtlCol="0" anchor="ctr"/>
          <a:lstStyle/>
          <a:p>
            <a:pPr algn="ctr" indent="0" marL="0">
              <a:buNone/>
            </a:pPr>
            <a:r>
              <a:rPr lang="en-US" sz="1300" b="1" dirty="0">
                <a:solidFill>
                  <a:srgbClr val="142638"/>
                </a:solidFill>
                <a:latin typeface="Arial" pitchFamily="34" charset="0"/>
                <a:ea typeface="Arial" pitchFamily="34" charset="-122"/>
                <a:cs typeface="Arial" pitchFamily="34" charset="-120"/>
              </a:rPr>
              <a:t>2</a:t>
            </a:r>
            <a:endParaRPr lang="en-US" sz="1300" dirty="0"/>
          </a:p>
        </p:txBody>
      </p:sp>
      <p:sp>
        <p:nvSpPr>
          <p:cNvPr id="11" name="Text 9"/>
          <p:cNvSpPr/>
          <p:nvPr/>
        </p:nvSpPr>
        <p:spPr>
          <a:xfrm>
            <a:off x="1097280" y="2414016"/>
            <a:ext cx="2651760"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컨트롤러 신호 확장</a:t>
            </a:r>
            <a:endParaRPr lang="en-US" sz="1250" dirty="0"/>
          </a:p>
        </p:txBody>
      </p:sp>
      <p:sp>
        <p:nvSpPr>
          <p:cNvPr id="12" name="Text 10"/>
          <p:cNvSpPr/>
          <p:nvPr/>
        </p:nvSpPr>
        <p:spPr>
          <a:xfrm>
            <a:off x="1097280" y="2743200"/>
            <a:ext cx="5029200" cy="502920"/>
          </a:xfrm>
          <a:prstGeom prst="rect">
            <a:avLst/>
          </a:prstGeom>
          <a:noFill/>
          <a:ln/>
        </p:spPr>
        <p:txBody>
          <a:bodyPr wrap="square" lIns="0" tIns="0" rIns="0" bIns="0" rtlCol="0" anchor="ctr"/>
          <a:lstStyle/>
          <a:p>
            <a:pPr indent="0" marL="0">
              <a:buNone/>
            </a:pPr>
            <a:r>
              <a:rPr lang="en-US" sz="1050" dirty="0">
                <a:solidFill>
                  <a:srgbClr val="9FB8CE"/>
                </a:solidFill>
                <a:latin typeface="Arial" pitchFamily="34" charset="0"/>
                <a:ea typeface="Arial" pitchFamily="34" charset="-122"/>
                <a:cs typeface="Arial" pitchFamily="34" charset="-120"/>
              </a:rPr>
              <a:t>attention 질량 대신 vision feature ·</a:t>
            </a:r>
            <a:endParaRPr lang="en-US" sz="1050" dirty="0"/>
          </a:p>
          <a:p>
            <a:pPr indent="0" marL="0">
              <a:buNone/>
            </a:pPr>
            <a:r>
              <a:rPr lang="en-US" sz="1050" dirty="0">
                <a:solidFill>
                  <a:srgbClr val="9FB8CE"/>
                </a:solidFill>
                <a:latin typeface="Arial" pitchFamily="34" charset="0"/>
                <a:ea typeface="Arial" pitchFamily="34" charset="-122"/>
                <a:cs typeface="Arial" pitchFamily="34" charset="-120"/>
              </a:rPr>
              <a:t>hidden state probe · 질문 토큰 attention</a:t>
            </a:r>
            <a:endParaRPr lang="en-US" sz="1050" dirty="0"/>
          </a:p>
        </p:txBody>
      </p:sp>
      <p:sp>
        <p:nvSpPr>
          <p:cNvPr id="13" name="Text 11"/>
          <p:cNvSpPr/>
          <p:nvPr/>
        </p:nvSpPr>
        <p:spPr>
          <a:xfrm>
            <a:off x="6400800" y="2468880"/>
            <a:ext cx="5303520" cy="457200"/>
          </a:xfrm>
          <a:prstGeom prst="rect">
            <a:avLst/>
          </a:prstGeom>
          <a:noFill/>
          <a:ln/>
        </p:spPr>
        <p:txBody>
          <a:bodyPr wrap="square" lIns="0" tIns="0" rIns="0" bIns="0" rtlCol="0" anchor="ctr"/>
          <a:lstStyle/>
          <a:p>
            <a:pPr indent="0" marL="0">
              <a:buNone/>
            </a:pPr>
            <a:r>
              <a:rPr lang="en-US" sz="1150" dirty="0">
                <a:solidFill>
                  <a:srgbClr val="8CE0B0"/>
                </a:solidFill>
                <a:latin typeface="Arial" pitchFamily="34" charset="0"/>
                <a:ea typeface="Arial" pitchFamily="34" charset="-122"/>
                <a:cs typeface="Arial" pitchFamily="34" charset="-120"/>
              </a:rPr>
              <a:t>→ 얕은 층에서 판정 가능한가</a:t>
            </a:r>
            <a:endParaRPr lang="en-US" sz="1150" dirty="0"/>
          </a:p>
        </p:txBody>
      </p:sp>
      <p:sp>
        <p:nvSpPr>
          <p:cNvPr id="14" name="Shape 12"/>
          <p:cNvSpPr/>
          <p:nvPr/>
        </p:nvSpPr>
        <p:spPr>
          <a:xfrm>
            <a:off x="548640" y="3328416"/>
            <a:ext cx="420624" cy="420624"/>
          </a:xfrm>
          <a:prstGeom prst="ellipse">
            <a:avLst/>
          </a:prstGeom>
          <a:solidFill>
            <a:srgbClr val="7EC8F5"/>
          </a:solidFill>
          <a:ln/>
        </p:spPr>
      </p:sp>
      <p:sp>
        <p:nvSpPr>
          <p:cNvPr id="15" name="Text 13"/>
          <p:cNvSpPr/>
          <p:nvPr/>
        </p:nvSpPr>
        <p:spPr>
          <a:xfrm>
            <a:off x="548640" y="3328416"/>
            <a:ext cx="420624" cy="420624"/>
          </a:xfrm>
          <a:prstGeom prst="rect">
            <a:avLst/>
          </a:prstGeom>
          <a:noFill/>
          <a:ln/>
        </p:spPr>
        <p:txBody>
          <a:bodyPr wrap="square" lIns="0" tIns="0" rIns="0" bIns="0" rtlCol="0" anchor="ctr"/>
          <a:lstStyle/>
          <a:p>
            <a:pPr algn="ctr" indent="0" marL="0">
              <a:buNone/>
            </a:pPr>
            <a:r>
              <a:rPr lang="en-US" sz="1300" b="1" dirty="0">
                <a:solidFill>
                  <a:srgbClr val="142638"/>
                </a:solidFill>
                <a:latin typeface="Arial" pitchFamily="34" charset="0"/>
                <a:ea typeface="Arial" pitchFamily="34" charset="-122"/>
                <a:cs typeface="Arial" pitchFamily="34" charset="-120"/>
              </a:rPr>
              <a:t>3</a:t>
            </a:r>
            <a:endParaRPr lang="en-US" sz="1300" dirty="0"/>
          </a:p>
        </p:txBody>
      </p:sp>
      <p:sp>
        <p:nvSpPr>
          <p:cNvPr id="16" name="Text 14"/>
          <p:cNvSpPr/>
          <p:nvPr/>
        </p:nvSpPr>
        <p:spPr>
          <a:xfrm>
            <a:off x="1097280" y="3255264"/>
            <a:ext cx="2651760"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질문 유형 게이트</a:t>
            </a:r>
            <a:endParaRPr lang="en-US" sz="1250" dirty="0"/>
          </a:p>
        </p:txBody>
      </p:sp>
      <p:sp>
        <p:nvSpPr>
          <p:cNvPr id="17" name="Text 15"/>
          <p:cNvSpPr/>
          <p:nvPr/>
        </p:nvSpPr>
        <p:spPr>
          <a:xfrm>
            <a:off x="1097280" y="3584448"/>
            <a:ext cx="5029200" cy="502920"/>
          </a:xfrm>
          <a:prstGeom prst="rect">
            <a:avLst/>
          </a:prstGeom>
          <a:noFill/>
          <a:ln/>
        </p:spPr>
        <p:txBody>
          <a:bodyPr wrap="square" lIns="0" tIns="0" rIns="0" bIns="0" rtlCol="0" anchor="ctr"/>
          <a:lstStyle/>
          <a:p>
            <a:pPr indent="0" marL="0">
              <a:buNone/>
            </a:pPr>
            <a:r>
              <a:rPr lang="en-US" sz="1050" dirty="0">
                <a:solidFill>
                  <a:srgbClr val="9FB8CE"/>
                </a:solidFill>
                <a:latin typeface="Arial" pitchFamily="34" charset="0"/>
                <a:ea typeface="Arial" pitchFamily="34" charset="-122"/>
                <a:cs typeface="Arial" pitchFamily="34" charset="-120"/>
              </a:rPr>
              <a:t>질문 유형은 텍스트만으로 0층에서 판정 가능.</a:t>
            </a:r>
            <a:endParaRPr lang="en-US" sz="1050" dirty="0"/>
          </a:p>
          <a:p>
            <a:pPr indent="0" marL="0">
              <a:buNone/>
            </a:pPr>
            <a:r>
              <a:rPr lang="en-US" sz="1050" dirty="0">
                <a:solidFill>
                  <a:srgbClr val="9FB8CE"/>
                </a:solidFill>
                <a:latin typeface="Arial" pitchFamily="34" charset="0"/>
                <a:ea typeface="Arial" pitchFamily="34" charset="-122"/>
                <a:cs typeface="Arial" pitchFamily="34" charset="-120"/>
              </a:rPr>
              <a:t>게이트 적용 시 순이득 측정</a:t>
            </a:r>
            <a:endParaRPr lang="en-US" sz="1050" dirty="0"/>
          </a:p>
        </p:txBody>
      </p:sp>
      <p:sp>
        <p:nvSpPr>
          <p:cNvPr id="18" name="Text 16"/>
          <p:cNvSpPr/>
          <p:nvPr/>
        </p:nvSpPr>
        <p:spPr>
          <a:xfrm>
            <a:off x="6400800" y="3310128"/>
            <a:ext cx="5303520" cy="457200"/>
          </a:xfrm>
          <a:prstGeom prst="rect">
            <a:avLst/>
          </a:prstGeom>
          <a:noFill/>
          <a:ln/>
        </p:spPr>
        <p:txBody>
          <a:bodyPr wrap="square" lIns="0" tIns="0" rIns="0" bIns="0" rtlCol="0" anchor="ctr"/>
          <a:lstStyle/>
          <a:p>
            <a:pPr indent="0" marL="0">
              <a:buNone/>
            </a:pPr>
            <a:r>
              <a:rPr lang="en-US" sz="1150" dirty="0">
                <a:solidFill>
                  <a:srgbClr val="8CE0B0"/>
                </a:solidFill>
                <a:latin typeface="Arial" pitchFamily="34" charset="0"/>
                <a:ea typeface="Arial" pitchFamily="34" charset="-122"/>
                <a:cs typeface="Arial" pitchFamily="34" charset="-120"/>
              </a:rPr>
              <a:t>→ −51%p 실패를 회피할 수 있는가</a:t>
            </a:r>
            <a:endParaRPr lang="en-US" sz="1150" dirty="0"/>
          </a:p>
        </p:txBody>
      </p:sp>
      <p:sp>
        <p:nvSpPr>
          <p:cNvPr id="19" name="Shape 17"/>
          <p:cNvSpPr/>
          <p:nvPr/>
        </p:nvSpPr>
        <p:spPr>
          <a:xfrm>
            <a:off x="548640" y="4169664"/>
            <a:ext cx="420624" cy="420624"/>
          </a:xfrm>
          <a:prstGeom prst="ellipse">
            <a:avLst/>
          </a:prstGeom>
          <a:solidFill>
            <a:srgbClr val="7EC8F5"/>
          </a:solidFill>
          <a:ln/>
        </p:spPr>
      </p:sp>
      <p:sp>
        <p:nvSpPr>
          <p:cNvPr id="20" name="Text 18"/>
          <p:cNvSpPr/>
          <p:nvPr/>
        </p:nvSpPr>
        <p:spPr>
          <a:xfrm>
            <a:off x="548640" y="4169664"/>
            <a:ext cx="420624" cy="420624"/>
          </a:xfrm>
          <a:prstGeom prst="rect">
            <a:avLst/>
          </a:prstGeom>
          <a:noFill/>
          <a:ln/>
        </p:spPr>
        <p:txBody>
          <a:bodyPr wrap="square" lIns="0" tIns="0" rIns="0" bIns="0" rtlCol="0" anchor="ctr"/>
          <a:lstStyle/>
          <a:p>
            <a:pPr algn="ctr" indent="0" marL="0">
              <a:buNone/>
            </a:pPr>
            <a:r>
              <a:rPr lang="en-US" sz="1300" b="1" dirty="0">
                <a:solidFill>
                  <a:srgbClr val="142638"/>
                </a:solidFill>
                <a:latin typeface="Arial" pitchFamily="34" charset="0"/>
                <a:ea typeface="Arial" pitchFamily="34" charset="-122"/>
                <a:cs typeface="Arial" pitchFamily="34" charset="-120"/>
              </a:rPr>
              <a:t>4</a:t>
            </a:r>
            <a:endParaRPr lang="en-US" sz="1300" dirty="0"/>
          </a:p>
        </p:txBody>
      </p:sp>
      <p:sp>
        <p:nvSpPr>
          <p:cNvPr id="21" name="Text 19"/>
          <p:cNvSpPr/>
          <p:nvPr/>
        </p:nvSpPr>
        <p:spPr>
          <a:xfrm>
            <a:off x="1097280" y="4096512"/>
            <a:ext cx="2651760"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대조군 보강</a:t>
            </a:r>
            <a:endParaRPr lang="en-US" sz="1250" dirty="0"/>
          </a:p>
        </p:txBody>
      </p:sp>
      <p:sp>
        <p:nvSpPr>
          <p:cNvPr id="22" name="Text 20"/>
          <p:cNvSpPr/>
          <p:nvPr/>
        </p:nvSpPr>
        <p:spPr>
          <a:xfrm>
            <a:off x="1097280" y="4425696"/>
            <a:ext cx="5029200" cy="502920"/>
          </a:xfrm>
          <a:prstGeom prst="rect">
            <a:avLst/>
          </a:prstGeom>
          <a:noFill/>
          <a:ln/>
        </p:spPr>
        <p:txBody>
          <a:bodyPr wrap="square" lIns="0" tIns="0" rIns="0" bIns="0" rtlCol="0" anchor="ctr"/>
          <a:lstStyle/>
          <a:p>
            <a:pPr indent="0" marL="0">
              <a:buNone/>
            </a:pPr>
            <a:r>
              <a:rPr lang="en-US" sz="1050" dirty="0">
                <a:solidFill>
                  <a:srgbClr val="9FB8CE"/>
                </a:solidFill>
                <a:latin typeface="Arial" pitchFamily="34" charset="0"/>
                <a:ea typeface="Arial" pitchFamily="34" charset="-122"/>
                <a:cs typeface="Arial" pitchFamily="34" charset="-120"/>
              </a:rPr>
              <a:t>random 배분 · layer-0 완전 제거 상한</a:t>
            </a:r>
            <a:endParaRPr lang="en-US" sz="1050" dirty="0"/>
          </a:p>
        </p:txBody>
      </p:sp>
      <p:sp>
        <p:nvSpPr>
          <p:cNvPr id="23" name="Text 21"/>
          <p:cNvSpPr/>
          <p:nvPr/>
        </p:nvSpPr>
        <p:spPr>
          <a:xfrm>
            <a:off x="6400800" y="4151376"/>
            <a:ext cx="5303520" cy="457200"/>
          </a:xfrm>
          <a:prstGeom prst="rect">
            <a:avLst/>
          </a:prstGeom>
          <a:noFill/>
          <a:ln/>
        </p:spPr>
        <p:txBody>
          <a:bodyPr wrap="square" lIns="0" tIns="0" rIns="0" bIns="0" rtlCol="0" anchor="ctr"/>
          <a:lstStyle/>
          <a:p>
            <a:pPr indent="0" marL="0">
              <a:buNone/>
            </a:pPr>
            <a:r>
              <a:rPr lang="en-US" sz="1150" dirty="0">
                <a:solidFill>
                  <a:srgbClr val="8CE0B0"/>
                </a:solidFill>
                <a:latin typeface="Arial" pitchFamily="34" charset="0"/>
                <a:ea typeface="Arial" pitchFamily="34" charset="-122"/>
                <a:cs typeface="Arial" pitchFamily="34" charset="-120"/>
              </a:rPr>
              <a:t>→ 배분 이득이 강건한가</a:t>
            </a:r>
            <a:endParaRPr lang="en-US" sz="1150" dirty="0"/>
          </a:p>
        </p:txBody>
      </p:sp>
      <p:sp>
        <p:nvSpPr>
          <p:cNvPr id="24" name="Shape 22"/>
          <p:cNvSpPr/>
          <p:nvPr/>
        </p:nvSpPr>
        <p:spPr>
          <a:xfrm>
            <a:off x="548640" y="5010912"/>
            <a:ext cx="420624" cy="420624"/>
          </a:xfrm>
          <a:prstGeom prst="ellipse">
            <a:avLst/>
          </a:prstGeom>
          <a:solidFill>
            <a:srgbClr val="7EC8F5"/>
          </a:solidFill>
          <a:ln/>
        </p:spPr>
      </p:sp>
      <p:sp>
        <p:nvSpPr>
          <p:cNvPr id="25" name="Text 23"/>
          <p:cNvSpPr/>
          <p:nvPr/>
        </p:nvSpPr>
        <p:spPr>
          <a:xfrm>
            <a:off x="548640" y="5010912"/>
            <a:ext cx="420624" cy="420624"/>
          </a:xfrm>
          <a:prstGeom prst="rect">
            <a:avLst/>
          </a:prstGeom>
          <a:noFill/>
          <a:ln/>
        </p:spPr>
        <p:txBody>
          <a:bodyPr wrap="square" lIns="0" tIns="0" rIns="0" bIns="0" rtlCol="0" anchor="ctr"/>
          <a:lstStyle/>
          <a:p>
            <a:pPr algn="ctr" indent="0" marL="0">
              <a:buNone/>
            </a:pPr>
            <a:r>
              <a:rPr lang="en-US" sz="1300" b="1" dirty="0">
                <a:solidFill>
                  <a:srgbClr val="142638"/>
                </a:solidFill>
                <a:latin typeface="Arial" pitchFamily="34" charset="0"/>
                <a:ea typeface="Arial" pitchFamily="34" charset="-122"/>
                <a:cs typeface="Arial" pitchFamily="34" charset="-120"/>
              </a:rPr>
              <a:t>5</a:t>
            </a:r>
            <a:endParaRPr lang="en-US" sz="1300" dirty="0"/>
          </a:p>
        </p:txBody>
      </p:sp>
      <p:sp>
        <p:nvSpPr>
          <p:cNvPr id="26" name="Text 24"/>
          <p:cNvSpPr/>
          <p:nvPr/>
        </p:nvSpPr>
        <p:spPr>
          <a:xfrm>
            <a:off x="1097280" y="4937760"/>
            <a:ext cx="2651760"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MIMIC 열린 질문</a:t>
            </a:r>
            <a:endParaRPr lang="en-US" sz="1250" dirty="0"/>
          </a:p>
        </p:txBody>
      </p:sp>
      <p:sp>
        <p:nvSpPr>
          <p:cNvPr id="27" name="Text 25"/>
          <p:cNvSpPr/>
          <p:nvPr/>
        </p:nvSpPr>
        <p:spPr>
          <a:xfrm>
            <a:off x="1097280" y="5266944"/>
            <a:ext cx="5029200" cy="502920"/>
          </a:xfrm>
          <a:prstGeom prst="rect">
            <a:avLst/>
          </a:prstGeom>
          <a:noFill/>
          <a:ln/>
        </p:spPr>
        <p:txBody>
          <a:bodyPr wrap="square" lIns="0" tIns="0" rIns="0" bIns="0" rtlCol="0" anchor="ctr"/>
          <a:lstStyle/>
          <a:p>
            <a:pPr indent="0" marL="0">
              <a:buNone/>
            </a:pPr>
            <a:r>
              <a:rPr lang="en-US" sz="1050" dirty="0">
                <a:solidFill>
                  <a:srgbClr val="9FB8CE"/>
                </a:solidFill>
                <a:latin typeface="Arial" pitchFamily="34" charset="0"/>
                <a:ea typeface="Arial" pitchFamily="34" charset="-122"/>
                <a:cs typeface="Arial" pitchFamily="34" charset="-120"/>
              </a:rPr>
              <a:t>마스킹이 언제 도움/해가 되는가를</a:t>
            </a:r>
            <a:endParaRPr lang="en-US" sz="1050" dirty="0"/>
          </a:p>
          <a:p>
            <a:pPr indent="0" marL="0">
              <a:buNone/>
            </a:pPr>
            <a:r>
              <a:rPr lang="en-US" sz="1050" dirty="0">
                <a:solidFill>
                  <a:srgbClr val="9FB8CE"/>
                </a:solidFill>
                <a:latin typeface="Arial" pitchFamily="34" charset="0"/>
                <a:ea typeface="Arial" pitchFamily="34" charset="-122"/>
                <a:cs typeface="Arial" pitchFamily="34" charset="-120"/>
              </a:rPr>
              <a:t>질문 유형 축으로 설명</a:t>
            </a:r>
            <a:endParaRPr lang="en-US" sz="1050" dirty="0"/>
          </a:p>
        </p:txBody>
      </p:sp>
      <p:sp>
        <p:nvSpPr>
          <p:cNvPr id="28" name="Text 26"/>
          <p:cNvSpPr/>
          <p:nvPr/>
        </p:nvSpPr>
        <p:spPr>
          <a:xfrm>
            <a:off x="6400800" y="4992624"/>
            <a:ext cx="5303520" cy="457200"/>
          </a:xfrm>
          <a:prstGeom prst="rect">
            <a:avLst/>
          </a:prstGeom>
          <a:noFill/>
          <a:ln/>
        </p:spPr>
        <p:txBody>
          <a:bodyPr wrap="square" lIns="0" tIns="0" rIns="0" bIns="0" rtlCol="0" anchor="ctr"/>
          <a:lstStyle/>
          <a:p>
            <a:pPr indent="0" marL="0">
              <a:buNone/>
            </a:pPr>
            <a:r>
              <a:rPr lang="en-US" sz="1150" dirty="0">
                <a:solidFill>
                  <a:srgbClr val="8CE0B0"/>
                </a:solidFill>
                <a:latin typeface="Arial" pitchFamily="34" charset="0"/>
                <a:ea typeface="Arial" pitchFamily="34" charset="-122"/>
                <a:cs typeface="Arial" pitchFamily="34" charset="-120"/>
              </a:rPr>
              <a:t>→ 우리 기여가 성립하는가</a:t>
            </a:r>
            <a:endParaRPr lang="en-US" sz="1150" dirty="0"/>
          </a:p>
        </p:txBody>
      </p:sp>
      <p:sp>
        <p:nvSpPr>
          <p:cNvPr id="29" name="Shape 27"/>
          <p:cNvSpPr/>
          <p:nvPr/>
        </p:nvSpPr>
        <p:spPr>
          <a:xfrm>
            <a:off x="502920" y="5806440"/>
            <a:ext cx="11201400" cy="685800"/>
          </a:xfrm>
          <a:prstGeom prst="roundRect">
            <a:avLst>
              <a:gd name="adj" fmla="val 10667"/>
            </a:avLst>
          </a:prstGeom>
          <a:solidFill>
            <a:srgbClr val="1D3850"/>
          </a:solidFill>
          <a:ln w="12700">
            <a:solidFill>
              <a:srgbClr val="2E4E6B"/>
            </a:solidFill>
            <a:prstDash val="solid"/>
          </a:ln>
        </p:spPr>
      </p:sp>
      <p:sp>
        <p:nvSpPr>
          <p:cNvPr id="30" name="Text 28"/>
          <p:cNvSpPr/>
          <p:nvPr/>
        </p:nvSpPr>
        <p:spPr>
          <a:xfrm>
            <a:off x="777240" y="5806440"/>
            <a:ext cx="10698480" cy="685800"/>
          </a:xfrm>
          <a:prstGeom prst="rect">
            <a:avLst/>
          </a:prstGeom>
          <a:noFill/>
          <a:ln/>
        </p:spPr>
        <p:txBody>
          <a:bodyPr wrap="square" lIns="0" tIns="0" rIns="0" bIns="0" rtlCol="0" anchor="ctr"/>
          <a:lstStyle/>
          <a:p>
            <a:pPr indent="0" marL="0">
              <a:buNone/>
            </a:pPr>
            <a:r>
              <a:rPr lang="en-US" sz="1200" b="1" dirty="0">
                <a:solidFill>
                  <a:srgbClr val="D7E4EF"/>
                </a:solidFill>
                <a:latin typeface="Arial" pitchFamily="34" charset="0"/>
                <a:ea typeface="Arial" pitchFamily="34" charset="-122"/>
                <a:cs typeface="Arial" pitchFamily="34" charset="-120"/>
              </a:rPr>
              <a:t>판정 기준을 미리 정해두겠습니다 — 게이트 1·2가 모두 실패하면 이 주제는 접고 다른 방향으로 넘어가겠습니다.  ·  GPU 1장, 기존 코드·데이터 재사용</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3B57"/>
        </a:solidFill>
      </p:bgPr>
    </p:bg>
    <p:spTree>
      <p:nvGrpSpPr>
        <p:cNvPr id="1" name=""/>
        <p:cNvGrpSpPr/>
        <p:nvPr/>
      </p:nvGrpSpPr>
      <p:grpSpPr>
        <a:xfrm>
          <a:off x="0" y="0"/>
          <a:ext cx="0" cy="0"/>
          <a:chOff x="0" y="0"/>
          <a:chExt cx="0" cy="0"/>
        </a:xfrm>
      </p:grpSpPr>
      <p:sp>
        <p:nvSpPr>
          <p:cNvPr id="2" name="Text 0"/>
          <p:cNvSpPr/>
          <p:nvPr/>
        </p:nvSpPr>
        <p:spPr>
          <a:xfrm>
            <a:off x="731520" y="2286000"/>
            <a:ext cx="7315200"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Appendix</a:t>
            </a:r>
            <a:endParaRPr lang="en-US" sz="4400" dirty="0"/>
          </a:p>
        </p:txBody>
      </p:sp>
      <p:sp>
        <p:nvSpPr>
          <p:cNvPr id="3" name="Text 1"/>
          <p:cNvSpPr/>
          <p:nvPr/>
        </p:nvSpPr>
        <p:spPr>
          <a:xfrm>
            <a:off x="731520" y="3200400"/>
            <a:ext cx="7315200" cy="457200"/>
          </a:xfrm>
          <a:prstGeom prst="rect">
            <a:avLst/>
          </a:prstGeom>
          <a:noFill/>
          <a:ln/>
        </p:spPr>
        <p:txBody>
          <a:bodyPr wrap="square" lIns="0" tIns="0" rIns="0" bIns="0" rtlCol="0" anchor="ctr"/>
          <a:lstStyle/>
          <a:p>
            <a:pPr indent="0" marL="0">
              <a:buNone/>
            </a:pPr>
            <a:r>
              <a:rPr lang="en-US" sz="1600" dirty="0">
                <a:solidFill>
                  <a:srgbClr val="AFC6DA"/>
                </a:solidFill>
                <a:latin typeface="Arial" pitchFamily="34" charset="0"/>
                <a:ea typeface="Arial" pitchFamily="34" charset="-122"/>
                <a:cs typeface="Arial" pitchFamily="34" charset="-120"/>
              </a:rPr>
              <a:t>질문 대응 상세 자료</a:t>
            </a:r>
            <a:endParaRPr lang="en-US" sz="1600" dirty="0"/>
          </a:p>
        </p:txBody>
      </p:sp>
      <p:sp>
        <p:nvSpPr>
          <p:cNvPr id="4" name="Text 2"/>
          <p:cNvSpPr/>
          <p:nvPr/>
        </p:nvSpPr>
        <p:spPr>
          <a:xfrm>
            <a:off x="6675120" y="1417320"/>
            <a:ext cx="5029200" cy="4206240"/>
          </a:xfrm>
          <a:prstGeom prst="rect">
            <a:avLst/>
          </a:prstGeom>
          <a:noFill/>
          <a:ln/>
        </p:spPr>
        <p:txBody>
          <a:bodyPr wrap="square" lIns="0" tIns="0" rIns="0" bIns="0" rtlCol="0" anchor="ctr"/>
          <a:lstStyle/>
          <a:p>
            <a:pPr indent="0" marL="0">
              <a:spcAft>
                <a:spcPts val="900"/>
              </a:spcAft>
              <a:buNone/>
            </a:pPr>
            <a:r>
              <a:rPr lang="en-US" sz="1350" dirty="0">
                <a:solidFill>
                  <a:srgbClr val="D7E4EF"/>
                </a:solidFill>
                <a:latin typeface="Arial" pitchFamily="34" charset="0"/>
                <a:ea typeface="Arial" pitchFamily="34" charset="-122"/>
                <a:cs typeface="Arial" pitchFamily="34" charset="-120"/>
              </a:rPr>
              <a:t>A0  실험 설계 상세 (4셀 매트릭스·조건 정의)</a:t>
            </a:r>
            <a:endParaRPr lang="en-US" sz="1350" dirty="0"/>
          </a:p>
          <a:p>
            <a:pPr indent="0" marL="0">
              <a:spcAft>
                <a:spcPts val="900"/>
              </a:spcAft>
              <a:buNone/>
            </a:pPr>
            <a:r>
              <a:rPr lang="en-US" sz="1350" dirty="0">
                <a:solidFill>
                  <a:srgbClr val="D7E4EF"/>
                </a:solidFill>
                <a:latin typeface="Arial" pitchFamily="34" charset="0"/>
                <a:ea typeface="Arial" pitchFamily="34" charset="-122"/>
                <a:cs typeface="Arial" pitchFamily="34" charset="-120"/>
              </a:rPr>
              <a:t>A1  전체 결과표 (조건 × 문항군)</a:t>
            </a:r>
            <a:endParaRPr lang="en-US" sz="1350" dirty="0"/>
          </a:p>
          <a:p>
            <a:pPr indent="0" marL="0">
              <a:spcAft>
                <a:spcPts val="900"/>
              </a:spcAft>
              <a:buNone/>
            </a:pPr>
            <a:r>
              <a:rPr lang="en-US" sz="1350" dirty="0">
                <a:solidFill>
                  <a:srgbClr val="D7E4EF"/>
                </a:solidFill>
                <a:latin typeface="Arial" pitchFamily="34" charset="0"/>
                <a:ea typeface="Arial" pitchFamily="34" charset="-122"/>
                <a:cs typeface="Arial" pitchFamily="34" charset="-120"/>
              </a:rPr>
              <a:t>A2  '두 장 비교' 질문 3종 상세</a:t>
            </a:r>
            <a:endParaRPr lang="en-US" sz="1350" dirty="0"/>
          </a:p>
          <a:p>
            <a:pPr indent="0" marL="0">
              <a:spcAft>
                <a:spcPts val="900"/>
              </a:spcAft>
              <a:buNone/>
            </a:pPr>
            <a:r>
              <a:rPr lang="en-US" sz="1350" dirty="0">
                <a:solidFill>
                  <a:srgbClr val="D7E4EF"/>
                </a:solidFill>
                <a:latin typeface="Arial" pitchFamily="34" charset="0"/>
                <a:ea typeface="Arial" pitchFamily="34" charset="-122"/>
                <a:cs typeface="Arial" pitchFamily="34" charset="-120"/>
              </a:rPr>
              <a:t>A3  반대 방향 오염과 margin 민감도</a:t>
            </a:r>
            <a:endParaRPr lang="en-US" sz="1350" dirty="0"/>
          </a:p>
          <a:p>
            <a:pPr indent="0" marL="0">
              <a:spcAft>
                <a:spcPts val="900"/>
              </a:spcAft>
              <a:buNone/>
            </a:pPr>
            <a:r>
              <a:rPr lang="en-US" sz="1350" dirty="0">
                <a:solidFill>
                  <a:srgbClr val="D7E4EF"/>
                </a:solidFill>
                <a:latin typeface="Arial" pitchFamily="34" charset="0"/>
                <a:ea typeface="Arial" pitchFamily="34" charset="-122"/>
                <a:cs typeface="Arial" pitchFamily="34" charset="-120"/>
              </a:rPr>
              <a:t>A3b 자체 반증 점검 (단일 이미지 비교)</a:t>
            </a:r>
            <a:endParaRPr lang="en-US" sz="1350" dirty="0"/>
          </a:p>
          <a:p>
            <a:pPr indent="0" marL="0">
              <a:spcAft>
                <a:spcPts val="900"/>
              </a:spcAft>
              <a:buNone/>
            </a:pPr>
            <a:r>
              <a:rPr lang="en-US" sz="1350" dirty="0">
                <a:solidFill>
                  <a:srgbClr val="D7E4EF"/>
                </a:solidFill>
                <a:latin typeface="Arial" pitchFamily="34" charset="0"/>
                <a:ea typeface="Arial" pitchFamily="34" charset="-122"/>
                <a:cs typeface="Arial" pitchFamily="34" charset="-120"/>
              </a:rPr>
              <a:t>A3c 배분의 상한 (+2.7%p)</a:t>
            </a:r>
            <a:endParaRPr lang="en-US" sz="1350" dirty="0"/>
          </a:p>
          <a:p>
            <a:pPr indent="0" marL="0">
              <a:spcAft>
                <a:spcPts val="900"/>
              </a:spcAft>
              <a:buNone/>
            </a:pPr>
            <a:r>
              <a:rPr lang="en-US" sz="1350" dirty="0">
                <a:solidFill>
                  <a:srgbClr val="D7E4EF"/>
                </a:solidFill>
                <a:latin typeface="Arial" pitchFamily="34" charset="0"/>
                <a:ea typeface="Arial" pitchFamily="34" charset="-122"/>
                <a:cs typeface="Arial" pitchFamily="34" charset="-120"/>
              </a:rPr>
              <a:t>A4  층별 식별률 전체 곡선</a:t>
            </a:r>
            <a:endParaRPr lang="en-US" sz="1350" dirty="0"/>
          </a:p>
          <a:p>
            <a:pPr indent="0" marL="0">
              <a:spcAft>
                <a:spcPts val="900"/>
              </a:spcAft>
              <a:buNone/>
            </a:pPr>
            <a:r>
              <a:rPr lang="en-US" sz="1350" dirty="0">
                <a:solidFill>
                  <a:srgbClr val="D7E4EF"/>
                </a:solidFill>
                <a:latin typeface="Arial" pitchFamily="34" charset="0"/>
                <a:ea typeface="Arial" pitchFamily="34" charset="-122"/>
                <a:cs typeface="Arial" pitchFamily="34" charset="-120"/>
              </a:rPr>
              <a:t>A5  층별 attention 분포</a:t>
            </a:r>
            <a:endParaRPr lang="en-US" sz="1350" dirty="0"/>
          </a:p>
          <a:p>
            <a:pPr indent="0" marL="0">
              <a:spcAft>
                <a:spcPts val="900"/>
              </a:spcAft>
              <a:buNone/>
            </a:pPr>
            <a:r>
              <a:rPr lang="en-US" sz="1350" dirty="0">
                <a:solidFill>
                  <a:srgbClr val="D7E4EF"/>
                </a:solidFill>
                <a:latin typeface="Arial" pitchFamily="34" charset="0"/>
                <a:ea typeface="Arial" pitchFamily="34" charset="-122"/>
                <a:cs typeface="Arial" pitchFamily="34" charset="-120"/>
              </a:rPr>
              <a:t>A6  재현성·환경·한계</a:t>
            </a:r>
            <a:endParaRPr lang="en-US" sz="1350" dirty="0"/>
          </a:p>
          <a:p>
            <a:pPr indent="0" marL="0">
              <a:spcAft>
                <a:spcPts val="900"/>
              </a:spcAft>
              <a:buNone/>
            </a:pPr>
            <a:r>
              <a:rPr lang="en-US" sz="1350" dirty="0">
                <a:solidFill>
                  <a:srgbClr val="D7E4EF"/>
                </a:solidFill>
                <a:latin typeface="Arial" pitchFamily="34" charset="0"/>
                <a:ea typeface="Arial" pitchFamily="34" charset="-122"/>
                <a:cs typeface="Arial" pitchFamily="34" charset="-120"/>
              </a:rPr>
              <a:t>A7  [미확정] 오늘 밤 산출분</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37744"/>
            <a:ext cx="9601200" cy="292608"/>
          </a:xfrm>
          <a:prstGeom prst="rect">
            <a:avLst/>
          </a:prstGeom>
          <a:noFill/>
          <a:ln/>
        </p:spPr>
        <p:txBody>
          <a:bodyPr wrap="square" lIns="0" tIns="0" rIns="0" bIns="0" rtlCol="0" anchor="ctr"/>
          <a:lstStyle/>
          <a:p>
            <a:pPr indent="0" marL="0">
              <a:buNone/>
            </a:pPr>
            <a:r>
              <a:rPr lang="en-US" sz="1150" b="1" spc="100" kern="0" dirty="0">
                <a:solidFill>
                  <a:srgbClr val="1F77B4"/>
                </a:solidFill>
                <a:latin typeface="Arial" pitchFamily="34" charset="0"/>
                <a:ea typeface="Arial" pitchFamily="34" charset="-122"/>
                <a:cs typeface="Arial" pitchFamily="34" charset="-120"/>
              </a:rPr>
              <a:t>APPENDIX A0</a:t>
            </a:r>
            <a:endParaRPr lang="en-US" sz="1150" dirty="0"/>
          </a:p>
        </p:txBody>
      </p:sp>
      <p:sp>
        <p:nvSpPr>
          <p:cNvPr id="3" name="Text 1"/>
          <p:cNvSpPr/>
          <p:nvPr/>
        </p:nvSpPr>
        <p:spPr>
          <a:xfrm>
            <a:off x="502920" y="512064"/>
            <a:ext cx="11155680" cy="731520"/>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실험 설계 상세 — 4개 문항군(셀)과 10개 조건</a:t>
            </a:r>
            <a:endParaRPr lang="en-US" sz="2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6035040" cy="914400"/>
        </p:xfrm>
        <a:graphic>
          <a:graphicData uri="http://schemas.openxmlformats.org/drawingml/2006/table">
            <a:tbl>
              <a:tblPr/>
              <a:tblGrid>
                <a:gridCol w="2011680"/>
                <a:gridCol w="2011680"/>
                <a:gridCol w="2011680"/>
              </a:tblGrid>
              <a:tr h="457200">
                <a:tc>
                  <a:txBody>
                    <a:bodyPr/>
                    <a:lstStyle/>
                    <a:p>
                      <a:pPr algn="ctr" indent="0" marL="0">
                        <a:buNone/>
                      </a:pP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방해 이미지에 질의 객체 있음</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없음</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B57"/>
                    </a:solidFill>
                  </a:tcPr>
                </a:tc>
              </a:tr>
              <a:tr h="91440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정답 '없다'</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D62728"/>
                          </a:solidFill>
                          <a:latin typeface="Arial" pitchFamily="34" charset="0"/>
                          <a:ea typeface="Arial" pitchFamily="34" charset="-122"/>
                          <a:cs typeface="Arial" pitchFamily="34" charset="-120"/>
                        </a:rPr>
                        <a:t>셀1 · 주 오염 측정</a:t>
                      </a:r>
                      <a:endParaRPr lang="en-US" sz="1100" dirty="0">
                        <a:latin typeface="Arial" charset="0"/>
                        <a:ea typeface="Arial" charset="0"/>
                        <a:cs typeface="Arial" charset="0"/>
                      </a:endParaRPr>
                    </a:p>
                    <a:p>
                      <a:pPr algn="ctr" indent="0" marL="0">
                        <a:buNone/>
                      </a:pPr>
                      <a:r>
                        <a:rPr lang="en-US" sz="1100" b="1" dirty="0">
                          <a:solidFill>
                            <a:srgbClr val="D62728"/>
                          </a:solidFill>
                          <a:latin typeface="Arial" pitchFamily="34" charset="0"/>
                          <a:ea typeface="Arial" pitchFamily="34" charset="-122"/>
                          <a:cs typeface="Arial" pitchFamily="34" charset="-120"/>
                        </a:rPr>
                        <a:t>(없다→있다 뒤집힘 예상)</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AEA"/>
                    </a:solidFill>
                  </a:tcPr>
                </a:tc>
                <a:tc>
                  <a:txBody>
                    <a:bodyPr/>
                    <a:lstStyle/>
                    <a:p>
                      <a:pPr algn="ctr" indent="0" marL="0">
                        <a:buNone/>
                      </a:pPr>
                      <a:r>
                        <a:rPr lang="en-US" sz="1100" dirty="0">
                          <a:solidFill>
                            <a:srgbClr val="6B7280"/>
                          </a:solidFill>
                          <a:latin typeface="Arial" pitchFamily="34" charset="0"/>
                          <a:ea typeface="Arial" pitchFamily="34" charset="-122"/>
                          <a:cs typeface="Arial" pitchFamily="34" charset="-120"/>
                        </a:rPr>
                        <a:t>셀3 · 대조군</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4F6"/>
                    </a:solidFill>
                  </a:tcPr>
                </a:tc>
              </a:tr>
              <a:tr h="91440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정답 '있다'</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B57"/>
                    </a:solidFill>
                  </a:tcPr>
                </a:tc>
                <a:tc>
                  <a:txBody>
                    <a:bodyPr/>
                    <a:lstStyle/>
                    <a:p>
                      <a:pPr algn="ctr" indent="0" marL="0">
                        <a:buNone/>
                      </a:pPr>
                      <a:r>
                        <a:rPr lang="en-US" sz="1100" dirty="0">
                          <a:solidFill>
                            <a:srgbClr val="6B7280"/>
                          </a:solidFill>
                          <a:latin typeface="Arial" pitchFamily="34" charset="0"/>
                          <a:ea typeface="Arial" pitchFamily="34" charset="-122"/>
                          <a:cs typeface="Arial" pitchFamily="34" charset="-120"/>
                        </a:rPr>
                        <a:t>셀4 · 대조군</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4F6"/>
                    </a:solidFill>
                  </a:tcPr>
                </a:tc>
                <a:tc>
                  <a:txBody>
                    <a:bodyPr/>
                    <a:lstStyle/>
                    <a:p>
                      <a:pPr algn="ctr" indent="0" marL="0">
                        <a:buNone/>
                      </a:pPr>
                      <a:r>
                        <a:rPr lang="en-US" sz="1100" b="1" dirty="0">
                          <a:solidFill>
                            <a:srgbClr val="D62728"/>
                          </a:solidFill>
                          <a:latin typeface="Arial" pitchFamily="34" charset="0"/>
                          <a:ea typeface="Arial" pitchFamily="34" charset="-122"/>
                          <a:cs typeface="Arial" pitchFamily="34" charset="-120"/>
                        </a:rPr>
                        <a:t>셀2 · 반대 방향 오염</a:t>
                      </a:r>
                      <a:endParaRPr lang="en-US" sz="1100" dirty="0">
                        <a:latin typeface="Arial" charset="0"/>
                        <a:ea typeface="Arial" charset="0"/>
                        <a:cs typeface="Arial" charset="0"/>
                      </a:endParaRPr>
                    </a:p>
                    <a:p>
                      <a:pPr algn="ctr" indent="0" marL="0">
                        <a:buNone/>
                      </a:pPr>
                      <a:r>
                        <a:rPr lang="en-US" sz="1100" b="1" dirty="0">
                          <a:solidFill>
                            <a:srgbClr val="D62728"/>
                          </a:solidFill>
                          <a:latin typeface="Arial" pitchFamily="34" charset="0"/>
                          <a:ea typeface="Arial" pitchFamily="34" charset="-122"/>
                          <a:cs typeface="Arial" pitchFamily="34" charset="-120"/>
                        </a:rPr>
                        <a:t>(있다→없다)</a:t>
                      </a:r>
                      <a:endParaRPr lang="en-US" sz="11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AEA"/>
                    </a:solidFill>
                  </a:tcPr>
                </a:tc>
              </a:tr>
            </a:tbl>
          </a:graphicData>
        </a:graphic>
      </p:graphicFrame>
      <p:sp>
        <p:nvSpPr>
          <p:cNvPr id="5" name="Text 2"/>
          <p:cNvSpPr/>
          <p:nvPr/>
        </p:nvSpPr>
        <p:spPr>
          <a:xfrm>
            <a:off x="6766560" y="1691640"/>
            <a:ext cx="4937760" cy="329184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1F3B57"/>
                </a:solidFill>
                <a:latin typeface="Arial" pitchFamily="34" charset="0"/>
                <a:ea typeface="Arial" pitchFamily="34" charset="-122"/>
                <a:cs typeface="Arial" pitchFamily="34" charset="-120"/>
              </a:rPr>
              <a:t>프롬프트: "In the first image, is there a ○○? Answer with Yes or No."</a:t>
            </a:r>
            <a:endParaRPr lang="en-US" sz="1150" dirty="0"/>
          </a:p>
          <a:p>
            <a:pPr marL="342900" indent="-342900">
              <a:spcAft>
                <a:spcPts val="800"/>
              </a:spcAft>
              <a:buSzPct val="100000"/>
              <a:buChar char="•"/>
            </a:pPr>
            <a:r>
              <a:rPr lang="en-US" sz="1150" dirty="0">
                <a:solidFill>
                  <a:srgbClr val="1F3B57"/>
                </a:solidFill>
                <a:latin typeface="Arial" pitchFamily="34" charset="0"/>
                <a:ea typeface="Arial" pitchFamily="34" charset="-122"/>
                <a:cs typeface="Arial" pitchFamily="34" charset="-120"/>
              </a:rPr>
              <a:t>조건 10개: 차단 없음(M) / 4·8·12·16·20·24층부터 차단 / 완전 차단(T0) / 이미지 1장(S) / 역방향 차단(T-rel)</a:t>
            </a:r>
            <a:endParaRPr lang="en-US" sz="1150" dirty="0"/>
          </a:p>
          <a:p>
            <a:pPr marL="342900" indent="-342900">
              <a:spcAft>
                <a:spcPts val="800"/>
              </a:spcAft>
              <a:buSzPct val="100000"/>
              <a:buChar char="•"/>
            </a:pPr>
            <a:r>
              <a:rPr lang="en-US" sz="1150" dirty="0">
                <a:solidFill>
                  <a:srgbClr val="1F3B57"/>
                </a:solidFill>
                <a:latin typeface="Arial" pitchFamily="34" charset="0"/>
                <a:ea typeface="Arial" pitchFamily="34" charset="-122"/>
                <a:cs typeface="Arial" pitchFamily="34" charset="-120"/>
              </a:rPr>
              <a:t>평가: 생성 없이 다음 토큰의 Yes/No 확률 비교 · 통계: 동일 문항 짝지은 McNemar 검정</a:t>
            </a:r>
            <a:endParaRPr lang="en-US" sz="1150" dirty="0"/>
          </a:p>
          <a:p>
            <a:pPr marL="342900" indent="-342900">
              <a:spcAft>
                <a:spcPts val="800"/>
              </a:spcAft>
              <a:buSzPct val="100000"/>
              <a:buChar char="•"/>
            </a:pPr>
            <a:r>
              <a:rPr lang="en-US" sz="1150" dirty="0">
                <a:solidFill>
                  <a:srgbClr val="1F3B57"/>
                </a:solidFill>
                <a:latin typeface="Arial" pitchFamily="34" charset="0"/>
                <a:ea typeface="Arial" pitchFamily="34" charset="-122"/>
                <a:cs typeface="Arial" pitchFamily="34" charset="-120"/>
              </a:rPr>
              <a:t>방해 이미지: 같은 상위 범주의 다른 COCO 사진 — 객체 유무는 annotation으로 검증, 4셀 균형 배정</a:t>
            </a:r>
            <a:endParaRPr lang="en-US" sz="1150" dirty="0"/>
          </a:p>
        </p:txBody>
      </p:sp>
      <p:sp>
        <p:nvSpPr>
          <p:cNvPr id="6" name="Text 3"/>
          <p:cNvSpPr/>
          <p:nvPr/>
        </p:nvSpPr>
        <p:spPr>
          <a:xfrm>
            <a:off x="502920" y="4892040"/>
            <a:ext cx="11155680" cy="548640"/>
          </a:xfrm>
          <a:prstGeom prst="rect">
            <a:avLst/>
          </a:prstGeom>
          <a:noFill/>
          <a:ln/>
        </p:spPr>
        <p:txBody>
          <a:bodyPr wrap="square" lIns="0" tIns="0" rIns="0" bIns="0" rtlCol="0" anchor="ctr"/>
          <a:lstStyle/>
          <a:p>
            <a:pPr indent="0" marL="0">
              <a:buNone/>
            </a:pPr>
            <a:r>
              <a:rPr lang="en-US" sz="1150" dirty="0">
                <a:solidFill>
                  <a:srgbClr val="6B7280"/>
                </a:solidFill>
                <a:latin typeface="Arial" pitchFamily="34" charset="0"/>
                <a:ea typeface="Arial" pitchFamily="34" charset="-122"/>
                <a:cs typeface="Arial" pitchFamily="34" charset="-120"/>
              </a:rPr>
              <a:t>양방향(셀1·셀2)을 두는 이유: '예'라고만 답하는 편향(yes-bias) 같은 단일 편향으로는 두 방향을 동시에 설명할 수 없기 때문</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37744"/>
            <a:ext cx="9601200" cy="292608"/>
          </a:xfrm>
          <a:prstGeom prst="rect">
            <a:avLst/>
          </a:prstGeom>
          <a:noFill/>
          <a:ln/>
        </p:spPr>
        <p:txBody>
          <a:bodyPr wrap="square" lIns="0" tIns="0" rIns="0" bIns="0" rtlCol="0" anchor="ctr"/>
          <a:lstStyle/>
          <a:p>
            <a:pPr indent="0" marL="0">
              <a:buNone/>
            </a:pPr>
            <a:r>
              <a:rPr lang="en-US" sz="1150" b="1" spc="100" kern="0" dirty="0">
                <a:solidFill>
                  <a:srgbClr val="1F77B4"/>
                </a:solidFill>
                <a:latin typeface="Arial" pitchFamily="34" charset="0"/>
                <a:ea typeface="Arial" pitchFamily="34" charset="-122"/>
                <a:cs typeface="Arial" pitchFamily="34" charset="-120"/>
              </a:rPr>
              <a:t>APPENDIX A1</a:t>
            </a:r>
            <a:endParaRPr lang="en-US" sz="1150" dirty="0"/>
          </a:p>
        </p:txBody>
      </p:sp>
      <p:sp>
        <p:nvSpPr>
          <p:cNvPr id="3" name="Text 1"/>
          <p:cNvSpPr/>
          <p:nvPr/>
        </p:nvSpPr>
        <p:spPr>
          <a:xfrm>
            <a:off x="502920" y="512064"/>
            <a:ext cx="11155680" cy="731520"/>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전체 결과표 — 조건 × 문항군 정답률, 회복/부작용, p값</a:t>
            </a:r>
            <a:endParaRPr lang="en-US" sz="2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11201400" cy="914400"/>
        </p:xfrm>
        <a:graphic>
          <a:graphicData uri="http://schemas.openxmlformats.org/drawingml/2006/table">
            <a:tbl>
              <a:tblPr/>
              <a:tblGrid>
                <a:gridCol w="1244600"/>
                <a:gridCol w="1244600"/>
                <a:gridCol w="1244600"/>
                <a:gridCol w="1244600"/>
                <a:gridCol w="1244600"/>
                <a:gridCol w="1244600"/>
                <a:gridCol w="1244600"/>
                <a:gridCol w="1244600"/>
                <a:gridCol w="1244600"/>
              </a:tblGrid>
              <a:tr h="384048">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조건</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셀1</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셀2</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셀3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셀4</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전체</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회복(셀1)</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부작용(셀1)</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p(셀1)</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r>
              <a:tr h="384048">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이미지 1장 (S)</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0.893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0.740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0.947</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0.780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0.840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84048">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차단 없음 (M)</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0.720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0.633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0.980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0.827</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0.790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r>
              <a:tr h="384048">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4층부터 차단</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0.920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0.720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0.960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0.767</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0.842</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81.0%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3.7%</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6.0e-7</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84048">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8층부터</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0.933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0.667</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0.960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0.760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0.830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83.3%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2.8%</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6.7e-8</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r>
              <a:tr h="384048">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16층부터</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0.933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0.627</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0.967</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0.740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0.817</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85.7%</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3.7%</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1.9e-7</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84048">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24층부터</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0.733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0.633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0.987</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0.820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0.793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7.1%</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0.9%</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0.63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r>
              <a:tr h="384048">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완전 차단 (T0)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0.933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0.720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0.953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0.773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0.845</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83.3%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2.8%</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6.7e-8</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84048">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역방향 차단</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0.240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0.027</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0.980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0.760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0.502</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3.6e-38*</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3F4F6"/>
                    </a:solidFill>
                  </a:tcPr>
                </a:tc>
              </a:tr>
            </a:tbl>
          </a:graphicData>
        </a:graphic>
      </p:graphicFrame>
      <p:sp>
        <p:nvSpPr>
          <p:cNvPr id="5" name="Text 2"/>
          <p:cNvSpPr/>
          <p:nvPr/>
        </p:nvSpPr>
        <p:spPr>
          <a:xfrm>
            <a:off x="502920" y="5806440"/>
            <a:ext cx="11155680" cy="32004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 역방향 차단은 600문항 전체 검정 · 12/20층 포함 전체 그리드는 results/table1.csv · 내일 세분화 그리드(12점) 추가 예정</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237744"/>
            <a:ext cx="9601200" cy="292608"/>
          </a:xfrm>
          <a:prstGeom prst="rect">
            <a:avLst/>
          </a:prstGeom>
          <a:noFill/>
          <a:ln/>
        </p:spPr>
        <p:txBody>
          <a:bodyPr wrap="square" lIns="0" tIns="0" rIns="0" bIns="0" rtlCol="0" anchor="ctr"/>
          <a:lstStyle/>
          <a:p>
            <a:pPr indent="0" marL="0">
              <a:buNone/>
            </a:pPr>
            <a:r>
              <a:rPr lang="en-US" sz="1150" b="1" spc="100" kern="0" dirty="0">
                <a:solidFill>
                  <a:srgbClr val="1F77B4"/>
                </a:solidFill>
                <a:latin typeface="Arial" pitchFamily="34" charset="0"/>
                <a:ea typeface="Arial" pitchFamily="34" charset="-122"/>
                <a:cs typeface="Arial" pitchFamily="34" charset="-120"/>
              </a:rPr>
              <a:t>APPENDIX A2</a:t>
            </a:r>
            <a:endParaRPr lang="en-US" sz="1150" dirty="0"/>
          </a:p>
        </p:txBody>
      </p:sp>
      <p:sp>
        <p:nvSpPr>
          <p:cNvPr id="3" name="Text 1"/>
          <p:cNvSpPr/>
          <p:nvPr/>
        </p:nvSpPr>
        <p:spPr>
          <a:xfrm>
            <a:off x="502920" y="512064"/>
            <a:ext cx="11155680" cy="731520"/>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'두 장 비교' 질문 상세 — "두 이미지 모두에 ○○ 있나요?" (3종 × 100문항)</a:t>
            </a:r>
            <a:endParaRPr lang="en-US" sz="2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11201400" cy="914400"/>
        </p:xfrm>
        <a:graphic>
          <a:graphicData uri="http://schemas.openxmlformats.org/drawingml/2006/table">
            <a:tbl>
              <a:tblPr/>
              <a:tblGrid>
                <a:gridCol w="1244600"/>
                <a:gridCol w="1244600"/>
                <a:gridCol w="1244600"/>
                <a:gridCol w="1244600"/>
                <a:gridCol w="1244600"/>
                <a:gridCol w="1244600"/>
                <a:gridCol w="1244600"/>
                <a:gridCol w="1244600"/>
                <a:gridCol w="1244600"/>
              </a:tblGrid>
              <a:tr h="457200">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문항 유형 (정답)</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차단 없음</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24층</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20층</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16층</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12층</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8층</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4층</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완전 차단</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r>
              <a:tr h="457200">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1번에만 있음 ('아니오')</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0.76</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0.72</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2728"/>
                          </a:solidFill>
                          <a:latin typeface="Arial" pitchFamily="34" charset="0"/>
                          <a:ea typeface="Arial" pitchFamily="34" charset="-122"/>
                          <a:cs typeface="Arial" pitchFamily="34" charset="-120"/>
                        </a:rPr>
                        <a:t>0.38</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2728"/>
                          </a:solidFill>
                          <a:latin typeface="Arial" pitchFamily="34" charset="0"/>
                          <a:ea typeface="Arial" pitchFamily="34" charset="-122"/>
                          <a:cs typeface="Arial" pitchFamily="34" charset="-120"/>
                        </a:rPr>
                        <a:t>0.34</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2728"/>
                          </a:solidFill>
                          <a:latin typeface="Arial" pitchFamily="34" charset="0"/>
                          <a:ea typeface="Arial" pitchFamily="34" charset="-122"/>
                          <a:cs typeface="Arial" pitchFamily="34" charset="-120"/>
                        </a:rPr>
                        <a:t>0.27</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2728"/>
                          </a:solidFill>
                          <a:latin typeface="Arial" pitchFamily="34" charset="0"/>
                          <a:ea typeface="Arial" pitchFamily="34" charset="-122"/>
                          <a:cs typeface="Arial" pitchFamily="34" charset="-120"/>
                        </a:rPr>
                        <a:t>0.24</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2728"/>
                          </a:solidFill>
                          <a:latin typeface="Arial" pitchFamily="34" charset="0"/>
                          <a:ea typeface="Arial" pitchFamily="34" charset="-122"/>
                          <a:cs typeface="Arial" pitchFamily="34" charset="-120"/>
                        </a:rPr>
                        <a:t>0.25</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62728"/>
                          </a:solidFill>
                          <a:latin typeface="Arial" pitchFamily="34" charset="0"/>
                          <a:ea typeface="Arial" pitchFamily="34" charset="-122"/>
                          <a:cs typeface="Arial" pitchFamily="34" charset="-120"/>
                        </a:rPr>
                        <a:t>0.26</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2번에만 있음 ('아니오')</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0.49</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0.48</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0.99</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1.00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1.00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1.00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1.00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algn="ctr" indent="0" marL="0">
                        <a:buNone/>
                      </a:pPr>
                      <a:r>
                        <a:rPr lang="en-US" sz="1050" b="1" dirty="0">
                          <a:solidFill>
                            <a:srgbClr val="1F3B57"/>
                          </a:solidFill>
                          <a:latin typeface="Arial" pitchFamily="34" charset="0"/>
                          <a:ea typeface="Arial" pitchFamily="34" charset="-122"/>
                          <a:cs typeface="Arial" pitchFamily="34" charset="-120"/>
                        </a:rPr>
                        <a:t>둘 다 있음 ('예')</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0.73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0.73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0.80</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0.73</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0.76</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0.77</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0.74</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3B57"/>
                          </a:solidFill>
                          <a:latin typeface="Arial" pitchFamily="34" charset="0"/>
                          <a:ea typeface="Arial" pitchFamily="34" charset="-122"/>
                          <a:cs typeface="Arial" pitchFamily="34" charset="-120"/>
                        </a:rPr>
                        <a:t>0.72</a:t>
                      </a:r>
                      <a:endParaRPr lang="en-US" sz="105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3794760"/>
            <a:ext cx="11201400" cy="192024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1F3B57"/>
                </a:solidFill>
                <a:latin typeface="Arial" pitchFamily="34" charset="0"/>
                <a:ea typeface="Arial" pitchFamily="34" charset="-122"/>
                <a:cs typeface="Arial" pitchFamily="34" charset="-120"/>
              </a:rPr>
              <a:t>본편(핵심 그림)의 빨간 곡선은 1행입니다 — '아니오'가 정답이려면 2번 이미지를 반드시 확인해야 하므로, 차단하면 무너지는 것이 정상</a:t>
            </a:r>
            <a:endParaRPr lang="en-US" sz="1150" dirty="0"/>
          </a:p>
          <a:p>
            <a:pPr marL="342900" indent="-342900">
              <a:spcAft>
                <a:spcPts val="800"/>
              </a:spcAft>
              <a:buSzPct val="100000"/>
              <a:buChar char="•"/>
            </a:pPr>
            <a:r>
              <a:rPr lang="en-US" sz="1150" dirty="0">
                <a:solidFill>
                  <a:srgbClr val="1F3B57"/>
                </a:solidFill>
                <a:latin typeface="Arial" pitchFamily="34" charset="0"/>
                <a:ea typeface="Arial" pitchFamily="34" charset="-122"/>
                <a:cs typeface="Arial" pitchFamily="34" charset="-120"/>
              </a:rPr>
              <a:t>2행이 차단 시 1.00이 되는 이유: 2번이 안 보이면 모델이 '한 장짜리 문제'로 축소해 '아니오'를 답함(우연히 정답) — 차단의 완전성을 보여주는 부수 증거</a:t>
            </a:r>
            <a:endParaRPr lang="en-US" sz="1150" dirty="0"/>
          </a:p>
          <a:p>
            <a:pPr marL="342900" indent="-342900">
              <a:spcAft>
                <a:spcPts val="800"/>
              </a:spcAft>
              <a:buSzPct val="100000"/>
              <a:buChar char="•"/>
            </a:pPr>
            <a:r>
              <a:rPr lang="en-US" sz="1150" dirty="0">
                <a:solidFill>
                  <a:srgbClr val="1F3B57"/>
                </a:solidFill>
                <a:latin typeface="Arial" pitchFamily="34" charset="0"/>
                <a:ea typeface="Arial" pitchFamily="34" charset="-122"/>
                <a:cs typeface="Arial" pitchFamily="34" charset="-120"/>
              </a:rPr>
              <a:t>3행이 평평한 이유: 1번만 보고도 '예'로 기울 수 있어 판별력이 낮음 — 그래서 본편 판정은 1행 기준</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237744"/>
            <a:ext cx="9601200" cy="292608"/>
          </a:xfrm>
          <a:prstGeom prst="rect">
            <a:avLst/>
          </a:prstGeom>
          <a:noFill/>
          <a:ln/>
        </p:spPr>
        <p:txBody>
          <a:bodyPr wrap="square" lIns="0" tIns="0" rIns="0" bIns="0" rtlCol="0" anchor="ctr"/>
          <a:lstStyle/>
          <a:p>
            <a:pPr indent="0" marL="0">
              <a:buNone/>
            </a:pPr>
            <a:r>
              <a:rPr lang="en-US" sz="1150" b="1" spc="100" kern="0" dirty="0">
                <a:solidFill>
                  <a:srgbClr val="1F77B4"/>
                </a:solidFill>
                <a:latin typeface="Arial" pitchFamily="34" charset="0"/>
                <a:ea typeface="Arial" pitchFamily="34" charset="-122"/>
                <a:cs typeface="Arial" pitchFamily="34" charset="-120"/>
              </a:rPr>
              <a:t>APPENDIX A3</a:t>
            </a:r>
            <a:endParaRPr lang="en-US" sz="1150" dirty="0"/>
          </a:p>
        </p:txBody>
      </p:sp>
      <p:sp>
        <p:nvSpPr>
          <p:cNvPr id="3" name="Text 1"/>
          <p:cNvSpPr/>
          <p:nvPr/>
        </p:nvSpPr>
        <p:spPr>
          <a:xfrm>
            <a:off x="502920" y="512064"/>
            <a:ext cx="11155680" cy="731520"/>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반대 방향 오염('있다→없다')과 확신도(margin) 민감도</a:t>
            </a:r>
            <a:endParaRPr lang="en-US" sz="2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822960" y="1691640"/>
          <a:ext cx="10515600" cy="914400"/>
        </p:xfrm>
        <a:graphic>
          <a:graphicData uri="http://schemas.openxmlformats.org/drawingml/2006/table">
            <a:tbl>
              <a:tblPr/>
              <a:tblGrid>
                <a:gridCol w="2628900"/>
                <a:gridCol w="2628900"/>
                <a:gridCol w="2628900"/>
                <a:gridCol w="2628900"/>
              </a:tblGrid>
              <a:tr h="475488">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확신도 낮은 문항 제외 기준</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주 오염: 없다→있다 (셀1)</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반대: 있다→없다 (셀2)</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회복률 (셀1, 4층 차단)</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r>
              <a:tr h="475488">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제외 없음 (전체)</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21.3%  (150문항)</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12.7%  (150문항)</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81.0%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확신도 ≥ 0.25만</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21.4%  (131)</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8.6%  (128)</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82.9%</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확신도 ≥ 0.5만</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18.9%  (111)</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D62728"/>
                          </a:solidFill>
                          <a:latin typeface="Arial" pitchFamily="34" charset="0"/>
                          <a:ea typeface="Arial" pitchFamily="34" charset="-122"/>
                          <a:cs typeface="Arial" pitchFamily="34" charset="-120"/>
                        </a:rPr>
                        <a:t>1.0%  (103)</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77.8%</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확신도 ≥ 1.0만</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16.2%  (74)</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D62728"/>
                          </a:solidFill>
                          <a:latin typeface="Arial" pitchFamily="34" charset="0"/>
                          <a:ea typeface="Arial" pitchFamily="34" charset="-122"/>
                          <a:cs typeface="Arial" pitchFamily="34" charset="-120"/>
                        </a:rPr>
                        <a:t>0.0%  (78)</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85.7%</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Text 2"/>
          <p:cNvSpPr/>
          <p:nvPr/>
        </p:nvSpPr>
        <p:spPr>
          <a:xfrm>
            <a:off x="822960" y="4434840"/>
            <a:ext cx="10515600" cy="155448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1F3B57"/>
                </a:solidFill>
                <a:latin typeface="Arial" pitchFamily="34" charset="0"/>
                <a:ea typeface="Arial" pitchFamily="34" charset="-122"/>
                <a:cs typeface="Arial" pitchFamily="34" charset="-120"/>
              </a:rPr>
              <a:t>주 오염(셀1)은 확신도 높은 문항만 남겨도 16~21%로 유지 → 경계선 문항의 착시가 아님</a:t>
            </a:r>
            <a:endParaRPr lang="en-US" sz="1200" dirty="0"/>
          </a:p>
          <a:p>
            <a:pPr marL="342900" indent="-342900">
              <a:spcAft>
                <a:spcPts val="800"/>
              </a:spcAft>
              <a:buSzPct val="100000"/>
              <a:buChar char="•"/>
            </a:pPr>
            <a:r>
              <a:rPr lang="en-US" sz="1200" dirty="0">
                <a:solidFill>
                  <a:srgbClr val="1F3B57"/>
                </a:solidFill>
                <a:latin typeface="Arial" pitchFamily="34" charset="0"/>
                <a:ea typeface="Arial" pitchFamily="34" charset="-122"/>
                <a:cs typeface="Arial" pitchFamily="34" charset="-120"/>
              </a:rPr>
              <a:t>반대 방향(셀2)은 확신도 0.5 이상에서 사실상 소멸 → 결정 경계 근처의 흔들림으로 해석, 본편 주장에서 제외</a:t>
            </a:r>
            <a:endParaRPr lang="en-US" sz="1200" dirty="0"/>
          </a:p>
          <a:p>
            <a:pPr marL="342900" indent="-342900">
              <a:spcAft>
                <a:spcPts val="800"/>
              </a:spcAft>
              <a:buSzPct val="100000"/>
              <a:buChar char="•"/>
            </a:pPr>
            <a:r>
              <a:rPr lang="en-US" sz="1200" b="1" dirty="0">
                <a:solidFill>
                  <a:srgbClr val="1F3B57"/>
                </a:solidFill>
                <a:latin typeface="Arial" pitchFamily="34" charset="0"/>
                <a:ea typeface="Arial" pitchFamily="34" charset="-122"/>
                <a:cs typeface="Arial" pitchFamily="34" charset="-120"/>
              </a:rPr>
              <a:t>따라서 본편은 셀1 + 인과 실험(역방향 차단)만으로 구성 — 약한 증거는 약하다고 표기하는 원칙</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237744"/>
            <a:ext cx="9601200" cy="292608"/>
          </a:xfrm>
          <a:prstGeom prst="rect">
            <a:avLst/>
          </a:prstGeom>
          <a:noFill/>
          <a:ln/>
        </p:spPr>
        <p:txBody>
          <a:bodyPr wrap="square" lIns="0" tIns="0" rIns="0" bIns="0" rtlCol="0" anchor="ctr"/>
          <a:lstStyle/>
          <a:p>
            <a:pPr indent="0" marL="0">
              <a:buNone/>
            </a:pPr>
            <a:r>
              <a:rPr lang="en-US" sz="1150" b="1" spc="100" kern="0" dirty="0">
                <a:solidFill>
                  <a:srgbClr val="1F77B4"/>
                </a:solidFill>
                <a:latin typeface="Arial" pitchFamily="34" charset="0"/>
                <a:ea typeface="Arial" pitchFamily="34" charset="-122"/>
                <a:cs typeface="Arial" pitchFamily="34" charset="-120"/>
              </a:rPr>
              <a:t>APPENDIX A3b</a:t>
            </a:r>
            <a:endParaRPr lang="en-US" sz="1150" dirty="0"/>
          </a:p>
        </p:txBody>
      </p:sp>
      <p:sp>
        <p:nvSpPr>
          <p:cNvPr id="3" name="Text 1"/>
          <p:cNvSpPr/>
          <p:nvPr/>
        </p:nvSpPr>
        <p:spPr>
          <a:xfrm>
            <a:off x="502920" y="512064"/>
            <a:ext cx="11155680" cy="731520"/>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자체 반증 점검 — "차단이 이미지 1장보다 낫다"는 주장은 성립하지 않는다</a:t>
            </a:r>
            <a:endParaRPr lang="en-US" sz="2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11201400" cy="914400"/>
        </p:xfrm>
        <a:graphic>
          <a:graphicData uri="http://schemas.openxmlformats.org/drawingml/2006/table">
            <a:tbl>
              <a:tblPr/>
              <a:tblGrid>
                <a:gridCol w="1600200"/>
                <a:gridCol w="1600200"/>
                <a:gridCol w="1600200"/>
                <a:gridCol w="1600200"/>
                <a:gridCol w="1600200"/>
                <a:gridCol w="1600200"/>
                <a:gridCol w="1600200"/>
              </a:tblGrid>
              <a:tr h="566928">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조건</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정답 '없다'</a:t>
                      </a:r>
                      <a:endParaRPr lang="en-US" sz="1100" dirty="0">
                        <a:latin typeface="Arial" charset="0"/>
                        <a:ea typeface="Arial" charset="0"/>
                        <a:cs typeface="Arial" charset="0"/>
                      </a:endParaRPr>
                    </a:p>
                    <a:p>
                      <a:pPr algn="ctr" indent="0" marL="0">
                        <a:buNone/>
                      </a:pPr>
                      <a:r>
                        <a:rPr lang="en-US" sz="1100" b="1" dirty="0">
                          <a:solidFill>
                            <a:srgbClr val="FFFFFF"/>
                          </a:solidFill>
                          <a:latin typeface="Arial" pitchFamily="34" charset="0"/>
                          <a:ea typeface="Arial" pitchFamily="34" charset="-122"/>
                          <a:cs typeface="Arial" pitchFamily="34" charset="-120"/>
                        </a:rPr>
                        <a:t>셀1</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정답 '없다'</a:t>
                      </a:r>
                      <a:endParaRPr lang="en-US" sz="1100" dirty="0">
                        <a:latin typeface="Arial" charset="0"/>
                        <a:ea typeface="Arial" charset="0"/>
                        <a:cs typeface="Arial" charset="0"/>
                      </a:endParaRPr>
                    </a:p>
                    <a:p>
                      <a:pPr algn="ctr" indent="0" marL="0">
                        <a:buNone/>
                      </a:pPr>
                      <a:r>
                        <a:rPr lang="en-US" sz="1100" b="1" dirty="0">
                          <a:solidFill>
                            <a:srgbClr val="FFFFFF"/>
                          </a:solidFill>
                          <a:latin typeface="Arial" pitchFamily="34" charset="0"/>
                          <a:ea typeface="Arial" pitchFamily="34" charset="-122"/>
                          <a:cs typeface="Arial" pitchFamily="34" charset="-120"/>
                        </a:rPr>
                        <a:t>셀3</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정답 '있다'</a:t>
                      </a:r>
                      <a:endParaRPr lang="en-US" sz="1100" dirty="0">
                        <a:latin typeface="Arial" charset="0"/>
                        <a:ea typeface="Arial" charset="0"/>
                        <a:cs typeface="Arial" charset="0"/>
                      </a:endParaRPr>
                    </a:p>
                    <a:p>
                      <a:pPr algn="ctr" indent="0" marL="0">
                        <a:buNone/>
                      </a:pPr>
                      <a:r>
                        <a:rPr lang="en-US" sz="1100" b="1" dirty="0">
                          <a:solidFill>
                            <a:srgbClr val="FFFFFF"/>
                          </a:solidFill>
                          <a:latin typeface="Arial" pitchFamily="34" charset="0"/>
                          <a:ea typeface="Arial" pitchFamily="34" charset="-122"/>
                          <a:cs typeface="Arial" pitchFamily="34" charset="-120"/>
                        </a:rPr>
                        <a:t>셀2</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정답 '있다'</a:t>
                      </a:r>
                      <a:endParaRPr lang="en-US" sz="1100" dirty="0">
                        <a:latin typeface="Arial" charset="0"/>
                        <a:ea typeface="Arial" charset="0"/>
                        <a:cs typeface="Arial" charset="0"/>
                      </a:endParaRPr>
                    </a:p>
                    <a:p>
                      <a:pPr algn="ctr" indent="0" marL="0">
                        <a:buNone/>
                      </a:pPr>
                      <a:r>
                        <a:rPr lang="en-US" sz="1100" b="1" dirty="0">
                          <a:solidFill>
                            <a:srgbClr val="FFFFFF"/>
                          </a:solidFill>
                          <a:latin typeface="Arial" pitchFamily="34" charset="0"/>
                          <a:ea typeface="Arial" pitchFamily="34" charset="-122"/>
                          <a:cs typeface="Arial" pitchFamily="34" charset="-120"/>
                        </a:rPr>
                        <a:t>셀4</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전체</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'있다' 응답률</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r>
              <a:tr h="402336">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이미지 1장 (S)</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0.893</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0.947</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0.740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0.780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0.840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0.420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02336">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4층부터 차단 (T4)</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E8B57"/>
                          </a:solidFill>
                          <a:latin typeface="Arial" pitchFamily="34" charset="0"/>
                          <a:ea typeface="Arial" pitchFamily="34" charset="-122"/>
                          <a:cs typeface="Arial" pitchFamily="34" charset="-120"/>
                        </a:rPr>
                        <a:t>0.920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E8B57"/>
                          </a:solidFill>
                          <a:latin typeface="Arial" pitchFamily="34" charset="0"/>
                          <a:ea typeface="Arial" pitchFamily="34" charset="-122"/>
                          <a:cs typeface="Arial" pitchFamily="34" charset="-120"/>
                        </a:rPr>
                        <a:t>0.960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D62728"/>
                          </a:solidFill>
                          <a:latin typeface="Arial" pitchFamily="34" charset="0"/>
                          <a:ea typeface="Arial" pitchFamily="34" charset="-122"/>
                          <a:cs typeface="Arial" pitchFamily="34" charset="-120"/>
                        </a:rPr>
                        <a:t>0.720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D62728"/>
                          </a:solidFill>
                          <a:latin typeface="Arial" pitchFamily="34" charset="0"/>
                          <a:ea typeface="Arial" pitchFamily="34" charset="-122"/>
                          <a:cs typeface="Arial" pitchFamily="34" charset="-120"/>
                        </a:rPr>
                        <a:t>0.767</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0.842</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0.402</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02336">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완전 차단 (T0)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E8B57"/>
                          </a:solidFill>
                          <a:latin typeface="Arial" pitchFamily="34" charset="0"/>
                          <a:ea typeface="Arial" pitchFamily="34" charset="-122"/>
                          <a:cs typeface="Arial" pitchFamily="34" charset="-120"/>
                        </a:rPr>
                        <a:t>0.933</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E8B57"/>
                          </a:solidFill>
                          <a:latin typeface="Arial" pitchFamily="34" charset="0"/>
                          <a:ea typeface="Arial" pitchFamily="34" charset="-122"/>
                          <a:cs typeface="Arial" pitchFamily="34" charset="-120"/>
                        </a:rPr>
                        <a:t>0.953</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D62728"/>
                          </a:solidFill>
                          <a:latin typeface="Arial" pitchFamily="34" charset="0"/>
                          <a:ea typeface="Arial" pitchFamily="34" charset="-122"/>
                          <a:cs typeface="Arial" pitchFamily="34" charset="-120"/>
                        </a:rPr>
                        <a:t>0.720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D62728"/>
                          </a:solidFill>
                          <a:latin typeface="Arial" pitchFamily="34" charset="0"/>
                          <a:ea typeface="Arial" pitchFamily="34" charset="-122"/>
                          <a:cs typeface="Arial" pitchFamily="34" charset="-120"/>
                        </a:rPr>
                        <a:t>0.773</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0.845</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0.402</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02336">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16층부터 차단</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E8B57"/>
                          </a:solidFill>
                          <a:latin typeface="Arial" pitchFamily="34" charset="0"/>
                          <a:ea typeface="Arial" pitchFamily="34" charset="-122"/>
                          <a:cs typeface="Arial" pitchFamily="34" charset="-120"/>
                        </a:rPr>
                        <a:t>0.933</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E8B57"/>
                          </a:solidFill>
                          <a:latin typeface="Arial" pitchFamily="34" charset="0"/>
                          <a:ea typeface="Arial" pitchFamily="34" charset="-122"/>
                          <a:cs typeface="Arial" pitchFamily="34" charset="-120"/>
                        </a:rPr>
                        <a:t>0.967</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D62728"/>
                          </a:solidFill>
                          <a:latin typeface="Arial" pitchFamily="34" charset="0"/>
                          <a:ea typeface="Arial" pitchFamily="34" charset="-122"/>
                          <a:cs typeface="Arial" pitchFamily="34" charset="-120"/>
                        </a:rPr>
                        <a:t>0.627</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D62728"/>
                          </a:solidFill>
                          <a:latin typeface="Arial" pitchFamily="34" charset="0"/>
                          <a:ea typeface="Arial" pitchFamily="34" charset="-122"/>
                          <a:cs typeface="Arial" pitchFamily="34" charset="-120"/>
                        </a:rPr>
                        <a:t>0.740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0.817</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0.367</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3977640"/>
            <a:ext cx="11201400" cy="210312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1F3B57"/>
                </a:solidFill>
                <a:latin typeface="Arial" pitchFamily="34" charset="0"/>
                <a:ea typeface="Arial" pitchFamily="34" charset="-122"/>
                <a:cs typeface="Arial" pitchFamily="34" charset="-120"/>
              </a:rPr>
              <a:t>관찰: 차단하면 정답이 '없다'인 문항군은 전부 오르고(초록), '있다'인 문항군은 전부 내린다(빨강) — 그리고 '있다' 응답률 자체가 감소</a:t>
            </a:r>
            <a:endParaRPr lang="en-US" sz="1150" dirty="0"/>
          </a:p>
          <a:p>
            <a:pPr marL="342900" indent="-342900">
              <a:spcAft>
                <a:spcPts val="700"/>
              </a:spcAft>
              <a:buSzPct val="100000"/>
              <a:buChar char="•"/>
            </a:pPr>
            <a:r>
              <a:rPr lang="en-US" sz="1150" b="1" dirty="0">
                <a:solidFill>
                  <a:srgbClr val="1F3B57"/>
                </a:solidFill>
                <a:latin typeface="Arial" pitchFamily="34" charset="0"/>
                <a:ea typeface="Arial" pitchFamily="34" charset="-122"/>
                <a:cs typeface="Arial" pitchFamily="34" charset="-120"/>
              </a:rPr>
              <a:t>→ 이는 정확도 향상이 아니라 판정 기준이 '없다' 쪽으로 이동한 것. 전체 정답률은 84.0% vs 84.2%로 사실상 동일</a:t>
            </a:r>
            <a:endParaRPr lang="en-US" sz="1150" dirty="0"/>
          </a:p>
          <a:p>
            <a:pPr marL="342900" indent="-342900">
              <a:spcAft>
                <a:spcPts val="700"/>
              </a:spcAft>
              <a:buSzPct val="100000"/>
              <a:buChar char="•"/>
            </a:pPr>
            <a:r>
              <a:rPr lang="en-US" sz="1150" b="1" dirty="0">
                <a:solidFill>
                  <a:srgbClr val="1F3B57"/>
                </a:solidFill>
                <a:latin typeface="Arial" pitchFamily="34" charset="0"/>
                <a:ea typeface="Arial" pitchFamily="34" charset="-122"/>
                <a:cs typeface="Arial" pitchFamily="34" charset="-120"/>
              </a:rPr>
              <a:t>→ 따라서 "단일 이미지보다 정확하다"는 주장은 폐기. 올바른 서술은 "차단이 멀티이미지 손실을 단일 이미지 수준으로 회복시킨다"</a:t>
            </a:r>
            <a:endParaRPr lang="en-US" sz="1150" dirty="0"/>
          </a:p>
          <a:p>
            <a:pPr marL="342900" indent="-342900">
              <a:spcAft>
                <a:spcPts val="700"/>
              </a:spcAft>
              <a:buSzPct val="100000"/>
              <a:buChar char="•"/>
            </a:pPr>
            <a:r>
              <a:rPr lang="en-US" sz="1150" dirty="0">
                <a:solidFill>
                  <a:srgbClr val="1F3B57"/>
                </a:solidFill>
                <a:latin typeface="Arial" pitchFamily="34" charset="0"/>
                <a:ea typeface="Arial" pitchFamily="34" charset="-122"/>
                <a:cs typeface="Arial" pitchFamily="34" charset="-120"/>
              </a:rPr>
              <a:t>단, 본편의 핵심 주장(M → T4)은 무관하게 유효: 같은 layout·같은 프롬프트에서 오염 문항군만 +20%p, 오염 없는 대조군은 −2%p — 기준 이동이면 둘 다 올랐어야 함 (응답률 이동폭 3.8%p로는 20%p 설명 불가)</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237744"/>
            <a:ext cx="9601200" cy="292608"/>
          </a:xfrm>
          <a:prstGeom prst="rect">
            <a:avLst/>
          </a:prstGeom>
          <a:noFill/>
          <a:ln/>
        </p:spPr>
        <p:txBody>
          <a:bodyPr wrap="square" lIns="0" tIns="0" rIns="0" bIns="0" rtlCol="0" anchor="ctr"/>
          <a:lstStyle/>
          <a:p>
            <a:pPr indent="0" marL="0">
              <a:buNone/>
            </a:pPr>
            <a:r>
              <a:rPr lang="en-US" sz="1150" b="1" spc="100" kern="0" dirty="0">
                <a:solidFill>
                  <a:srgbClr val="1F77B4"/>
                </a:solidFill>
                <a:latin typeface="Arial" pitchFamily="34" charset="0"/>
                <a:ea typeface="Arial" pitchFamily="34" charset="-122"/>
                <a:cs typeface="Arial" pitchFamily="34" charset="-120"/>
              </a:rPr>
              <a:t>APPENDIX A3c</a:t>
            </a:r>
            <a:endParaRPr lang="en-US" sz="1150" dirty="0"/>
          </a:p>
        </p:txBody>
      </p:sp>
      <p:sp>
        <p:nvSpPr>
          <p:cNvPr id="3" name="Text 1"/>
          <p:cNvSpPr/>
          <p:nvPr/>
        </p:nvSpPr>
        <p:spPr>
          <a:xfrm>
            <a:off x="502920" y="512064"/>
            <a:ext cx="11155680" cy="731520"/>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'이미지별 배분'의 상한 — 문항마다 최적 깊이를 완벽히 알아도 +2.7%p</a:t>
            </a:r>
            <a:endParaRPr lang="en-US" sz="2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11201400" cy="914400"/>
        </p:xfrm>
        <a:graphic>
          <a:graphicData uri="http://schemas.openxmlformats.org/drawingml/2006/table">
            <a:tbl>
              <a:tblPr/>
              <a:tblGrid>
                <a:gridCol w="2240280"/>
                <a:gridCol w="2240280"/>
                <a:gridCol w="2240280"/>
                <a:gridCol w="2240280"/>
                <a:gridCol w="2240280"/>
              </a:tblGrid>
              <a:tr h="50292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문항군</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전역 최적 1개 사용</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문항별 최적을 안다면</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상한 이득</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문항별 최적깊이 표준편차</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F3B57"/>
                    </a:solidFill>
                  </a:tcPr>
                </a:tc>
              </a:tr>
              <a:tr h="502920">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셀 1 (n=150)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0.933</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0.960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D62728"/>
                          </a:solidFill>
                          <a:latin typeface="Arial" pitchFamily="34" charset="0"/>
                          <a:ea typeface="Arial" pitchFamily="34" charset="-122"/>
                          <a:cs typeface="Arial" pitchFamily="34" charset="-120"/>
                        </a:rPr>
                        <a:t>+2.7%p</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2.6 (범위 16~24)</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02920">
                <a:tc>
                  <a:txBody>
                    <a:bodyPr/>
                    <a:lstStyle/>
                    <a:p>
                      <a:pPr algn="ctr" indent="0" marL="0">
                        <a:buNone/>
                      </a:pPr>
                      <a:r>
                        <a:rPr lang="en-US" sz="1100" b="1" dirty="0">
                          <a:solidFill>
                            <a:srgbClr val="1F3B57"/>
                          </a:solidFill>
                          <a:latin typeface="Arial" pitchFamily="34" charset="0"/>
                          <a:ea typeface="Arial" pitchFamily="34" charset="-122"/>
                          <a:cs typeface="Arial" pitchFamily="34" charset="-120"/>
                        </a:rPr>
                        <a:t>셀 2 (n=150)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0.720</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0.747</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D62728"/>
                          </a:solidFill>
                          <a:latin typeface="Arial" pitchFamily="34" charset="0"/>
                          <a:ea typeface="Arial" pitchFamily="34" charset="-122"/>
                          <a:cs typeface="Arial" pitchFamily="34" charset="-120"/>
                        </a:rPr>
                        <a:t>+2.7%p</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3B57"/>
                          </a:solidFill>
                          <a:latin typeface="Arial" pitchFamily="34" charset="0"/>
                          <a:ea typeface="Arial" pitchFamily="34" charset="-122"/>
                          <a:cs typeface="Arial" pitchFamily="34" charset="-120"/>
                        </a:rPr>
                        <a:t>5.6</a:t>
                      </a:r>
                      <a:endParaRPr lang="en-US" sz="1100" dirty="0">
                        <a:latin typeface="Arial" charset="0"/>
                        <a:ea typeface="Arial" charset="0"/>
                        <a:cs typeface="Arial"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3429000"/>
            <a:ext cx="11201400" cy="2286000"/>
          </a:xfrm>
          <a:prstGeom prst="rect">
            <a:avLst/>
          </a:prstGeom>
          <a:noFill/>
          <a:ln/>
        </p:spPr>
        <p:txBody>
          <a:bodyPr wrap="square" lIns="0" tIns="0" rIns="0" bIns="0" rtlCol="0" anchor="ctr"/>
          <a:lstStyle/>
          <a:p>
            <a:pPr marL="342900" indent="-342900">
              <a:spcAft>
                <a:spcPts val="900"/>
              </a:spcAft>
              <a:buSzPct val="100000"/>
              <a:buChar char="•"/>
            </a:pPr>
            <a:r>
              <a:rPr lang="en-US" sz="1200" dirty="0">
                <a:solidFill>
                  <a:srgbClr val="1F3B57"/>
                </a:solidFill>
                <a:latin typeface="Arial" pitchFamily="34" charset="0"/>
                <a:ea typeface="Arial" pitchFamily="34" charset="-122"/>
                <a:cs typeface="Arial" pitchFamily="34" charset="-120"/>
              </a:rPr>
              <a:t>셀 1의 66%는 어느 깊이에서 잘라도 정답 — 애초에 깊이에 무관한 문항이다</a:t>
            </a:r>
            <a:endParaRPr lang="en-US" sz="1200" dirty="0"/>
          </a:p>
          <a:p>
            <a:pPr marL="342900" indent="-342900">
              <a:spcAft>
                <a:spcPts val="900"/>
              </a:spcAft>
              <a:buSzPct val="100000"/>
              <a:buChar char="•"/>
            </a:pPr>
            <a:r>
              <a:rPr lang="en-US" sz="1200" dirty="0">
                <a:solidFill>
                  <a:srgbClr val="1F3B57"/>
                </a:solidFill>
                <a:latin typeface="Arial" pitchFamily="34" charset="0"/>
                <a:ea typeface="Arial" pitchFamily="34" charset="-122"/>
                <a:cs typeface="Arial" pitchFamily="34" charset="-120"/>
              </a:rPr>
              <a:t>즉 깊이 요구는 개별 이미지/문항의 속성이 아니라 **질문 유형**의 속성이다 (셀1 vs 비교질문은 +21 vs −51%p로 극명)</a:t>
            </a:r>
            <a:endParaRPr lang="en-US" sz="1200" dirty="0"/>
          </a:p>
          <a:p>
            <a:pPr marL="342900" indent="-342900">
              <a:spcAft>
                <a:spcPts val="900"/>
              </a:spcAft>
              <a:buSzPct val="100000"/>
              <a:buChar char="•"/>
            </a:pPr>
            <a:r>
              <a:rPr lang="en-US" sz="1200" dirty="0">
                <a:solidFill>
                  <a:srgbClr val="1F3B57"/>
                </a:solidFill>
                <a:latin typeface="Arial" pitchFamily="34" charset="0"/>
                <a:ea typeface="Arial" pitchFamily="34" charset="-122"/>
                <a:cs typeface="Arial" pitchFamily="34" charset="-120"/>
              </a:rPr>
              <a:t>선행연구도 같은 방향: γ-MoD(ICLR'25)는 depth 여유도를 오프라인 50샘플로 한 번 정하고 고정하며 'task가 달라도 대체로 일관'이라 보고</a:t>
            </a:r>
            <a:endParaRPr lang="en-US" sz="1200" dirty="0"/>
          </a:p>
          <a:p>
            <a:pPr marL="342900" indent="-342900">
              <a:spcAft>
                <a:spcPts val="900"/>
              </a:spcAft>
              <a:buSzPct val="100000"/>
              <a:buChar char="•"/>
            </a:pPr>
            <a:r>
              <a:rPr lang="en-US" sz="1200" b="1" dirty="0">
                <a:solidFill>
                  <a:srgbClr val="1F3B57"/>
                </a:solidFill>
                <a:latin typeface="Arial" pitchFamily="34" charset="0"/>
                <a:ea typeface="Arial" pitchFamily="34" charset="-122"/>
                <a:cs typeface="Arial" pitchFamily="34" charset="-120"/>
              </a:rPr>
              <a:t>→ 함의: '이미지별 배분'이라는 표현은 과하다. 정확히는 '질문 유형별 깊이 정책' — 그리고 질문 유형은 텍스트만으로 0층에서 판정 가능하다</a:t>
            </a:r>
            <a:endParaRPr lang="en-US" sz="1200" dirty="0"/>
          </a:p>
        </p:txBody>
      </p:sp>
      <p:sp>
        <p:nvSpPr>
          <p:cNvPr id="6" name="Text 3"/>
          <p:cNvSpPr/>
          <p:nvPr/>
        </p:nvSpPr>
        <p:spPr>
          <a:xfrm>
            <a:off x="502920" y="5897880"/>
            <a:ext cx="11155680" cy="310896"/>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자체 사후 분석 (GPU 불필요) — 리뷰어가 지적하기 전에 우리가 먼저 계산한 것</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237744"/>
            <a:ext cx="9601200" cy="292608"/>
          </a:xfrm>
          <a:prstGeom prst="rect">
            <a:avLst/>
          </a:prstGeom>
          <a:noFill/>
          <a:ln/>
        </p:spPr>
        <p:txBody>
          <a:bodyPr wrap="square" lIns="0" tIns="0" rIns="0" bIns="0" rtlCol="0" anchor="ctr"/>
          <a:lstStyle/>
          <a:p>
            <a:pPr indent="0" marL="0">
              <a:buNone/>
            </a:pPr>
            <a:r>
              <a:rPr lang="en-US" sz="1150" b="1" spc="100" kern="0" dirty="0">
                <a:solidFill>
                  <a:srgbClr val="1F77B4"/>
                </a:solidFill>
                <a:latin typeface="Arial" pitchFamily="34" charset="0"/>
                <a:ea typeface="Arial" pitchFamily="34" charset="-122"/>
                <a:cs typeface="Arial" pitchFamily="34" charset="-120"/>
              </a:rPr>
              <a:t>APPENDIX A4</a:t>
            </a:r>
            <a:endParaRPr lang="en-US" sz="1150" dirty="0"/>
          </a:p>
        </p:txBody>
      </p:sp>
      <p:sp>
        <p:nvSpPr>
          <p:cNvPr id="3" name="Text 1"/>
          <p:cNvSpPr/>
          <p:nvPr/>
        </p:nvSpPr>
        <p:spPr>
          <a:xfrm>
            <a:off x="502920" y="512064"/>
            <a:ext cx="11155680" cy="731520"/>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층별 '관련 이미지' 식별률 — 16개 신호 평균 기준 (n=600)</a:t>
            </a:r>
            <a:endParaRPr lang="en-US" sz="2200" dirty="0"/>
          </a:p>
        </p:txBody>
      </p:sp>
      <p:pic>
        <p:nvPicPr>
          <p:cNvPr id="4" name="Image 0" descr="/Users/hansangmin/Source-Depth/results/aux_chartA_ident_by_layer.png">    </p:cNvPr>
          <p:cNvPicPr>
            <a:picLocks noChangeAspect="1"/>
          </p:cNvPicPr>
          <p:nvPr/>
        </p:nvPicPr>
        <p:blipFill>
          <a:blip r:embed="rId1"/>
          <a:stretch>
            <a:fillRect/>
          </a:stretch>
        </p:blipFill>
        <p:spPr>
          <a:xfrm>
            <a:off x="685800" y="1737360"/>
            <a:ext cx="10789920" cy="3922776"/>
          </a:xfrm>
          <a:prstGeom prst="rect">
            <a:avLst/>
          </a:prstGeom>
        </p:spPr>
      </p:pic>
      <p:sp>
        <p:nvSpPr>
          <p:cNvPr id="5" name="Text 2"/>
          <p:cNvSpPr/>
          <p:nvPr/>
        </p:nvSpPr>
        <p:spPr>
          <a:xfrm>
            <a:off x="685800" y="5760720"/>
            <a:ext cx="10789920" cy="320040"/>
          </a:xfrm>
          <a:prstGeom prst="rect">
            <a:avLst/>
          </a:prstGeom>
          <a:noFill/>
          <a:ln/>
        </p:spPr>
        <p:txBody>
          <a:bodyPr wrap="square" lIns="0" tIns="0" rIns="0" bIns="0" rtlCol="0" anchor="ctr"/>
          <a:lstStyle/>
          <a:p>
            <a:pPr indent="0" marL="0">
              <a:buNone/>
            </a:pPr>
            <a:r>
              <a:rPr lang="en-US" sz="1050" dirty="0">
                <a:solidFill>
                  <a:srgbClr val="6B7280"/>
                </a:solidFill>
                <a:latin typeface="Arial" pitchFamily="34" charset="0"/>
                <a:ea typeface="Arial" pitchFamily="34" charset="-122"/>
                <a:cs typeface="Arial" pitchFamily="34" charset="-120"/>
              </a:rPr>
              <a:t>16개 신호(head)를 평균하면 8층 72.5%(당초 판정 기준 미달 지점) — 단일 신호 선택 시 8층 99.8% (본편 질문③)</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237744"/>
            <a:ext cx="9601200" cy="292608"/>
          </a:xfrm>
          <a:prstGeom prst="rect">
            <a:avLst/>
          </a:prstGeom>
          <a:noFill/>
          <a:ln/>
        </p:spPr>
        <p:txBody>
          <a:bodyPr wrap="square" lIns="0" tIns="0" rIns="0" bIns="0" rtlCol="0" anchor="ctr"/>
          <a:lstStyle/>
          <a:p>
            <a:pPr indent="0" marL="0">
              <a:buNone/>
            </a:pPr>
            <a:r>
              <a:rPr lang="en-US" sz="1150" b="1" spc="100" kern="0" dirty="0">
                <a:solidFill>
                  <a:srgbClr val="1F77B4"/>
                </a:solidFill>
                <a:latin typeface="Arial" pitchFamily="34" charset="0"/>
                <a:ea typeface="Arial" pitchFamily="34" charset="-122"/>
                <a:cs typeface="Arial" pitchFamily="34" charset="-120"/>
              </a:rPr>
              <a:t>APPENDIX A5</a:t>
            </a:r>
            <a:endParaRPr lang="en-US" sz="1150" dirty="0"/>
          </a:p>
        </p:txBody>
      </p:sp>
      <p:sp>
        <p:nvSpPr>
          <p:cNvPr id="3" name="Text 1"/>
          <p:cNvSpPr/>
          <p:nvPr/>
        </p:nvSpPr>
        <p:spPr>
          <a:xfrm>
            <a:off x="502920" y="512064"/>
            <a:ext cx="11155680" cy="731520"/>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층별 attention 분포 — 정답 문항 vs 뒤집힌 문항</a:t>
            </a:r>
            <a:endParaRPr lang="en-US" sz="2200" dirty="0"/>
          </a:p>
        </p:txBody>
      </p:sp>
      <p:pic>
        <p:nvPicPr>
          <p:cNvPr id="4" name="Image 0" descr="/Users/hansangmin/Source-Depth/results/fig2_attention_profile.png">    </p:cNvPr>
          <p:cNvPicPr>
            <a:picLocks noChangeAspect="1"/>
          </p:cNvPicPr>
          <p:nvPr/>
        </p:nvPicPr>
        <p:blipFill>
          <a:blip r:embed="rId1"/>
          <a:stretch>
            <a:fillRect/>
          </a:stretch>
        </p:blipFill>
        <p:spPr>
          <a:xfrm>
            <a:off x="1737360" y="1691640"/>
            <a:ext cx="8686800" cy="4828032"/>
          </a:xfrm>
          <a:prstGeom prst="rect">
            <a:avLst/>
          </a:prstGeom>
        </p:spPr>
      </p:pic>
      <p:sp>
        <p:nvSpPr>
          <p:cNvPr id="5" name="Text 2"/>
          <p:cNvSpPr/>
          <p:nvPr/>
        </p:nvSpPr>
        <p:spPr>
          <a:xfrm>
            <a:off x="1737360" y="6446520"/>
            <a:ext cx="8686800" cy="274320"/>
          </a:xfrm>
          <a:prstGeom prst="rect">
            <a:avLst/>
          </a:prstGeom>
          <a:noFill/>
          <a:ln/>
        </p:spPr>
        <p:txBody>
          <a:bodyPr wrap="square" lIns="0" tIns="0" rIns="0" bIns="0" rtlCol="0" anchor="ctr"/>
          <a:lstStyle/>
          <a:p>
            <a:pPr algn="ctr" indent="0" marL="0">
              <a:buNone/>
            </a:pPr>
            <a:r>
              <a:rPr lang="en-US" sz="1050" dirty="0">
                <a:solidFill>
                  <a:srgbClr val="6B7280"/>
                </a:solidFill>
                <a:latin typeface="Arial" pitchFamily="34" charset="0"/>
                <a:ea typeface="Arial" pitchFamily="34" charset="-122"/>
                <a:cs typeface="Arial" pitchFamily="34" charset="-120"/>
              </a:rPr>
              <a:t>20층 이후 두 이미지의 참조량이 갈라짐 — 본편 '같은 층 전환' 관찰과 정합</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237744"/>
            <a:ext cx="9601200" cy="292608"/>
          </a:xfrm>
          <a:prstGeom prst="rect">
            <a:avLst/>
          </a:prstGeom>
          <a:noFill/>
          <a:ln/>
        </p:spPr>
        <p:txBody>
          <a:bodyPr wrap="square" lIns="0" tIns="0" rIns="0" bIns="0" rtlCol="0" anchor="ctr"/>
          <a:lstStyle/>
          <a:p>
            <a:pPr indent="0" marL="0">
              <a:buNone/>
            </a:pPr>
            <a:r>
              <a:rPr lang="en-US" sz="1150" b="1" spc="100" kern="0" dirty="0">
                <a:solidFill>
                  <a:srgbClr val="1F77B4"/>
                </a:solidFill>
                <a:latin typeface="Arial" pitchFamily="34" charset="0"/>
                <a:ea typeface="Arial" pitchFamily="34" charset="-122"/>
                <a:cs typeface="Arial" pitchFamily="34" charset="-120"/>
              </a:rPr>
              <a:t>APPENDIX A6</a:t>
            </a:r>
            <a:endParaRPr lang="en-US" sz="1150" dirty="0"/>
          </a:p>
        </p:txBody>
      </p:sp>
      <p:sp>
        <p:nvSpPr>
          <p:cNvPr id="3" name="Text 1"/>
          <p:cNvSpPr/>
          <p:nvPr/>
        </p:nvSpPr>
        <p:spPr>
          <a:xfrm>
            <a:off x="502920" y="512064"/>
            <a:ext cx="11155680" cy="731520"/>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재현성 · 환경 · 한계</a:t>
            </a:r>
            <a:endParaRPr lang="en-US" sz="2200" dirty="0"/>
          </a:p>
        </p:txBody>
      </p:sp>
      <p:sp>
        <p:nvSpPr>
          <p:cNvPr id="4" name="Text 2"/>
          <p:cNvSpPr/>
          <p:nvPr/>
        </p:nvSpPr>
        <p:spPr>
          <a:xfrm>
            <a:off x="640080" y="1828800"/>
            <a:ext cx="10972800" cy="4206240"/>
          </a:xfrm>
          <a:prstGeom prst="rect">
            <a:avLst/>
          </a:prstGeom>
          <a:noFill/>
          <a:ln/>
        </p:spPr>
        <p:txBody>
          <a:bodyPr wrap="square" lIns="0" tIns="0" rIns="0" bIns="0" rtlCol="0" anchor="ctr"/>
          <a:lstStyle/>
          <a:p>
            <a:pPr marL="342900" indent="-342900">
              <a:spcAft>
                <a:spcPts val="1400"/>
              </a:spcAft>
              <a:buSzPct val="100000"/>
              <a:buChar char="•"/>
            </a:pPr>
            <a:r>
              <a:rPr lang="en-US" sz="1300" dirty="0">
                <a:solidFill>
                  <a:srgbClr val="1F3B57"/>
                </a:solidFill>
                <a:latin typeface="Arial" pitchFamily="34" charset="0"/>
                <a:ea typeface="Arial" pitchFamily="34" charset="-122"/>
                <a:cs typeface="Arial" pitchFamily="34" charset="-120"/>
              </a:rPr>
              <a:t>환경: RTX 3090 24GB × 1 · torch 2.5.1+cu121 · transformers 4.52.3 · Qwen2.5-VL-3B-Instruct (BF16, eager) · 실측 36 layers</a:t>
            </a:r>
            <a:endParaRPr lang="en-US" sz="1300" dirty="0"/>
          </a:p>
          <a:p>
            <a:pPr marL="342900" indent="-342900">
              <a:spcAft>
                <a:spcPts val="1400"/>
              </a:spcAft>
              <a:buSzPct val="100000"/>
              <a:buChar char="•"/>
            </a:pPr>
            <a:r>
              <a:rPr lang="en-US" sz="1300" dirty="0">
                <a:solidFill>
                  <a:srgbClr val="1F3B57"/>
                </a:solidFill>
                <a:latin typeface="Arial" pitchFamily="34" charset="0"/>
                <a:ea typeface="Arial" pitchFamily="34" charset="-122"/>
                <a:cs typeface="Arial" pitchFamily="34" charset="-120"/>
              </a:rPr>
              <a:t>재현성: 난수 고정(seed 42) · 판정 기준 사전 등록(문서 동결) · 전 결과 raw 보존 · 실행 로그·버전 기록</a:t>
            </a:r>
            <a:endParaRPr lang="en-US" sz="1300" dirty="0"/>
          </a:p>
          <a:p>
            <a:pPr marL="342900" indent="-342900">
              <a:spcAft>
                <a:spcPts val="1400"/>
              </a:spcAft>
              <a:buSzPct val="100000"/>
              <a:buChar char="•"/>
            </a:pPr>
            <a:r>
              <a:rPr lang="en-US" sz="1300" dirty="0">
                <a:solidFill>
                  <a:srgbClr val="1F3B57"/>
                </a:solidFill>
                <a:latin typeface="Arial" pitchFamily="34" charset="0"/>
                <a:ea typeface="Arial" pitchFamily="34" charset="-122"/>
                <a:cs typeface="Arial" pitchFamily="34" charset="-120"/>
              </a:rPr>
              <a:t>규모·비용: 본 실험 29분 + 야간 확장 실험 · GPU 1장 · 오류 중단 0건</a:t>
            </a:r>
            <a:endParaRPr lang="en-US" sz="1300" dirty="0"/>
          </a:p>
          <a:p>
            <a:pPr marL="342900" indent="-342900">
              <a:spcAft>
                <a:spcPts val="1400"/>
              </a:spcAft>
              <a:buSzPct val="100000"/>
              <a:buChar char="•"/>
            </a:pPr>
            <a:r>
              <a:rPr lang="en-US" sz="1300" dirty="0">
                <a:solidFill>
                  <a:srgbClr val="1F3B57"/>
                </a:solidFill>
                <a:latin typeface="Arial" pitchFamily="34" charset="0"/>
                <a:ea typeface="Arial" pitchFamily="34" charset="-122"/>
                <a:cs typeface="Arial" pitchFamily="34" charset="-120"/>
              </a:rPr>
              <a:t>동점 처리: Yes/No 확률이 같은 104건(1.7%)은 사전 규정('없다'로 판정)대로 처리</a:t>
            </a:r>
            <a:endParaRPr lang="en-US" sz="1300" dirty="0"/>
          </a:p>
          <a:p>
            <a:pPr marL="342900" indent="-342900">
              <a:spcAft>
                <a:spcPts val="1400"/>
              </a:spcAft>
              <a:buSzPct val="100000"/>
              <a:buChar char="•"/>
            </a:pPr>
            <a:r>
              <a:rPr lang="en-US" sz="1300" dirty="0">
                <a:solidFill>
                  <a:srgbClr val="1F3B57"/>
                </a:solidFill>
                <a:latin typeface="Arial" pitchFamily="34" charset="0"/>
                <a:ea typeface="Arial" pitchFamily="34" charset="-122"/>
                <a:cs typeface="Arial" pitchFamily="34" charset="-120"/>
              </a:rPr>
              <a:t>저장소: github.com/hsmai/Source-Depth (private) — 코드·데이터 명세·문서·판정 기준·raw 결과 전부 버전 관리</a:t>
            </a:r>
            <a:endParaRPr lang="en-US" sz="1300" dirty="0"/>
          </a:p>
          <a:p>
            <a:pPr marL="342900" indent="-342900">
              <a:spcAft>
                <a:spcPts val="1400"/>
              </a:spcAft>
              <a:buSzPct val="100000"/>
              <a:buChar char="•"/>
            </a:pPr>
            <a:r>
              <a:rPr lang="en-US" sz="1300" b="1" dirty="0">
                <a:solidFill>
                  <a:srgbClr val="1F3B57"/>
                </a:solidFill>
                <a:latin typeface="Arial" pitchFamily="34" charset="0"/>
                <a:ea typeface="Arial" pitchFamily="34" charset="-122"/>
                <a:cs typeface="Arial" pitchFamily="34" charset="-120"/>
              </a:rPr>
              <a:t>한계(정직 고지): 정답 이미지 위치 고정(oracle) · 단일 물체 질문 중심 · 3B 단일 모델(7B 재현 진행 중) · 속도는 프로토타입 실측 · COCO 주석 노이즈 36건(6%)</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237744"/>
            <a:ext cx="9601200" cy="292608"/>
          </a:xfrm>
          <a:prstGeom prst="rect">
            <a:avLst/>
          </a:prstGeom>
          <a:noFill/>
          <a:ln/>
        </p:spPr>
        <p:txBody>
          <a:bodyPr wrap="square" lIns="0" tIns="0" rIns="0" bIns="0" rtlCol="0" anchor="ctr"/>
          <a:lstStyle/>
          <a:p>
            <a:pPr indent="0" marL="0">
              <a:buNone/>
            </a:pPr>
            <a:r>
              <a:rPr lang="en-US" sz="1150" b="1" spc="100" kern="0" dirty="0">
                <a:solidFill>
                  <a:srgbClr val="1F77B4"/>
                </a:solidFill>
                <a:latin typeface="Arial" pitchFamily="34" charset="0"/>
                <a:ea typeface="Arial" pitchFamily="34" charset="-122"/>
                <a:cs typeface="Arial" pitchFamily="34" charset="-120"/>
              </a:rPr>
              <a:t>APPENDIX A7</a:t>
            </a:r>
            <a:endParaRPr lang="en-US" sz="1150" dirty="0"/>
          </a:p>
        </p:txBody>
      </p:sp>
      <p:sp>
        <p:nvSpPr>
          <p:cNvPr id="3" name="Shape 1"/>
          <p:cNvSpPr/>
          <p:nvPr/>
        </p:nvSpPr>
        <p:spPr>
          <a:xfrm>
            <a:off x="9893808" y="256032"/>
            <a:ext cx="1792224" cy="310896"/>
          </a:xfrm>
          <a:prstGeom prst="roundRect">
            <a:avLst>
              <a:gd name="adj" fmla="val 50000"/>
            </a:avLst>
          </a:prstGeom>
          <a:solidFill>
            <a:srgbClr val="E8890C"/>
          </a:solidFill>
          <a:ln/>
        </p:spPr>
      </p:sp>
      <p:sp>
        <p:nvSpPr>
          <p:cNvPr id="4" name="Text 2"/>
          <p:cNvSpPr/>
          <p:nvPr/>
        </p:nvSpPr>
        <p:spPr>
          <a:xfrm>
            <a:off x="9893808" y="256032"/>
            <a:ext cx="1792224"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미확정 · 내일 오전 업데이트</a:t>
            </a:r>
            <a:endParaRPr lang="en-US" sz="1050" dirty="0"/>
          </a:p>
        </p:txBody>
      </p:sp>
      <p:sp>
        <p:nvSpPr>
          <p:cNvPr id="5" name="Text 3"/>
          <p:cNvSpPr/>
          <p:nvPr/>
        </p:nvSpPr>
        <p:spPr>
          <a:xfrm>
            <a:off x="502920" y="512064"/>
            <a:ext cx="9326880" cy="731520"/>
          </a:xfrm>
          <a:prstGeom prst="rect">
            <a:avLst/>
          </a:prstGeom>
          <a:noFill/>
          <a:ln/>
        </p:spPr>
        <p:txBody>
          <a:bodyPr wrap="square" lIns="0" tIns="0" rIns="0" bIns="0" rtlCol="0" anchor="ctr"/>
          <a:lstStyle/>
          <a:p>
            <a:pPr indent="0" marL="0">
              <a:buNone/>
            </a:pPr>
            <a:r>
              <a:rPr lang="en-US" sz="2200" b="1" dirty="0">
                <a:solidFill>
                  <a:srgbClr val="1F3B57"/>
                </a:solidFill>
                <a:latin typeface="Arial" pitchFamily="34" charset="0"/>
                <a:ea typeface="Arial" pitchFamily="34" charset="-122"/>
                <a:cs typeface="Arial" pitchFamily="34" charset="-120"/>
              </a:rPr>
              <a:t>오늘 밤 산출 중 — 내일 오전 이 칸들을 채웁니다</a:t>
            </a:r>
            <a:endParaRPr lang="en-US" sz="2200" dirty="0"/>
          </a:p>
        </p:txBody>
      </p:sp>
      <p:sp>
        <p:nvSpPr>
          <p:cNvPr id="6" name="Shape 4"/>
          <p:cNvSpPr/>
          <p:nvPr/>
        </p:nvSpPr>
        <p:spPr>
          <a:xfrm>
            <a:off x="502920" y="1737360"/>
            <a:ext cx="3657600" cy="1920240"/>
          </a:xfrm>
          <a:prstGeom prst="roundRect">
            <a:avLst>
              <a:gd name="adj" fmla="val 4762"/>
            </a:avLst>
          </a:prstGeom>
          <a:solidFill>
            <a:srgbClr val="FDF3E3"/>
          </a:solidFill>
          <a:ln w="15875">
            <a:solidFill>
              <a:srgbClr val="E8890C"/>
            </a:solidFill>
            <a:prstDash val="dash"/>
          </a:ln>
        </p:spPr>
      </p:sp>
      <p:sp>
        <p:nvSpPr>
          <p:cNvPr id="7" name="Text 5"/>
          <p:cNvSpPr/>
          <p:nvPr/>
        </p:nvSpPr>
        <p:spPr>
          <a:xfrm>
            <a:off x="704088" y="1901952"/>
            <a:ext cx="3255264" cy="1591056"/>
          </a:xfrm>
          <a:prstGeom prst="rect">
            <a:avLst/>
          </a:prstGeom>
          <a:noFill/>
          <a:ln/>
        </p:spPr>
        <p:txBody>
          <a:bodyPr wrap="square" lIns="0" tIns="0" rIns="0" bIns="0" rtlCol="0" anchor="ctr"/>
          <a:lstStyle/>
          <a:p>
            <a:pPr indent="0" marL="0">
              <a:spcAft>
                <a:spcPts val="600"/>
              </a:spcAft>
              <a:buNone/>
            </a:pPr>
            <a:r>
              <a:rPr lang="en-US" sz="1400" b="1" dirty="0">
                <a:solidFill>
                  <a:srgbClr val="E8890C"/>
                </a:solidFill>
                <a:latin typeface="Arial" pitchFamily="34" charset="0"/>
                <a:ea typeface="Arial" pitchFamily="34" charset="-122"/>
                <a:cs typeface="Arial" pitchFamily="34" charset="-120"/>
              </a:rPr>
              <a:t>자리 뒤집기 대조</a:t>
            </a:r>
            <a:endParaRPr lang="en-US" sz="1400" dirty="0"/>
          </a:p>
          <a:p>
            <a:pPr indent="0" marL="0">
              <a:spcAft>
                <a:spcPts val="600"/>
              </a:spcAft>
              <a:buNone/>
            </a:pPr>
            <a:r>
              <a:rPr lang="en-US" sz="1100" dirty="0">
                <a:solidFill>
                  <a:srgbClr val="1F3B57"/>
                </a:solidFill>
                <a:latin typeface="Arial" pitchFamily="34" charset="0"/>
                <a:ea typeface="Arial" pitchFamily="34" charset="-122"/>
                <a:cs typeface="Arial" pitchFamily="34" charset="-120"/>
              </a:rPr>
              <a:t>질문③ 신호가 '자리 선호'인지 '관련도'인지 확정</a:t>
            </a:r>
            <a:endParaRPr lang="en-US" sz="1400" dirty="0"/>
          </a:p>
          <a:p>
            <a:pPr indent="0" marL="0">
              <a:spcAft>
                <a:spcPts val="600"/>
              </a:spcAft>
              <a:buNone/>
            </a:pPr>
            <a:r>
              <a:rPr lang="en-US" sz="1050" b="1" dirty="0">
                <a:solidFill>
                  <a:srgbClr val="6B7280"/>
                </a:solidFill>
                <a:latin typeface="Arial" pitchFamily="34" charset="0"/>
                <a:ea typeface="Arial" pitchFamily="34" charset="-122"/>
                <a:cs typeface="Arial" pitchFamily="34" charset="-120"/>
              </a:rPr>
              <a:t>→ 본편 질문③ 해석 확정</a:t>
            </a:r>
            <a:endParaRPr lang="en-US" sz="1400" dirty="0"/>
          </a:p>
        </p:txBody>
      </p:sp>
      <p:sp>
        <p:nvSpPr>
          <p:cNvPr id="8" name="Shape 6"/>
          <p:cNvSpPr/>
          <p:nvPr/>
        </p:nvSpPr>
        <p:spPr>
          <a:xfrm>
            <a:off x="4389120" y="1737360"/>
            <a:ext cx="3657600" cy="1920240"/>
          </a:xfrm>
          <a:prstGeom prst="roundRect">
            <a:avLst>
              <a:gd name="adj" fmla="val 4762"/>
            </a:avLst>
          </a:prstGeom>
          <a:solidFill>
            <a:srgbClr val="FDF3E3"/>
          </a:solidFill>
          <a:ln w="15875">
            <a:solidFill>
              <a:srgbClr val="E8890C"/>
            </a:solidFill>
            <a:prstDash val="dash"/>
          </a:ln>
        </p:spPr>
      </p:sp>
      <p:sp>
        <p:nvSpPr>
          <p:cNvPr id="9" name="Text 7"/>
          <p:cNvSpPr/>
          <p:nvPr/>
        </p:nvSpPr>
        <p:spPr>
          <a:xfrm>
            <a:off x="4590288" y="1901952"/>
            <a:ext cx="3255264" cy="1591056"/>
          </a:xfrm>
          <a:prstGeom prst="rect">
            <a:avLst/>
          </a:prstGeom>
          <a:noFill/>
          <a:ln/>
        </p:spPr>
        <p:txBody>
          <a:bodyPr wrap="square" lIns="0" tIns="0" rIns="0" bIns="0" rtlCol="0" anchor="ctr"/>
          <a:lstStyle/>
          <a:p>
            <a:pPr indent="0" marL="0">
              <a:spcAft>
                <a:spcPts val="600"/>
              </a:spcAft>
              <a:buNone/>
            </a:pPr>
            <a:r>
              <a:rPr lang="en-US" sz="1400" b="1" dirty="0">
                <a:solidFill>
                  <a:srgbClr val="E8890C"/>
                </a:solidFill>
                <a:latin typeface="Arial" pitchFamily="34" charset="0"/>
                <a:ea typeface="Arial" pitchFamily="34" charset="-122"/>
                <a:cs typeface="Arial" pitchFamily="34" charset="-120"/>
              </a:rPr>
              <a:t>이미지별 '차등' 깊이 실측</a:t>
            </a:r>
            <a:endParaRPr lang="en-US" sz="1400" dirty="0"/>
          </a:p>
          <a:p>
            <a:pPr indent="0" marL="0">
              <a:spcAft>
                <a:spcPts val="600"/>
              </a:spcAft>
              <a:buNone/>
            </a:pPr>
            <a:r>
              <a:rPr lang="en-US" sz="1100" dirty="0">
                <a:solidFill>
                  <a:srgbClr val="1F3B57"/>
                </a:solidFill>
                <a:latin typeface="Arial" pitchFamily="34" charset="0"/>
                <a:ea typeface="Arial" pitchFamily="34" charset="-122"/>
                <a:cs typeface="Arial" pitchFamily="34" charset="-120"/>
              </a:rPr>
              <a:t>방해 4층 + 대상 28층을 동시에 적용 — 방법의 첫 실제 구동</a:t>
            </a:r>
            <a:endParaRPr lang="en-US" sz="1400" dirty="0"/>
          </a:p>
          <a:p>
            <a:pPr indent="0" marL="0">
              <a:spcAft>
                <a:spcPts val="600"/>
              </a:spcAft>
              <a:buNone/>
            </a:pPr>
            <a:r>
              <a:rPr lang="en-US" sz="1050" b="1" dirty="0">
                <a:solidFill>
                  <a:srgbClr val="6B7280"/>
                </a:solidFill>
                <a:latin typeface="Arial" pitchFamily="34" charset="0"/>
                <a:ea typeface="Arial" pitchFamily="34" charset="-122"/>
                <a:cs typeface="Arial" pitchFamily="34" charset="-120"/>
              </a:rPr>
              <a:t>→ 결론·계획 슬라이드 갱신</a:t>
            </a:r>
            <a:endParaRPr lang="en-US" sz="1400" dirty="0"/>
          </a:p>
        </p:txBody>
      </p:sp>
      <p:sp>
        <p:nvSpPr>
          <p:cNvPr id="10" name="Shape 8"/>
          <p:cNvSpPr/>
          <p:nvPr/>
        </p:nvSpPr>
        <p:spPr>
          <a:xfrm>
            <a:off x="8275320" y="1737360"/>
            <a:ext cx="3657600" cy="1920240"/>
          </a:xfrm>
          <a:prstGeom prst="roundRect">
            <a:avLst>
              <a:gd name="adj" fmla="val 4762"/>
            </a:avLst>
          </a:prstGeom>
          <a:solidFill>
            <a:srgbClr val="FDF3E3"/>
          </a:solidFill>
          <a:ln w="15875">
            <a:solidFill>
              <a:srgbClr val="E8890C"/>
            </a:solidFill>
            <a:prstDash val="dash"/>
          </a:ln>
        </p:spPr>
      </p:sp>
      <p:sp>
        <p:nvSpPr>
          <p:cNvPr id="11" name="Text 9"/>
          <p:cNvSpPr/>
          <p:nvPr/>
        </p:nvSpPr>
        <p:spPr>
          <a:xfrm>
            <a:off x="8476488" y="1901952"/>
            <a:ext cx="3255264" cy="1591056"/>
          </a:xfrm>
          <a:prstGeom prst="rect">
            <a:avLst/>
          </a:prstGeom>
          <a:noFill/>
          <a:ln/>
        </p:spPr>
        <p:txBody>
          <a:bodyPr wrap="square" lIns="0" tIns="0" rIns="0" bIns="0" rtlCol="0" anchor="ctr"/>
          <a:lstStyle/>
          <a:p>
            <a:pPr indent="0" marL="0">
              <a:spcAft>
                <a:spcPts val="600"/>
              </a:spcAft>
              <a:buNone/>
            </a:pPr>
            <a:r>
              <a:rPr lang="en-US" sz="1400" b="1" dirty="0">
                <a:solidFill>
                  <a:srgbClr val="E8890C"/>
                </a:solidFill>
                <a:latin typeface="Arial" pitchFamily="34" charset="0"/>
                <a:ea typeface="Arial" pitchFamily="34" charset="-122"/>
                <a:cs typeface="Arial" pitchFamily="34" charset="-120"/>
              </a:rPr>
              <a:t>'모두 똑같이 자르기'와 비교</a:t>
            </a:r>
            <a:endParaRPr lang="en-US" sz="1400" dirty="0"/>
          </a:p>
          <a:p>
            <a:pPr indent="0" marL="0">
              <a:spcAft>
                <a:spcPts val="600"/>
              </a:spcAft>
              <a:buNone/>
            </a:pPr>
            <a:r>
              <a:rPr lang="en-US" sz="1100" dirty="0">
                <a:solidFill>
                  <a:srgbClr val="1F3B57"/>
                </a:solidFill>
                <a:latin typeface="Arial" pitchFamily="34" charset="0"/>
                <a:ea typeface="Arial" pitchFamily="34" charset="-122"/>
                <a:cs typeface="Arial" pitchFamily="34" charset="-120"/>
              </a:rPr>
              <a:t>기존 방식(모든 이미지 같은 층 차단)과 동일 예산 비교</a:t>
            </a:r>
            <a:endParaRPr lang="en-US" sz="1400" dirty="0"/>
          </a:p>
          <a:p>
            <a:pPr indent="0" marL="0">
              <a:spcAft>
                <a:spcPts val="600"/>
              </a:spcAft>
              <a:buNone/>
            </a:pPr>
            <a:r>
              <a:rPr lang="en-US" sz="1050" b="1" dirty="0">
                <a:solidFill>
                  <a:srgbClr val="6B7280"/>
                </a:solidFill>
                <a:latin typeface="Arial" pitchFamily="34" charset="0"/>
                <a:ea typeface="Arial" pitchFamily="34" charset="-122"/>
                <a:cs typeface="Arial" pitchFamily="34" charset="-120"/>
              </a:rPr>
              <a:t>→ 선행연구 슬라이드 보강</a:t>
            </a:r>
            <a:endParaRPr lang="en-US" sz="1400" dirty="0"/>
          </a:p>
        </p:txBody>
      </p:sp>
      <p:sp>
        <p:nvSpPr>
          <p:cNvPr id="12" name="Shape 10"/>
          <p:cNvSpPr/>
          <p:nvPr/>
        </p:nvSpPr>
        <p:spPr>
          <a:xfrm>
            <a:off x="502920" y="3840480"/>
            <a:ext cx="3657600" cy="1920240"/>
          </a:xfrm>
          <a:prstGeom prst="roundRect">
            <a:avLst>
              <a:gd name="adj" fmla="val 4762"/>
            </a:avLst>
          </a:prstGeom>
          <a:solidFill>
            <a:srgbClr val="FDF3E3"/>
          </a:solidFill>
          <a:ln w="15875">
            <a:solidFill>
              <a:srgbClr val="E8890C"/>
            </a:solidFill>
            <a:prstDash val="dash"/>
          </a:ln>
        </p:spPr>
      </p:sp>
      <p:sp>
        <p:nvSpPr>
          <p:cNvPr id="13" name="Text 11"/>
          <p:cNvSpPr/>
          <p:nvPr/>
        </p:nvSpPr>
        <p:spPr>
          <a:xfrm>
            <a:off x="704088" y="4005072"/>
            <a:ext cx="3255264" cy="1591056"/>
          </a:xfrm>
          <a:prstGeom prst="rect">
            <a:avLst/>
          </a:prstGeom>
          <a:noFill/>
          <a:ln/>
        </p:spPr>
        <p:txBody>
          <a:bodyPr wrap="square" lIns="0" tIns="0" rIns="0" bIns="0" rtlCol="0" anchor="ctr"/>
          <a:lstStyle/>
          <a:p>
            <a:pPr indent="0" marL="0">
              <a:spcAft>
                <a:spcPts val="600"/>
              </a:spcAft>
              <a:buNone/>
            </a:pPr>
            <a:r>
              <a:rPr lang="en-US" sz="1400" b="1" dirty="0">
                <a:solidFill>
                  <a:srgbClr val="E8890C"/>
                </a:solidFill>
                <a:latin typeface="Arial" pitchFamily="34" charset="0"/>
                <a:ea typeface="Arial" pitchFamily="34" charset="-122"/>
                <a:cs typeface="Arial" pitchFamily="34" charset="-120"/>
              </a:rPr>
              <a:t>외부 선택기(CLIP)와 비교</a:t>
            </a:r>
            <a:endParaRPr lang="en-US" sz="1400" dirty="0"/>
          </a:p>
          <a:p>
            <a:pPr indent="0" marL="0">
              <a:spcAft>
                <a:spcPts val="600"/>
              </a:spcAft>
              <a:buNone/>
            </a:pPr>
            <a:r>
              <a:rPr lang="en-US" sz="1100" dirty="0">
                <a:solidFill>
                  <a:srgbClr val="1F3B57"/>
                </a:solidFill>
                <a:latin typeface="Arial" pitchFamily="34" charset="0"/>
                <a:ea typeface="Arial" pitchFamily="34" charset="-122"/>
                <a:cs typeface="Arial" pitchFamily="34" charset="-120"/>
              </a:rPr>
              <a:t>"CLIP으로 고르면 되지 않나"에 대한 정면 비교</a:t>
            </a:r>
            <a:endParaRPr lang="en-US" sz="1400" dirty="0"/>
          </a:p>
          <a:p>
            <a:pPr indent="0" marL="0">
              <a:spcAft>
                <a:spcPts val="600"/>
              </a:spcAft>
              <a:buNone/>
            </a:pPr>
            <a:r>
              <a:rPr lang="en-US" sz="1050" b="1" dirty="0">
                <a:solidFill>
                  <a:srgbClr val="6B7280"/>
                </a:solidFill>
                <a:latin typeface="Arial" pitchFamily="34" charset="0"/>
                <a:ea typeface="Arial" pitchFamily="34" charset="-122"/>
                <a:cs typeface="Arial" pitchFamily="34" charset="-120"/>
              </a:rPr>
              <a:t>→ 질문 대응</a:t>
            </a:r>
            <a:endParaRPr lang="en-US" sz="1400" dirty="0"/>
          </a:p>
        </p:txBody>
      </p:sp>
      <p:sp>
        <p:nvSpPr>
          <p:cNvPr id="14" name="Shape 12"/>
          <p:cNvSpPr/>
          <p:nvPr/>
        </p:nvSpPr>
        <p:spPr>
          <a:xfrm>
            <a:off x="4389120" y="3840480"/>
            <a:ext cx="3657600" cy="1920240"/>
          </a:xfrm>
          <a:prstGeom prst="roundRect">
            <a:avLst>
              <a:gd name="adj" fmla="val 4762"/>
            </a:avLst>
          </a:prstGeom>
          <a:solidFill>
            <a:srgbClr val="FDF3E3"/>
          </a:solidFill>
          <a:ln w="15875">
            <a:solidFill>
              <a:srgbClr val="E8890C"/>
            </a:solidFill>
            <a:prstDash val="dash"/>
          </a:ln>
        </p:spPr>
      </p:sp>
      <p:sp>
        <p:nvSpPr>
          <p:cNvPr id="15" name="Text 13"/>
          <p:cNvSpPr/>
          <p:nvPr/>
        </p:nvSpPr>
        <p:spPr>
          <a:xfrm>
            <a:off x="4590288" y="4005072"/>
            <a:ext cx="3255264" cy="1591056"/>
          </a:xfrm>
          <a:prstGeom prst="rect">
            <a:avLst/>
          </a:prstGeom>
          <a:noFill/>
          <a:ln/>
        </p:spPr>
        <p:txBody>
          <a:bodyPr wrap="square" lIns="0" tIns="0" rIns="0" bIns="0" rtlCol="0" anchor="ctr"/>
          <a:lstStyle/>
          <a:p>
            <a:pPr indent="0" marL="0">
              <a:spcAft>
                <a:spcPts val="600"/>
              </a:spcAft>
              <a:buNone/>
            </a:pPr>
            <a:r>
              <a:rPr lang="en-US" sz="1400" b="1" dirty="0">
                <a:solidFill>
                  <a:srgbClr val="E8890C"/>
                </a:solidFill>
                <a:latin typeface="Arial" pitchFamily="34" charset="0"/>
                <a:ea typeface="Arial" pitchFamily="34" charset="-122"/>
                <a:cs typeface="Arial" pitchFamily="34" charset="-120"/>
              </a:rPr>
              <a:t>안전 손잡이(α) 곡선</a:t>
            </a:r>
            <a:endParaRPr lang="en-US" sz="1400" dirty="0"/>
          </a:p>
          <a:p>
            <a:pPr indent="0" marL="0">
              <a:spcAft>
                <a:spcPts val="600"/>
              </a:spcAft>
              <a:buNone/>
            </a:pPr>
            <a:r>
              <a:rPr lang="en-US" sz="1100" dirty="0">
                <a:solidFill>
                  <a:srgbClr val="1F3B57"/>
                </a:solidFill>
                <a:latin typeface="Arial" pitchFamily="34" charset="0"/>
                <a:ea typeface="Arial" pitchFamily="34" charset="-122"/>
                <a:cs typeface="Arial" pitchFamily="34" charset="-120"/>
              </a:rPr>
              <a:t>'오류율 상한을 정하고 계산 최소화' — 정확도·절감 곡선</a:t>
            </a:r>
            <a:endParaRPr lang="en-US" sz="1400" dirty="0"/>
          </a:p>
          <a:p>
            <a:pPr indent="0" marL="0">
              <a:spcAft>
                <a:spcPts val="600"/>
              </a:spcAft>
              <a:buNone/>
            </a:pPr>
            <a:r>
              <a:rPr lang="en-US" sz="1050" b="1" dirty="0">
                <a:solidFill>
                  <a:srgbClr val="6B7280"/>
                </a:solidFill>
                <a:latin typeface="Arial" pitchFamily="34" charset="0"/>
                <a:ea typeface="Arial" pitchFamily="34" charset="-122"/>
                <a:cs typeface="Arial" pitchFamily="34" charset="-120"/>
              </a:rPr>
              <a:t>→ 계획 슬라이드 보강</a:t>
            </a:r>
            <a:endParaRPr lang="en-US" sz="1400" dirty="0"/>
          </a:p>
        </p:txBody>
      </p:sp>
      <p:sp>
        <p:nvSpPr>
          <p:cNvPr id="16" name="Shape 14"/>
          <p:cNvSpPr/>
          <p:nvPr/>
        </p:nvSpPr>
        <p:spPr>
          <a:xfrm>
            <a:off x="8275320" y="3840480"/>
            <a:ext cx="3657600" cy="1920240"/>
          </a:xfrm>
          <a:prstGeom prst="roundRect">
            <a:avLst>
              <a:gd name="adj" fmla="val 4762"/>
            </a:avLst>
          </a:prstGeom>
          <a:solidFill>
            <a:srgbClr val="FDF3E3"/>
          </a:solidFill>
          <a:ln w="15875">
            <a:solidFill>
              <a:srgbClr val="E8890C"/>
            </a:solidFill>
            <a:prstDash val="dash"/>
          </a:ln>
        </p:spPr>
      </p:sp>
      <p:sp>
        <p:nvSpPr>
          <p:cNvPr id="17" name="Text 15"/>
          <p:cNvSpPr/>
          <p:nvPr/>
        </p:nvSpPr>
        <p:spPr>
          <a:xfrm>
            <a:off x="8476488" y="4005072"/>
            <a:ext cx="3255264" cy="1591056"/>
          </a:xfrm>
          <a:prstGeom prst="rect">
            <a:avLst/>
          </a:prstGeom>
          <a:noFill/>
          <a:ln/>
        </p:spPr>
        <p:txBody>
          <a:bodyPr wrap="square" lIns="0" tIns="0" rIns="0" bIns="0" rtlCol="0" anchor="ctr"/>
          <a:lstStyle/>
          <a:p>
            <a:pPr indent="0" marL="0">
              <a:spcAft>
                <a:spcPts val="600"/>
              </a:spcAft>
              <a:buNone/>
            </a:pPr>
            <a:r>
              <a:rPr lang="en-US" sz="1400" b="1" dirty="0">
                <a:solidFill>
                  <a:srgbClr val="E8890C"/>
                </a:solidFill>
                <a:latin typeface="Arial" pitchFamily="34" charset="0"/>
                <a:ea typeface="Arial" pitchFamily="34" charset="-122"/>
                <a:cs typeface="Arial" pitchFamily="34" charset="-120"/>
              </a:rPr>
              <a:t>7B 모델 재현</a:t>
            </a:r>
            <a:endParaRPr lang="en-US" sz="1400" dirty="0"/>
          </a:p>
          <a:p>
            <a:pPr indent="0" marL="0">
              <a:spcAft>
                <a:spcPts val="600"/>
              </a:spcAft>
              <a:buNone/>
            </a:pPr>
            <a:r>
              <a:rPr lang="en-US" sz="1100" dirty="0">
                <a:solidFill>
                  <a:srgbClr val="1F3B57"/>
                </a:solidFill>
                <a:latin typeface="Arial" pitchFamily="34" charset="0"/>
                <a:ea typeface="Arial" pitchFamily="34" charset="-122"/>
                <a:cs typeface="Arial" pitchFamily="34" charset="-120"/>
              </a:rPr>
              <a:t>같은 실험을 2배 큰 모델에서 — 스케일 일반화</a:t>
            </a:r>
            <a:endParaRPr lang="en-US" sz="1400" dirty="0"/>
          </a:p>
          <a:p>
            <a:pPr indent="0" marL="0">
              <a:spcAft>
                <a:spcPts val="600"/>
              </a:spcAft>
              <a:buNone/>
            </a:pPr>
            <a:r>
              <a:rPr lang="en-US" sz="1050" b="1" dirty="0">
                <a:solidFill>
                  <a:srgbClr val="6B7280"/>
                </a:solidFill>
                <a:latin typeface="Arial" pitchFamily="34" charset="0"/>
                <a:ea typeface="Arial" pitchFamily="34" charset="-122"/>
                <a:cs typeface="Arial" pitchFamily="34" charset="-120"/>
              </a:rPr>
              <a:t>→ 한계 항목 해소</a:t>
            </a:r>
            <a:endParaRPr lang="en-US" sz="1400" dirty="0"/>
          </a:p>
        </p:txBody>
      </p:sp>
      <p:sp>
        <p:nvSpPr>
          <p:cNvPr id="18" name="Text 16"/>
          <p:cNvSpPr/>
          <p:nvPr/>
        </p:nvSpPr>
        <p:spPr>
          <a:xfrm>
            <a:off x="502920" y="5989320"/>
            <a:ext cx="11155680" cy="320040"/>
          </a:xfrm>
          <a:prstGeom prst="rect">
            <a:avLst/>
          </a:prstGeom>
          <a:noFill/>
          <a:ln/>
        </p:spPr>
        <p:txBody>
          <a:bodyPr wrap="square" lIns="0" tIns="0" rIns="0" bIns="0" rtlCol="0" anchor="ctr"/>
          <a:lstStyle/>
          <a:p>
            <a:pPr indent="0" marL="0">
              <a:buNone/>
            </a:pPr>
            <a:r>
              <a:rPr lang="en-US" sz="1050" dirty="0">
                <a:solidFill>
                  <a:srgbClr val="6B7280"/>
                </a:solidFill>
                <a:latin typeface="Arial" pitchFamily="34" charset="0"/>
                <a:ea typeface="Arial" pitchFamily="34" charset="-122"/>
                <a:cs typeface="Arial" pitchFamily="34" charset="-120"/>
              </a:rPr>
              <a:t>야간 자동 체인 실행 중 · 실패 시 자동 재제출(watchdog) · 전 단계 이어하기(resume) 지원</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2026-08-12T03:16:40Z</dcterms:created>
  <dcterms:modified xsi:type="dcterms:W3CDTF">2026-08-12T03:16:40Z</dcterms:modified>
</cp:coreProperties>
</file>