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결론부터 세 가지입니다. 문제가 실재하고, 원인이 예상과 반대였고, 그 원인에 정확히 개입하는 방법을 만들었습니다.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왼쪽이 정상, 오른쪽이 문제 상황입니다. 무관한 사진 속 개가 첫 번째 사진으로 옮겨붙습니다. 아래 막대처럼 무관한 사진이 늘수록 판별력이 떨어져 3장이면 찍기 수준입니다.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 내부를 행렬로 그리면 이렇습니다. 무관한 2번 사진과 관련된 칸이 두 개 있습니다. 경로 A는 사진끼리 섞이는 칸, 경로 B는 질문이 무관한 사진을 읽는 칸입니다. 중요한 점은 1번이 2번을 못 보기 때문에, 2번의 내용이 답으로 배달되는 길은 경로 B 하나라는 것입니다. 사고는 마지막 행에서 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칸을 하나씩 지워봤습니다. 섞임을 지우면 0.40으로 무너지고, 읽기를 지우면 0.91로 회복됩니다. 저희 처음 가설이 반증된 지점이 가운데입니다. 아래 박스가 중요합니다. 통째로 지우는 것과의 차이는 무관 사진이 앞에 올 때 드러나는데, 3B에서 유의하게 칸만 지우는 쪽이 낫습니다. 7B는 같은 방향이지만 유의하지는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방법의 나머지 두 조각입니다. 첫째, 어느 사진이 무관한지는 하나씩 빼보고 답이 흔들리는 정도로 판정합니다. CLIP 같은 의미 유사도는 찍기 수준입니다. 둘째, 두 경로 상태를 빼면 0.97까지 오르는데, 이건 사후 분석이라 예비 결과로 말씀드립니다. 재현 실험은 사전 등록해 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연구는 늘려라와 끊어라로 갈려 있고 양쪽 다 개선을 보고합니다. 저희 분해로 보면 서로 다른 칸을 건드린 것이라 둘 다 맞습니다. 조사 과정에서 저희가 처음에 novelty로 생각한 세 가지는 선점돼 있다는 것도 확인했고, 그대로 적었습니다. 비어 있는 자리는 오른쪽 세 가지입니다.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 불리한 것부터 말씀드립니다. 벤치마크가 위치를 알려주는 문제가 가장 크고 1주차에 바꿉니다. 2주차 공개 벤치마크에서 재현되지 않으면 접겠습니다. 지금까지 사전 등록 7건 중 5건이 기준 미달이거나 예측 반대였고 전부 기록했습니다.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SOURCEDEPTH · 연구 방향 보고 · 한상민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155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장의 사진을 주면 모델은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엉뚱한 사진을 보고 답합니다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45059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FC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현상이 실제로 있는지 · 왜 생기는지 · 어떻게 고치는지 — 세 가지를 측정으로 보고드립니다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3611880" cy="2834640"/>
          </a:xfrm>
          <a:prstGeom prst="roundRect">
            <a:avLst>
              <a:gd name="adj" fmla="val 1613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24612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확인한 것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666744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무관한 사진 3장이면 작은 모델의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판별력이 0.91 → 0.52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(동전 던지기 수준)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5394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등록 · 2개 모델 · 문항 300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3063240"/>
            <a:ext cx="3611880" cy="2834640"/>
          </a:xfrm>
          <a:prstGeom prst="roundRect">
            <a:avLst>
              <a:gd name="adj" fmla="val 1613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324612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알아낸 것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3666744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범인은 '사진끼리 섞임'이 아니라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'질문이 무관한 사진을 읽는 것'.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섞임을 끊으면 오히려 0.40으로 붕괴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5394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가설을 우리 실험으로 반증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3063240"/>
            <a:ext cx="3611880" cy="2834640"/>
          </a:xfrm>
          <a:prstGeom prst="roundRect">
            <a:avLst>
              <a:gd name="adj" fmla="val 1613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324612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만든 것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3666744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사진은 두고 읽기만 끊으면 0.91 복구.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경로 상태를 빼면 0.97 (예비)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66760" y="5394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지우는 것보다 낫다는 것까지 측정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— 실재 확인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한 장 더 넣었을 뿐인데 답이 바뀝니다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504688" cy="2377440"/>
          </a:xfrm>
          <a:prstGeom prst="roundRect">
            <a:avLst>
              <a:gd name="adj" fmla="val 1923"/>
            </a:avLst>
          </a:prstGeom>
          <a:solidFill>
            <a:srgbClr val="E9F4EE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08176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1장만 줬을 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755648"/>
            <a:ext cx="504748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55648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 없는 거실 사진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724912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 사진에 개가 있나요?"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3072384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모델:  "아니오"  (정답)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9632" y="1280160"/>
            <a:ext cx="5504688" cy="2377440"/>
          </a:xfrm>
          <a:prstGeom prst="roundRect">
            <a:avLst>
              <a:gd name="adj" fmla="val 1923"/>
            </a:avLst>
          </a:prstGeom>
          <a:solidFill>
            <a:srgbClr val="FBEAEA"/>
          </a:solidFill>
          <a:ln w="15875">
            <a:solidFill>
              <a:srgbClr val="D627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1408176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무관한 사진을 한 장 추가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28232" y="1755648"/>
            <a:ext cx="504748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1755648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 없는 거실 사진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28232" y="2212848"/>
            <a:ext cx="504748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5392" y="2212848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개 있는 공원 사진 (질문과 무관)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28232" y="2724912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"첫 번째 사진에 개가 있나요?"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28232" y="3072384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모델:  "있습니다"  (오답)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858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무관한 사진을 늘려가며 재본 결과 (판별력 점수 · 3B · 문항 300)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418795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1장만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48840" y="4242816"/>
            <a:ext cx="7863840" cy="219456"/>
          </a:xfrm>
          <a:prstGeom prst="rect">
            <a:avLst/>
          </a:prstGeom>
          <a:solidFill>
            <a:srgbClr val="EDF1F5"/>
          </a:solidFill>
          <a:ln/>
        </p:spPr>
      </p:sp>
      <p:sp>
        <p:nvSpPr>
          <p:cNvPr id="21" name="Shape 19"/>
          <p:cNvSpPr/>
          <p:nvPr/>
        </p:nvSpPr>
        <p:spPr>
          <a:xfrm>
            <a:off x="2148840" y="4242816"/>
            <a:ext cx="6413748" cy="219456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2" name="Text 20"/>
          <p:cNvSpPr/>
          <p:nvPr/>
        </p:nvSpPr>
        <p:spPr>
          <a:xfrm>
            <a:off x="10149840" y="41879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459943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무관 1장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48840" y="4654296"/>
            <a:ext cx="7863840" cy="219456"/>
          </a:xfrm>
          <a:prstGeom prst="rect">
            <a:avLst/>
          </a:prstGeom>
          <a:solidFill>
            <a:srgbClr val="EDF1F5"/>
          </a:solidFill>
          <a:ln/>
        </p:spPr>
      </p:sp>
      <p:sp>
        <p:nvSpPr>
          <p:cNvPr id="25" name="Shape 23"/>
          <p:cNvSpPr/>
          <p:nvPr/>
        </p:nvSpPr>
        <p:spPr>
          <a:xfrm>
            <a:off x="2148840" y="4654296"/>
            <a:ext cx="3110935" cy="219456"/>
          </a:xfrm>
          <a:prstGeom prst="rect">
            <a:avLst/>
          </a:prstGeom>
          <a:solidFill>
            <a:srgbClr val="E8890C"/>
          </a:solidFill>
          <a:ln/>
        </p:spPr>
      </p:sp>
      <p:sp>
        <p:nvSpPr>
          <p:cNvPr id="26" name="Text 24"/>
          <p:cNvSpPr/>
          <p:nvPr/>
        </p:nvSpPr>
        <p:spPr>
          <a:xfrm>
            <a:off x="10149840" y="459943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50109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무관 2장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48840" y="5065776"/>
            <a:ext cx="7863840" cy="219456"/>
          </a:xfrm>
          <a:prstGeom prst="rect">
            <a:avLst/>
          </a:prstGeom>
          <a:solidFill>
            <a:srgbClr val="EDF1F5"/>
          </a:solidFill>
          <a:ln/>
        </p:spPr>
      </p:sp>
      <p:sp>
        <p:nvSpPr>
          <p:cNvPr id="29" name="Shape 27"/>
          <p:cNvSpPr/>
          <p:nvPr/>
        </p:nvSpPr>
        <p:spPr>
          <a:xfrm>
            <a:off x="2148840" y="5065776"/>
            <a:ext cx="1671852" cy="219456"/>
          </a:xfrm>
          <a:prstGeom prst="rect">
            <a:avLst/>
          </a:prstGeom>
          <a:solidFill>
            <a:srgbClr val="E8890C"/>
          </a:solidFill>
          <a:ln/>
        </p:spPr>
      </p:sp>
      <p:sp>
        <p:nvSpPr>
          <p:cNvPr id="30" name="Text 28"/>
          <p:cNvSpPr/>
          <p:nvPr/>
        </p:nvSpPr>
        <p:spPr>
          <a:xfrm>
            <a:off x="10149840" y="50109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0.61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2920" y="54223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무관 3장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48840" y="5477256"/>
            <a:ext cx="7863840" cy="219456"/>
          </a:xfrm>
          <a:prstGeom prst="rect">
            <a:avLst/>
          </a:prstGeom>
          <a:solidFill>
            <a:srgbClr val="EDF1F5"/>
          </a:solidFill>
          <a:ln/>
        </p:spPr>
      </p:sp>
      <p:sp>
        <p:nvSpPr>
          <p:cNvPr id="33" name="Shape 31"/>
          <p:cNvSpPr/>
          <p:nvPr/>
        </p:nvSpPr>
        <p:spPr>
          <a:xfrm>
            <a:off x="2148840" y="5477256"/>
            <a:ext cx="393192" cy="219456"/>
          </a:xfrm>
          <a:prstGeom prst="rect">
            <a:avLst/>
          </a:prstGeom>
          <a:solidFill>
            <a:srgbClr val="D62728"/>
          </a:solidFill>
          <a:ln/>
        </p:spPr>
      </p:sp>
      <p:sp>
        <p:nvSpPr>
          <p:cNvPr id="34" name="Text 32"/>
          <p:cNvSpPr/>
          <p:nvPr/>
        </p:nvSpPr>
        <p:spPr>
          <a:xfrm>
            <a:off x="10149840" y="54223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0.52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148840" y="58064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막대 시작점 = 0.5 (찍기)  ·  판별력 점수: 맞다/아니다를 가려내는 능력. "예"를 자주 답해 오르는 착시가 없는 지표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F3B57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3장이면 사실상 찍기가 됩니다. 문서 여러 장·영상 프레임·검색 이미지 등 실제 입력은 대부분 이런 상황입니다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원인 — 모델 내부에서 실제로 일어나는 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누가 무엇을 읽을 수 있는가 — 길은 두 개뿐입니다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 = 읽는 쪽 · 열 = 읽히는 쪽 · 순서상 앞에 있는 것만 읽을 수 있음(causal). 사진·질문 블록 단위로 그리면: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88920" y="13898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순서 →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88920" y="1572768"/>
            <a:ext cx="1527048" cy="274320"/>
          </a:xfrm>
          <a:prstGeom prst="roundRect">
            <a:avLst>
              <a:gd name="adj" fmla="val 16667"/>
            </a:avLst>
          </a:prstGeom>
          <a:solidFill>
            <a:srgbClr val="E8F1FA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1572768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1번 사진 · 거실  ·  개 없음 (질문 대상)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407408" y="1572768"/>
            <a:ext cx="1527048" cy="274320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3128" y="1572768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2번 사진 · 공원  ·  개 있음 (무관)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025896" y="1572768"/>
            <a:ext cx="1527048" cy="274320"/>
          </a:xfrm>
          <a:prstGeom prst="roundRect">
            <a:avLst>
              <a:gd name="adj" fmla="val 16667"/>
            </a:avLst>
          </a:prstGeom>
          <a:solidFill>
            <a:srgbClr val="EFF4F9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71616" y="1572768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 ·  "1번 사진에 개가 있나?"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17627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1번 사진이 읽을 때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20040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2번 사진이 읽을 때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422452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질문이 읽을 때  (답이 만들어짐)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88920" y="1883664"/>
            <a:ext cx="1527048" cy="9144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2212848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자기 자신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407408" y="1883664"/>
            <a:ext cx="1527048" cy="914400"/>
          </a:xfrm>
          <a:prstGeom prst="roundRect">
            <a:avLst>
              <a:gd name="adj" fmla="val 5000"/>
            </a:avLst>
          </a:prstGeom>
          <a:solidFill>
            <a:srgbClr val="FBFBFB"/>
          </a:solidFill>
          <a:ln w="9525">
            <a:solidFill>
              <a:srgbClr val="EDEE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07408" y="2066544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9B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읽을 수 없음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07408" y="2359152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(2번은 뒤에 있음)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25896" y="1883664"/>
            <a:ext cx="1527048" cy="914400"/>
          </a:xfrm>
          <a:prstGeom prst="roundRect">
            <a:avLst>
              <a:gd name="adj" fmla="val 5000"/>
            </a:avLst>
          </a:prstGeom>
          <a:solidFill>
            <a:srgbClr val="FBFBFB"/>
          </a:solidFill>
          <a:ln w="9525">
            <a:solidFill>
              <a:srgbClr val="EDEE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25896" y="2212848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9B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88920" y="2907792"/>
            <a:ext cx="1527048" cy="914400"/>
          </a:xfrm>
          <a:prstGeom prst="roundRect">
            <a:avLst>
              <a:gd name="adj" fmla="val 5000"/>
            </a:avLst>
          </a:prstGeom>
          <a:solidFill>
            <a:srgbClr val="E8F1FA"/>
          </a:solidFill>
          <a:ln w="25400">
            <a:solidFill>
              <a:srgbClr val="1F77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8920" y="3090672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 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788920" y="3383280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2번이 1번을 읽음 (섞임)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07408" y="2907792"/>
            <a:ext cx="1527048" cy="9144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07408" y="3236976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자기 자신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025896" y="2907792"/>
            <a:ext cx="1527048" cy="914400"/>
          </a:xfrm>
          <a:prstGeom prst="roundRect">
            <a:avLst>
              <a:gd name="adj" fmla="val 5000"/>
            </a:avLst>
          </a:prstGeom>
          <a:solidFill>
            <a:srgbClr val="FBFBFB"/>
          </a:solidFill>
          <a:ln w="9525">
            <a:solidFill>
              <a:srgbClr val="EDEE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25896" y="3236976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9B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88920" y="3931920"/>
            <a:ext cx="1527048" cy="914400"/>
          </a:xfrm>
          <a:prstGeom prst="roundRect">
            <a:avLst>
              <a:gd name="adj" fmla="val 5000"/>
            </a:avLst>
          </a:prstGeom>
          <a:solidFill>
            <a:srgbClr val="E9F4EE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88920" y="4114800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질문이 1번을 읽음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788920" y="4407408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— 꼭 필요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407408" y="3931920"/>
            <a:ext cx="1527048" cy="914400"/>
          </a:xfrm>
          <a:prstGeom prst="roundRect">
            <a:avLst>
              <a:gd name="adj" fmla="val 5000"/>
            </a:avLst>
          </a:prstGeom>
          <a:solidFill>
            <a:srgbClr val="FBEAEA"/>
          </a:solidFill>
          <a:ln w="31750">
            <a:solidFill>
              <a:srgbClr val="D627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07408" y="4114800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 B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407408" y="4407408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질문이 2번(무관)을 읽음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25896" y="3931920"/>
            <a:ext cx="1527048" cy="9144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25896" y="4261104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자기 자신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407408" y="4864608"/>
            <a:ext cx="1527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사고 지점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882128" y="2907792"/>
            <a:ext cx="3803904" cy="914400"/>
          </a:xfrm>
          <a:prstGeom prst="roundRect">
            <a:avLst>
              <a:gd name="adj" fmla="val 5000"/>
            </a:avLst>
          </a:prstGeom>
          <a:solidFill>
            <a:srgbClr val="E8F1FA"/>
          </a:solidFill>
          <a:ln w="15875">
            <a:solidFill>
              <a:srgbClr val="1F77B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65008" y="299923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 A는 '배달로'가 아닙니다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065008" y="325526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1번은 2번을 못 보므로(✕) 2번의 내용이 답으로 가는 길은 경로 B뿐. A는 2번이 맥락을 얻는 통로.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882128" y="3931920"/>
            <a:ext cx="3803904" cy="914400"/>
          </a:xfrm>
          <a:prstGeom prst="roundRect">
            <a:avLst>
              <a:gd name="adj" fmla="val 5000"/>
            </a:avLst>
          </a:prstGeom>
          <a:solidFill>
            <a:srgbClr val="FBEAEA"/>
          </a:solidFill>
          <a:ln w="15875">
            <a:solidFill>
              <a:srgbClr val="D627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65008" y="40233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무슨 일이 벌어지나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065008" y="4279392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답은 이 행에서 만들어지는데, 빨간 칸으로 2번의 '개'가 흘러들어와 "있다"(오답).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02920" y="502920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실제로는 사진 한 장 = 토큰 수백 개 → 각 칸은 사각형 블록.  '지우기' = 블록에 −∞를 더해 attention 0으로 (실제 토큰 삭제와 예측 100% 일치 검증)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02920" y="5376672"/>
            <a:ext cx="11201400" cy="548640"/>
          </a:xfrm>
          <a:prstGeom prst="roundRect">
            <a:avLst>
              <a:gd name="adj" fmla="val 8333"/>
            </a:avLst>
          </a:prstGeom>
          <a:solidFill>
            <a:srgbClr val="EFF4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" y="53766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= 칸을 하나씩 지우고 비교.  사진·질문·모델이 전부 같고 지운 칸 하나만 다르므로, 결과 차이는 그 칸 때문입니다 (인과 개입)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F3B57"/>
          </a:solidFill>
          <a:ln/>
        </p:spPr>
      </p:sp>
      <p:sp>
        <p:nvSpPr>
          <p:cNvPr id="48" name="Text 46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무관한 사진의 내용이 답에 닿는 길은 이 행렬의 칸입니다. 다음 장: 칸을 하나씩 지워본 결과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결과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범인은 '읽기'였습니다 — 섞임을 끊으면 오히려 무너집니다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아무것도 안 지움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25880" y="142646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1을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938528" y="142646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2를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551176" y="142646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Q를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8680" y="181965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1이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8680" y="243230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2가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3044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Q가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325880" y="1627632"/>
            <a:ext cx="566928" cy="566928"/>
          </a:xfrm>
          <a:prstGeom prst="rect">
            <a:avLst/>
          </a:prstGeom>
          <a:solidFill>
            <a:srgbClr val="F3F4F6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38528" y="1627632"/>
            <a:ext cx="566928" cy="566928"/>
          </a:xfrm>
          <a:prstGeom prst="rect">
            <a:avLst/>
          </a:prstGeom>
          <a:solidFill>
            <a:srgbClr val="FBFBFB"/>
          </a:solidFill>
          <a:ln w="6350">
            <a:solidFill>
              <a:srgbClr val="EDEE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1176" y="1627632"/>
            <a:ext cx="566928" cy="566928"/>
          </a:xfrm>
          <a:prstGeom prst="rect">
            <a:avLst/>
          </a:prstGeom>
          <a:solidFill>
            <a:srgbClr val="FBFBFB"/>
          </a:solidFill>
          <a:ln w="6350">
            <a:solidFill>
              <a:srgbClr val="EDEE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25880" y="2240280"/>
            <a:ext cx="566928" cy="566928"/>
          </a:xfrm>
          <a:prstGeom prst="rect">
            <a:avLst/>
          </a:prstGeom>
          <a:solidFill>
            <a:srgbClr val="E8F1FA"/>
          </a:solidFill>
          <a:ln w="15875">
            <a:solidFill>
              <a:srgbClr val="1F77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237744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38528" y="2240280"/>
            <a:ext cx="566928" cy="566928"/>
          </a:xfrm>
          <a:prstGeom prst="rect">
            <a:avLst/>
          </a:prstGeom>
          <a:solidFill>
            <a:srgbClr val="F3F4F6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1176" y="2240280"/>
            <a:ext cx="566928" cy="566928"/>
          </a:xfrm>
          <a:prstGeom prst="rect">
            <a:avLst/>
          </a:prstGeom>
          <a:solidFill>
            <a:srgbClr val="FBFBFB"/>
          </a:solidFill>
          <a:ln w="6350">
            <a:solidFill>
              <a:srgbClr val="EDEE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5880" y="2852928"/>
            <a:ext cx="566928" cy="566928"/>
          </a:xfrm>
          <a:prstGeom prst="rect">
            <a:avLst/>
          </a:prstGeom>
          <a:solidFill>
            <a:srgbClr val="F3F4F6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38528" y="2852928"/>
            <a:ext cx="566928" cy="566928"/>
          </a:xfrm>
          <a:prstGeom prst="rect">
            <a:avLst/>
          </a:prstGeom>
          <a:solidFill>
            <a:srgbClr val="FBEAEA"/>
          </a:solidFill>
          <a:ln w="15875">
            <a:solidFill>
              <a:srgbClr val="D627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38528" y="299008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51176" y="2852928"/>
            <a:ext cx="566928" cy="566928"/>
          </a:xfrm>
          <a:prstGeom prst="rect">
            <a:avLst/>
          </a:prstGeom>
          <a:solidFill>
            <a:srgbClr val="F3F4F6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611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85800" y="4133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무관한 사진이 답을 흔든다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17720" y="1280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경로 A(섞임)를 지움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257800" y="142646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1을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870448" y="142646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2를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83096" y="142646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Q를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00600" y="181965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1이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00600" y="243230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2가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00600" y="3044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Q가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257800" y="1627632"/>
            <a:ext cx="566928" cy="566928"/>
          </a:xfrm>
          <a:prstGeom prst="rect">
            <a:avLst/>
          </a:prstGeom>
          <a:solidFill>
            <a:srgbClr val="F3F4F6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70448" y="1627632"/>
            <a:ext cx="566928" cy="566928"/>
          </a:xfrm>
          <a:prstGeom prst="rect">
            <a:avLst/>
          </a:prstGeom>
          <a:solidFill>
            <a:srgbClr val="FBFBFB"/>
          </a:solidFill>
          <a:ln w="6350">
            <a:solidFill>
              <a:srgbClr val="EDEE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83096" y="1627632"/>
            <a:ext cx="566928" cy="566928"/>
          </a:xfrm>
          <a:prstGeom prst="rect">
            <a:avLst/>
          </a:prstGeom>
          <a:solidFill>
            <a:srgbClr val="FBFBFB"/>
          </a:solidFill>
          <a:ln w="6350">
            <a:solidFill>
              <a:srgbClr val="EDEE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57800" y="2240280"/>
            <a:ext cx="566928" cy="566928"/>
          </a:xfrm>
          <a:prstGeom prst="rect">
            <a:avLst/>
          </a:prstGeom>
          <a:solidFill>
            <a:srgbClr val="8B1A1A"/>
          </a:solidFill>
          <a:ln w="6350">
            <a:solidFill>
              <a:srgbClr val="8B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57800" y="237744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870448" y="2240280"/>
            <a:ext cx="566928" cy="566928"/>
          </a:xfrm>
          <a:prstGeom prst="rect">
            <a:avLst/>
          </a:prstGeom>
          <a:solidFill>
            <a:srgbClr val="F3F4F6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83096" y="2240280"/>
            <a:ext cx="566928" cy="566928"/>
          </a:xfrm>
          <a:prstGeom prst="rect">
            <a:avLst/>
          </a:prstGeom>
          <a:solidFill>
            <a:srgbClr val="FBFBFB"/>
          </a:solidFill>
          <a:ln w="6350">
            <a:solidFill>
              <a:srgbClr val="EDEE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57800" y="2852928"/>
            <a:ext cx="566928" cy="566928"/>
          </a:xfrm>
          <a:prstGeom prst="rect">
            <a:avLst/>
          </a:prstGeom>
          <a:solidFill>
            <a:srgbClr val="F3F4F6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70448" y="2852928"/>
            <a:ext cx="566928" cy="566928"/>
          </a:xfrm>
          <a:prstGeom prst="rect">
            <a:avLst/>
          </a:prstGeom>
          <a:solidFill>
            <a:srgbClr val="FBEAEA"/>
          </a:solidFill>
          <a:ln w="15875">
            <a:solidFill>
              <a:srgbClr val="D627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70448" y="299008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83096" y="2852928"/>
            <a:ext cx="566928" cy="566928"/>
          </a:xfrm>
          <a:prstGeom prst="rect">
            <a:avLst/>
          </a:prstGeom>
          <a:solidFill>
            <a:srgbClr val="F3F4F6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3611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0.40 ▼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4617720" y="4133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훨씬 나빠짐 — 섞임은 지지대였다*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549640" y="1280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경로 B(읽기)를 지움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9189720" y="142646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1을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9802368" y="142646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2를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0415016" y="142646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Q를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732520" y="181965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1이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732520" y="243230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2가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732520" y="3044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Q가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189720" y="1627632"/>
            <a:ext cx="566928" cy="566928"/>
          </a:xfrm>
          <a:prstGeom prst="rect">
            <a:avLst/>
          </a:prstGeom>
          <a:solidFill>
            <a:srgbClr val="F3F4F6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802368" y="1627632"/>
            <a:ext cx="566928" cy="566928"/>
          </a:xfrm>
          <a:prstGeom prst="rect">
            <a:avLst/>
          </a:prstGeom>
          <a:solidFill>
            <a:srgbClr val="FBFBFB"/>
          </a:solidFill>
          <a:ln w="6350">
            <a:solidFill>
              <a:srgbClr val="EDEE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415016" y="1627632"/>
            <a:ext cx="566928" cy="566928"/>
          </a:xfrm>
          <a:prstGeom prst="rect">
            <a:avLst/>
          </a:prstGeom>
          <a:solidFill>
            <a:srgbClr val="FBFBFB"/>
          </a:solidFill>
          <a:ln w="6350">
            <a:solidFill>
              <a:srgbClr val="EDEE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189720" y="2240280"/>
            <a:ext cx="566928" cy="566928"/>
          </a:xfrm>
          <a:prstGeom prst="rect">
            <a:avLst/>
          </a:prstGeom>
          <a:solidFill>
            <a:srgbClr val="E8F1FA"/>
          </a:solidFill>
          <a:ln w="15875">
            <a:solidFill>
              <a:srgbClr val="1F77B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89720" y="237744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802368" y="2240280"/>
            <a:ext cx="566928" cy="566928"/>
          </a:xfrm>
          <a:prstGeom prst="rect">
            <a:avLst/>
          </a:prstGeom>
          <a:solidFill>
            <a:srgbClr val="F3F4F6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415016" y="2240280"/>
            <a:ext cx="566928" cy="566928"/>
          </a:xfrm>
          <a:prstGeom prst="rect">
            <a:avLst/>
          </a:prstGeom>
          <a:solidFill>
            <a:srgbClr val="FBFBFB"/>
          </a:solidFill>
          <a:ln w="6350">
            <a:solidFill>
              <a:srgbClr val="EDEE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189720" y="2852928"/>
            <a:ext cx="566928" cy="566928"/>
          </a:xfrm>
          <a:prstGeom prst="rect">
            <a:avLst/>
          </a:prstGeom>
          <a:solidFill>
            <a:srgbClr val="F3F4F6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802368" y="2852928"/>
            <a:ext cx="566928" cy="566928"/>
          </a:xfrm>
          <a:prstGeom prst="rect">
            <a:avLst/>
          </a:prstGeom>
          <a:solidFill>
            <a:srgbClr val="8B1A1A"/>
          </a:solidFill>
          <a:ln w="6350">
            <a:solidFill>
              <a:srgbClr val="8B1A1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802368" y="299008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10415016" y="2852928"/>
            <a:ext cx="566928" cy="566928"/>
          </a:xfrm>
          <a:prstGeom prst="rect">
            <a:avLst/>
          </a:prstGeom>
          <a:solidFill>
            <a:srgbClr val="F3F4F6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49640" y="3611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 ▲</a:t>
            </a:r>
            <a:endParaRPr lang="en-US" sz="2600" dirty="0"/>
          </a:p>
        </p:txBody>
      </p:sp>
      <p:sp>
        <p:nvSpPr>
          <p:cNvPr id="63" name="Text 61"/>
          <p:cNvSpPr/>
          <p:nvPr/>
        </p:nvSpPr>
        <p:spPr>
          <a:xfrm>
            <a:off x="8549640" y="4133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1장만 준 수준(0.91)으로 회복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02920" y="452628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판별력 점수 · 3B · 문항 300 · 7B도 같은 방향(0.87 / 0.45 / 0.90)   *'지지대'는 해석 — 측정 사실은 "섞임 차단이 이득인 설정이 8개 중 0개"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02920" y="4864608"/>
            <a:ext cx="11201400" cy="1042416"/>
          </a:xfrm>
          <a:prstGeom prst="roundRect">
            <a:avLst>
              <a:gd name="adj" fmla="val 4386"/>
            </a:avLst>
          </a:prstGeom>
          <a:solidFill>
            <a:srgbClr val="EFF4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1520" y="4974336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"그냥 2번 사진을 통째로 지우면 되지 않나?"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731520" y="5266944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2번 '열' 전체를 지우는 것 = 이 배치에선 ③과 완전히 동일 (배달로가 경로 B뿐이라서 — 600문항 전부 소수점까지 일치).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무관 사진이 앞에 오는 배치에선 통째 삭제 0.889 &lt; 칸만 삭제 0.908 (3B 유의 · 7B는 같은 방향, 유의하지 않음) — 통째로 지우면 경로 A(맥락)까지 죽이기 때문.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2E8B57"/>
          </a:solidFill>
          <a:ln/>
        </p:spPr>
      </p:sp>
      <p:sp>
        <p:nvSpPr>
          <p:cNvPr id="69" name="Text 67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해악은 「질문 → 무관 사진」 칸 하나. 우리 방법 = 사진은 두고 그 칸만 지운다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 완성 — 남은 두 조각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어느 사진이 무관한지 아는 법, 그리고 두 상태를 빼서 더 올리는 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532120" cy="2651760"/>
          </a:xfrm>
          <a:prstGeom prst="roundRect">
            <a:avLst>
              <a:gd name="adj" fmla="val 1724"/>
            </a:avLst>
          </a:prstGeom>
          <a:solidFill>
            <a:srgbClr val="EFF4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081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조각 1 — 무관한 사진 판별: '하나씩 빼보기'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71907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하나씩 빼고 다시 돌려서, 답이 가장 크게 흔들리는 사진 = 진짜 필요한 사진. 위치를 안 보므로 위치 편향이 원천 불가능.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04288"/>
          <a:ext cx="5074920" cy="914400"/>
        </p:xfrm>
        <a:graphic>
          <a:graphicData uri="http://schemas.openxmlformats.org/drawingml/2006/table">
            <a:tbl>
              <a:tblPr/>
              <a:tblGrid>
                <a:gridCol w="1268730"/>
                <a:gridCol w="1268730"/>
                <a:gridCol w="1268730"/>
                <a:gridCol w="126873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수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의미 유사도 (CLIP)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하나씩 빼보기 (우리)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찍으면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2장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3장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4장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352958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CLIP은 무관한 사진에 질문 속 물건이 있으면 오히려 그쪽을 고름 — 관련도는 '의미'가 아니라 '이 모델의 답을 바꾸는가'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199632" y="1280160"/>
            <a:ext cx="5504688" cy="2651760"/>
          </a:xfrm>
          <a:prstGeom prst="roundRect">
            <a:avLst>
              <a:gd name="adj" fmla="val 1724"/>
            </a:avLst>
          </a:prstGeom>
          <a:solidFill>
            <a:srgbClr val="E8F1FA"/>
          </a:solidFill>
          <a:ln w="15875">
            <a:solidFill>
              <a:srgbClr val="1F77B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28232" y="14081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조각 2 — 두 경로 상태를 빼기  (예비 결과)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28232" y="173736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사진으로 두 상태를 만든다: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56832" y="19933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깨끗한 상태 = 경로 B만 지움  →  0.91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오염된 상태 = 경로 A만 지움  →  0.40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428232" y="257860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둘을 빼면 '오염의 크기' 자체가 단서가 되어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28232" y="2834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8229600" y="288950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1장만 준 0.91보다 높음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2모델 × 2배치 = 4조건 전부 유의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428232" y="3474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기존 방법(VCD·FOCUS)은 사진에 노이즈를 씌워 '오염 상태'를 만듦 — 우리는 같은 사진에서 내부 경로만 바꿈. 입력을 건드리는 방식으론 이 두 상태를 만들 수 없음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02920" y="4114800"/>
            <a:ext cx="11201400" cy="1316736"/>
          </a:xfrm>
          <a:prstGeom prst="roundRect">
            <a:avLst>
              <a:gd name="adj" fmla="val 3472"/>
            </a:avLst>
          </a:prstGeom>
          <a:solidFill>
            <a:srgbClr val="FBEAEA"/>
          </a:solidFill>
          <a:ln w="15875">
            <a:solidFill>
              <a:srgbClr val="D6272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422452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정직하게 붙이는 조건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31520" y="4517136"/>
            <a:ext cx="10698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0.97은 기존 로그를 재조합한 사후 분석 — 같은 300문항을 공유하므로 독립 재현 아님. 새 문항 재현이 사전 등록되어 있음 (β=1.0 고정, GPU 2시간)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두 상태 모두 '어느 사진이 무관한지 아는' 조건에서의 값. 판별기까지 포함한 종단 성능은 별도 측정 필요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판별에 사진 수만큼 forward 필요 — 정확도를 얻는 대신 비용을 씀 (속도 이득은 아직 미증명)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F3B57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파이프라인: 하나씩 빼보기로 무관 사진 특정 → 그 사진의 '읽기 칸'만 지움 → (선택) 두 상태 대비로 증폭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가치가 있는가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연구는 정반대 처방을 냈고 — 우리 분해가 둘 다 설명합니다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852928" cy="1645920"/>
          </a:xfrm>
          <a:prstGeom prst="roundRect">
            <a:avLst>
              <a:gd name="adj" fmla="val 2778"/>
            </a:avLst>
          </a:prstGeom>
          <a:solidFill>
            <a:srgbClr val="E8F1FA"/>
          </a:solidFill>
          <a:ln w="15875">
            <a:solidFill>
              <a:srgbClr val="1F77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0817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"연결을 늘려라"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CAPL (2026)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1984248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SoFA (CVPR 2025)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304288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간 정보가 부족하다고 진단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02152" y="1298448"/>
            <a:ext cx="2852928" cy="1645920"/>
          </a:xfrm>
          <a:prstGeom prst="roundRect">
            <a:avLst>
              <a:gd name="adj" fmla="val 2778"/>
            </a:avLst>
          </a:prstGeom>
          <a:solidFill>
            <a:srgbClr val="FBEAEA"/>
          </a:solidFill>
          <a:ln w="15875">
            <a:solidFill>
              <a:srgbClr val="D627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140817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"연결을 끊어라"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30752" y="1737360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MIMIC (2026)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730752" y="1984248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FOCUS (2025)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730752" y="2304288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간 정보가 오염시킨다고 진단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29400" y="1298448"/>
            <a:ext cx="5074920" cy="1645920"/>
          </a:xfrm>
          <a:prstGeom prst="roundRect">
            <a:avLst>
              <a:gd name="adj" fmla="val 2778"/>
            </a:avLst>
          </a:prstGeom>
          <a:solidFill>
            <a:srgbClr val="E9F4EE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9712" y="14081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답 — 둘 다 맞았습니다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39712" y="1719072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서로 다른 칸을 건드리고 있었습니다.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경로 A(섞임) → 도움  ⇒ '늘려라'가 맞음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경로 B(읽기) → 해악  ⇒ '끊어라'가 맞음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칸을 나눠 재기 전에는 구분할 수 없었습니다.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299923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둘 다 성능이 올랐다고 보고 — 아무도 이유를 설명 못 함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401568"/>
            <a:ext cx="5532120" cy="2011680"/>
          </a:xfrm>
          <a:prstGeom prst="roundRect">
            <a:avLst>
              <a:gd name="adj" fmla="val 2273"/>
            </a:avLst>
          </a:prstGeom>
          <a:solidFill>
            <a:srgbClr val="FBEAEA"/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51129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우리가 쓸 수 없는 주장 (선행연구 조사로 확인)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803904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"학습 없이 추론 때 개입" — 이미 3편이 함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"층 단위 개입" — 4편 모두 이미 함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"개입으로 원인 검증" — 1편이 이미 함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이 셋은 novelty로 쓰지 않습니다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99632" y="3401568"/>
            <a:ext cx="5504688" cy="2011680"/>
          </a:xfrm>
          <a:prstGeom prst="roundRect">
            <a:avLst>
              <a:gd name="adj" fmla="val 2273"/>
            </a:avLst>
          </a:prstGeom>
          <a:solidFill>
            <a:srgbClr val="E9F4EE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28232" y="35112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아직 비어 있는 자리 (우리 기여)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28232" y="3803904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사진↔사진 칸만 따로 끊어 원인을 가른 연구 — 0편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(기존 개입은 전부 모달리티 사이 연결만)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여러 사진 중 특정 한 장만 골라 끊은 연구 — 0편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'무관한 사진이 섞인 상황' 자체를 늘려라 진영은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실험한 적이 없음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F3B57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새 방법 하나를 더하는 게 아니라, 분야가 갈려 있던 지점을 측정으로 정리하는 결과입니다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한계와 계획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연구를 무너뜨릴 수 있는 것 세 가지 — 4주 안에 각각 확인합니다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1201400" cy="694944"/>
          </a:xfrm>
          <a:prstGeom prst="roundRect">
            <a:avLst>
              <a:gd name="adj" fmla="val 6579"/>
            </a:avLst>
          </a:prstGeom>
          <a:solidFill>
            <a:srgbClr val="3A2430"/>
          </a:solidFill>
          <a:ln w="12700">
            <a:solidFill>
              <a:srgbClr val="6B3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4475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35331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벤치마크는 질문이 위치("1번 사진")를 알려줌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88720" y="164592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B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텍스트만 파싱하는 앞단 모듈도 100%가 됨 — 내부 개입의 필요성을 이 벤치로는 증명 불가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066544"/>
            <a:ext cx="11201400" cy="694944"/>
          </a:xfrm>
          <a:prstGeom prst="roundRect">
            <a:avLst>
              <a:gd name="adj" fmla="val 6579"/>
            </a:avLst>
          </a:prstGeom>
          <a:solidFill>
            <a:srgbClr val="3A2430"/>
          </a:solidFill>
          <a:ln w="12700">
            <a:solidFill>
              <a:srgbClr val="6B3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23113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13969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0.97(대비)은 사후 분석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88720" y="2432304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B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문항 재조합 + β 사후 선택. 새 문항 재현(사전 등록 완료)이 통과해야 확정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852928"/>
            <a:ext cx="11201400" cy="694944"/>
          </a:xfrm>
          <a:prstGeom prst="roundRect">
            <a:avLst>
              <a:gd name="adj" fmla="val 6579"/>
            </a:avLst>
          </a:prstGeom>
          <a:solidFill>
            <a:srgbClr val="3A2430"/>
          </a:solidFill>
          <a:ln w="12700">
            <a:solidFill>
              <a:srgbClr val="6B3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017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29260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속도 이득 미증명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88720" y="321868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B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인코딩이 비용의 66%라 재사용 여지는 크지만, 그 구현은 아직 없음. "더 싸다"는 아직 주장 안 함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378561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00200" y="378561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위치를 알려주지 않는 질문으로 벤치마크 교체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26680" y="37856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앞단 모듈이 원리적으로 못 푸는가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5800" y="424281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00200" y="424281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공개 벤치마크(BLINK·MUIRBench)에서 재현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26680" y="42428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여기서 안 되면 접습니다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5800" y="470001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3주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00200" y="470001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대비 재현(β=1.0 고정) + FOCUS와 같은 비용에서 직접 비교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26680" y="47000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예비 결과가 확정되는가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5800" y="515721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4주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00200" y="515721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3계열 확장 · 논문 초안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726680" y="51572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—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5779008"/>
            <a:ext cx="11201400" cy="786384"/>
          </a:xfrm>
          <a:prstGeom prst="roundRect">
            <a:avLst>
              <a:gd name="adj" fmla="val 5814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85216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중단 조건: 2주차 공개 벤치마크 재현이 실패하면 이 방향은 접습니다.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지금까지 판정 기준을 먼저 문서로 고정하고 실행한 실험 7건 — 그중 5건이 기준 미달 또는 예측 반대였고 전부 그대로 기록했습니다. GPU 1장, 기존 코드·데이터 재사용.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2026-08-19T05:42:31Z</dcterms:created>
  <dcterms:modified xsi:type="dcterms:W3CDTF">2026-08-19T05:42:31Z</dcterms:modified>
</cp:coreProperties>
</file>